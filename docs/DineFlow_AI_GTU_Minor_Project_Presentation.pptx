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jpg"/><Relationship Id="rId6"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tu_logo.png"/>
          <p:cNvPicPr>
            <a:picLocks noChangeAspect="1"/>
          </p:cNvPicPr>
          <p:nvPr/>
        </p:nvPicPr>
        <p:blipFill>
          <a:blip r:embed="rId2"/>
          <a:stretch>
            <a:fillRect/>
          </a:stretch>
        </p:blipFill>
        <p:spPr>
          <a:xfrm>
            <a:off x="914400" y="457200"/>
            <a:ext cx="1371600" cy="1554480"/>
          </a:xfrm>
          <a:prstGeom prst="rect">
            <a:avLst/>
          </a:prstGeom>
        </p:spPr>
      </p:pic>
      <p:pic>
        <p:nvPicPr>
          <p:cNvPr id="5" name="Picture 4" descr="kdp_patan_logo.png"/>
          <p:cNvPicPr>
            <a:picLocks noChangeAspect="1"/>
          </p:cNvPicPr>
          <p:nvPr/>
        </p:nvPicPr>
        <p:blipFill>
          <a:blip r:embed="rId3"/>
          <a:stretch>
            <a:fillRect/>
          </a:stretch>
        </p:blipFill>
        <p:spPr>
          <a:xfrm>
            <a:off x="9875520" y="457200"/>
            <a:ext cx="1371600" cy="1371600"/>
          </a:xfrm>
          <a:prstGeom prst="rect">
            <a:avLst/>
          </a:prstGeom>
        </p:spPr>
      </p:pic>
      <p:sp>
        <p:nvSpPr>
          <p:cNvPr id="6" name="TextBox 5"/>
          <p:cNvSpPr txBox="1"/>
          <p:nvPr/>
        </p:nvSpPr>
        <p:spPr>
          <a:xfrm>
            <a:off x="2468880" y="365760"/>
            <a:ext cx="7223760" cy="1645920"/>
          </a:xfrm>
          <a:prstGeom prst="rect">
            <a:avLst/>
          </a:prstGeom>
          <a:noFill/>
        </p:spPr>
        <p:txBody>
          <a:bodyPr wrap="square">
            <a:spAutoFit/>
          </a:bodyPr>
          <a:lstStyle/>
          <a:p>
            <a:pPr algn="ctr">
              <a:defRPr sz="1300" b="1">
                <a:solidFill>
                  <a:srgbClr val="D97706"/>
                </a:solidFill>
                <a:latin typeface="Calibri"/>
              </a:defRPr>
            </a:pPr>
            <a:r>
              <a:t>GUJARAT TECHNOLOGICAL UNIVERSITY, AHMEDABAD</a:t>
            </a:r>
          </a:p>
          <a:p>
            <a:pPr algn="ctr">
              <a:defRPr sz="1800" b="1">
                <a:solidFill>
                  <a:srgbClr val="0F172A"/>
                </a:solidFill>
                <a:latin typeface="Calibri"/>
              </a:defRPr>
            </a:pPr>
            <a:r>
              <a:t>KILACHAND DEVCHAND (K. D.) POLYTECHNIC, PATAN</a:t>
            </a:r>
          </a:p>
          <a:p>
            <a:pPr algn="ctr">
              <a:defRPr sz="1300" b="1">
                <a:solidFill>
                  <a:srgbClr val="4F46E5"/>
                </a:solidFill>
                <a:latin typeface="Calibri"/>
              </a:defRPr>
            </a:pPr>
            <a:r>
              <a:t>DEPARTMENT OF COMPUTER ENGINEERING</a:t>
            </a:r>
          </a:p>
          <a:p>
            <a:pPr algn="ctr">
              <a:defRPr sz="1100">
                <a:solidFill>
                  <a:srgbClr val="64748B"/>
                </a:solidFill>
                <a:latin typeface="Calibri"/>
              </a:defRPr>
            </a:pPr>
            <a:r>
              <a:t>Diploma in Computer Engineering | Semester 5 | Academic Year 2026-27</a:t>
            </a:r>
          </a:p>
        </p:txBody>
      </p:sp>
      <p:sp>
        <p:nvSpPr>
          <p:cNvPr id="7" name="Rounded Rectangle 6"/>
          <p:cNvSpPr/>
          <p:nvPr/>
        </p:nvSpPr>
        <p:spPr>
          <a:xfrm>
            <a:off x="914400" y="2194560"/>
            <a:ext cx="10362895" cy="128016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4F46E5"/>
                </a:solidFill>
                <a:latin typeface="Calibri"/>
              </a:defRPr>
            </a:pPr>
            <a:r>
              <a:t>MINOR PROJECT PRESENTATION (DI05000341)</a:t>
            </a:r>
          </a:p>
          <a:p>
            <a:pPr algn="ctr">
              <a:defRPr sz="2200" b="1">
                <a:solidFill>
                  <a:srgbClr val="0F172A"/>
                </a:solidFill>
                <a:latin typeface="Calibri"/>
              </a:defRPr>
            </a:pPr>
            <a:r>
              <a:t>DineFlow AI: Next-Gen Restaurant Cloud POS, Contactless QR Ordering &amp; ERP</a:t>
            </a:r>
          </a:p>
        </p:txBody>
      </p:sp>
      <p:sp>
        <p:nvSpPr>
          <p:cNvPr id="8" name="Rounded Rectangle 7"/>
          <p:cNvSpPr/>
          <p:nvPr/>
        </p:nvSpPr>
        <p:spPr>
          <a:xfrm>
            <a:off x="914400" y="3657600"/>
            <a:ext cx="5029200" cy="28346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F46E5"/>
                </a:solidFill>
                <a:latin typeface="Calibri"/>
              </a:defRPr>
            </a:pPr>
            <a:r>
              <a:t>PROJECT TEAM MEMBERS:</a:t>
            </a:r>
          </a:p>
          <a:p>
            <a:pPr>
              <a:defRPr sz="1150" b="1">
                <a:solidFill>
                  <a:srgbClr val="1E293B"/>
                </a:solidFill>
                <a:latin typeface="Calibri"/>
              </a:defRPr>
            </a:pPr>
            <a:r>
              <a:t>• 1. PATEL SHUBH MAHESHKUMAR</a:t>
            </a:r>
          </a:p>
          <a:p>
            <a:pPr>
              <a:defRPr sz="1050">
                <a:solidFill>
                  <a:srgbClr val="64748B"/>
                </a:solidFill>
                <a:latin typeface="Calibri"/>
              </a:defRPr>
            </a:pPr>
            <a:r>
              <a:t>    Enrollment No: 246310307123 (Project Lead)</a:t>
            </a:r>
          </a:p>
          <a:p>
            <a:pPr>
              <a:defRPr sz="1150" b="1">
                <a:solidFill>
                  <a:srgbClr val="1E293B"/>
                </a:solidFill>
                <a:latin typeface="Calibri"/>
              </a:defRPr>
            </a:pPr>
            <a:r>
              <a:t>• 2. [Student 2 Full Name]</a:t>
            </a:r>
          </a:p>
          <a:p>
            <a:pPr>
              <a:defRPr sz="1050">
                <a:solidFill>
                  <a:srgbClr val="64748B"/>
                </a:solidFill>
                <a:latin typeface="Calibri"/>
              </a:defRPr>
            </a:pPr>
            <a:r>
              <a:t>    Enrollment No: [Enrollment Number]</a:t>
            </a:r>
          </a:p>
          <a:p>
            <a:pPr>
              <a:defRPr sz="1150" b="1">
                <a:solidFill>
                  <a:srgbClr val="1E293B"/>
                </a:solidFill>
                <a:latin typeface="Calibri"/>
              </a:defRPr>
            </a:pPr>
            <a:r>
              <a:t>• 3. [Student 3 Full Name]</a:t>
            </a:r>
          </a:p>
          <a:p>
            <a:pPr>
              <a:defRPr sz="1050">
                <a:solidFill>
                  <a:srgbClr val="64748B"/>
                </a:solidFill>
                <a:latin typeface="Calibri"/>
              </a:defRPr>
            </a:pPr>
            <a:r>
              <a:t>    Enrollment No: [Enrollment Number]</a:t>
            </a:r>
          </a:p>
          <a:p>
            <a:pPr>
              <a:defRPr sz="1150" b="1">
                <a:solidFill>
                  <a:srgbClr val="1E293B"/>
                </a:solidFill>
                <a:latin typeface="Calibri"/>
              </a:defRPr>
            </a:pPr>
            <a:r>
              <a:t>• 4. [Student 4 Full Name]</a:t>
            </a:r>
          </a:p>
          <a:p>
            <a:pPr>
              <a:defRPr sz="1050">
                <a:solidFill>
                  <a:srgbClr val="64748B"/>
                </a:solidFill>
                <a:latin typeface="Calibri"/>
              </a:defRPr>
            </a:pPr>
            <a:r>
              <a:t>    Enrollment No: [Enrollment Number]</a:t>
            </a:r>
          </a:p>
        </p:txBody>
      </p:sp>
      <p:sp>
        <p:nvSpPr>
          <p:cNvPr id="9" name="Rounded Rectangle 8"/>
          <p:cNvSpPr/>
          <p:nvPr/>
        </p:nvSpPr>
        <p:spPr>
          <a:xfrm>
            <a:off x="6217920" y="3657600"/>
            <a:ext cx="5029200" cy="28346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F46E5"/>
                </a:solidFill>
                <a:latin typeface="Calibri"/>
              </a:defRPr>
            </a:pPr>
            <a:r>
              <a:t>ACADEMIC GUIDANCE &amp; APPROVAL:</a:t>
            </a:r>
          </a:p>
          <a:p>
            <a:pPr>
              <a:defRPr sz="1150" b="1">
                <a:solidFill>
                  <a:srgbClr val="1E293B"/>
                </a:solidFill>
                <a:latin typeface="Calibri"/>
              </a:defRPr>
            </a:pPr>
            <a:r>
              <a:t>Project Guide: Prof. Yagnesh Patel</a:t>
            </a:r>
          </a:p>
          <a:p>
            <a:pPr>
              <a:defRPr sz="1050">
                <a:solidFill>
                  <a:srgbClr val="64748B"/>
                </a:solidFill>
                <a:latin typeface="Calibri"/>
              </a:defRPr>
            </a:pPr>
            <a:r>
              <a:t>  (Lecturer, Computer Engineering Dept.)</a:t>
            </a:r>
          </a:p>
          <a:p>
            <a:pPr>
              <a:defRPr sz="1150" b="1">
                <a:solidFill>
                  <a:srgbClr val="1E293B"/>
                </a:solidFill>
                <a:latin typeface="Calibri"/>
              </a:defRPr>
            </a:pPr>
            <a:r>
              <a:t>Head of Department: Dr. Chirag D. Patel</a:t>
            </a:r>
          </a:p>
          <a:p>
            <a:pPr>
              <a:defRPr sz="1050">
                <a:solidFill>
                  <a:srgbClr val="64748B"/>
                </a:solidFill>
                <a:latin typeface="Calibri"/>
              </a:defRPr>
            </a:pPr>
            <a:r>
              <a:t>  (Head, Computer Engineering Dept.)</a:t>
            </a:r>
          </a:p>
          <a:p>
            <a:pPr>
              <a:defRPr sz="1150" b="1">
                <a:solidFill>
                  <a:srgbClr val="1E293B"/>
                </a:solidFill>
                <a:latin typeface="Calibri"/>
              </a:defRPr>
            </a:pPr>
            <a:r>
              <a:t>Principal: H. C. Parmar</a:t>
            </a:r>
          </a:p>
          <a:p>
            <a:pPr>
              <a:defRPr sz="1050">
                <a:solidFill>
                  <a:srgbClr val="64748B"/>
                </a:solidFill>
                <a:latin typeface="Calibri"/>
              </a:defRPr>
            </a:pPr>
            <a:r>
              <a:t>  (Principal, K. D. Polytechnic, Patan)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Presentation Agenda</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2</a:t>
            </a:r>
          </a:p>
        </p:txBody>
      </p:sp>
      <p:sp>
        <p:nvSpPr>
          <p:cNvPr id="8" name="TextBox 7"/>
          <p:cNvSpPr txBox="1"/>
          <p:nvPr/>
        </p:nvSpPr>
        <p:spPr>
          <a:xfrm>
            <a:off x="914400" y="1463040"/>
            <a:ext cx="10332720" cy="4937760"/>
          </a:xfrm>
          <a:prstGeom prst="rect">
            <a:avLst/>
          </a:prstGeom>
          <a:noFill/>
        </p:spPr>
        <p:txBody>
          <a:bodyPr wrap="none">
            <a:spAutoFit/>
          </a:bodyPr>
          <a:lstStyle/>
          <a:p/>
          <a:p>
            <a:pPr>
              <a:defRPr b="1" sz="1350">
                <a:solidFill>
                  <a:srgbClr val="4F46E5"/>
                </a:solidFill>
                <a:latin typeface="Calibri"/>
              </a:defRPr>
            </a:pPr>
            <a:r>
              <a:t>[1]  Problem Identification &amp; Project Objectives</a:t>
            </a:r>
          </a:p>
          <a:p>
            <a:pPr>
              <a:defRPr sz="1100">
                <a:solidFill>
                  <a:srgbClr val="64748B"/>
                </a:solidFill>
                <a:latin typeface="Calibri"/>
              </a:defRPr>
            </a:pPr>
            <a:r>
              <a:t>      Peak-hour restaurant bottlenecks, order inaccuracies, and tangible targets</a:t>
            </a:r>
          </a:p>
          <a:p>
            <a:pPr>
              <a:defRPr b="1" sz="1350">
                <a:solidFill>
                  <a:srgbClr val="4F46E5"/>
                </a:solidFill>
                <a:latin typeface="Calibri"/>
              </a:defRPr>
            </a:pPr>
            <a:r>
              <a:t>[2]  Literature Survey &amp; Research Gap Analysis</a:t>
            </a:r>
          </a:p>
          <a:p>
            <a:pPr>
              <a:defRPr sz="1100">
                <a:solidFill>
                  <a:srgbClr val="64748B"/>
                </a:solidFill>
                <a:latin typeface="Calibri"/>
              </a:defRPr>
            </a:pPr>
            <a:r>
              <a:t>      Evaluation of Petpooja, Toast POS, POSist &amp; limitations of existing tools</a:t>
            </a:r>
          </a:p>
          <a:p>
            <a:pPr>
              <a:defRPr b="1" sz="1350">
                <a:solidFill>
                  <a:srgbClr val="4F46E5"/>
                </a:solidFill>
                <a:latin typeface="Calibri"/>
              </a:defRPr>
            </a:pPr>
            <a:r>
              <a:t>[3]  Alternative Solutions &amp; Architecture Selection</a:t>
            </a:r>
          </a:p>
          <a:p>
            <a:pPr>
              <a:defRPr sz="1100">
                <a:solidFill>
                  <a:srgbClr val="64748B"/>
                </a:solidFill>
                <a:latin typeface="Calibri"/>
              </a:defRPr>
            </a:pPr>
            <a:r>
              <a:t>      Desktop App vs. Proprietary Hardware vs. Modern Cloud PWA Paradigm</a:t>
            </a:r>
          </a:p>
          <a:p>
            <a:pPr>
              <a:defRPr b="1" sz="1350">
                <a:solidFill>
                  <a:srgbClr val="4F46E5"/>
                </a:solidFill>
                <a:latin typeface="Calibri"/>
              </a:defRPr>
            </a:pPr>
            <a:r>
              <a:t>[4]  System Design &amp; Multi-Tenant Architecture</a:t>
            </a:r>
          </a:p>
          <a:p>
            <a:pPr>
              <a:defRPr sz="1100">
                <a:solidFill>
                  <a:srgbClr val="64748B"/>
                </a:solidFill>
                <a:latin typeface="Calibri"/>
              </a:defRPr>
            </a:pPr>
            <a:r>
              <a:t>      Block diagram, layered cloud architecture, and transaction flowcharts</a:t>
            </a:r>
          </a:p>
          <a:p>
            <a:pPr>
              <a:defRPr b="1" sz="1350">
                <a:solidFill>
                  <a:srgbClr val="4F46E5"/>
                </a:solidFill>
                <a:latin typeface="Calibri"/>
              </a:defRPr>
            </a:pPr>
            <a:r>
              <a:t>[5]  Implementation, Hardware Integration &amp; Work Plan</a:t>
            </a:r>
          </a:p>
          <a:p>
            <a:pPr>
              <a:defRPr sz="1100">
                <a:solidFill>
                  <a:srgbClr val="64748B"/>
                </a:solidFill>
                <a:latin typeface="Calibri"/>
              </a:defRPr>
            </a:pPr>
            <a:r>
              <a:t>      ESC/POS silent thermal printing, live KDS, Web Audio Gujarati Soundbox</a:t>
            </a:r>
          </a:p>
          <a:p>
            <a:pPr>
              <a:defRPr b="1" sz="1350">
                <a:solidFill>
                  <a:srgbClr val="4F46E5"/>
                </a:solidFill>
                <a:latin typeface="Calibri"/>
              </a:defRPr>
            </a:pPr>
            <a:r>
              <a:t>[6]  Testing, Verification &amp; Post-Testing Modifications</a:t>
            </a:r>
          </a:p>
          <a:p>
            <a:pPr>
              <a:defRPr sz="1100">
                <a:solidFill>
                  <a:srgbClr val="64748B"/>
                </a:solidFill>
                <a:latin typeface="Calibri"/>
              </a:defRPr>
            </a:pPr>
            <a:r>
              <a:t>      24 automated test suites, IDOR security audit, and performance tuning</a:t>
            </a:r>
          </a:p>
          <a:p>
            <a:pPr>
              <a:defRPr b="1" sz="1350">
                <a:solidFill>
                  <a:srgbClr val="4F46E5"/>
                </a:solidFill>
                <a:latin typeface="Calibri"/>
              </a:defRPr>
            </a:pPr>
            <a:r>
              <a:t>[7]  Conclusion, Future Scope &amp; Commercial Business Model</a:t>
            </a:r>
          </a:p>
          <a:p>
            <a:pPr>
              <a:defRPr sz="1100">
                <a:solidFill>
                  <a:srgbClr val="64748B"/>
                </a:solidFill>
                <a:latin typeface="Calibri"/>
              </a:defRPr>
            </a:pPr>
            <a:r>
              <a:t>      Bootstrapped commercial SaaS roadmap, live deployment &amp; IP ownership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Problem Statement &amp; Industry Context</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3</a:t>
            </a:r>
          </a:p>
        </p:txBody>
      </p:sp>
      <p:sp>
        <p:nvSpPr>
          <p:cNvPr id="8" name="Rounded Rectangle 7"/>
          <p:cNvSpPr/>
          <p:nvPr/>
        </p:nvSpPr>
        <p:spPr>
          <a:xfrm>
            <a:off x="914400" y="1463040"/>
            <a:ext cx="658368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F172A"/>
                </a:solidFill>
                <a:latin typeface="Calibri"/>
              </a:defRPr>
            </a:pPr>
            <a:r>
              <a:t>Operational Bottlenecks in Contemporary Restaurants:</a:t>
            </a:r>
          </a:p>
          <a:p>
            <a:pPr>
              <a:defRPr sz="1150">
                <a:solidFill>
                  <a:srgbClr val="1E293B"/>
                </a:solidFill>
                <a:latin typeface="Calibri"/>
              </a:defRPr>
            </a:pPr>
            <a:r>
              <a:t>Over 80% of independent restaurants and cafes in India still rely on manual paper KOTs (Kitchen Order Tickets) or heavy desktop billing PCs. During busy dinner rush hours, wait staff spend 15–20 minutes walking to kitchens and handwriting slips, leading to a 15–20% rate of incorrect orders, misplaced slips, and severe table turnaround delays.</a:t>
            </a:r>
          </a:p>
          <a:p>
            <a:r>
              <a:rPr b="1" sz="1150">
                <a:solidFill>
                  <a:srgbClr val="4F46E5"/>
                </a:solidFill>
                <a:latin typeface="Calibri"/>
              </a:rPr>
              <a:t>• Current Method: </a:t>
            </a:r>
            <a:r>
              <a:rPr b="0" sz="1150">
                <a:solidFill>
                  <a:srgbClr val="1E293B"/>
                </a:solidFill>
                <a:latin typeface="Calibri"/>
              </a:rPr>
              <a:t>Handwritten paper slips and manual cashier re-entry.</a:t>
            </a:r>
          </a:p>
          <a:p>
            <a:r>
              <a:rPr b="1" sz="1150">
                <a:solidFill>
                  <a:srgbClr val="4F46E5"/>
                </a:solidFill>
                <a:latin typeface="Calibri"/>
              </a:rPr>
              <a:t>• Main Limitations: </a:t>
            </a:r>
            <a:r>
              <a:rPr b="0" sz="1150">
                <a:solidFill>
                  <a:srgbClr val="1E293B"/>
                </a:solidFill>
                <a:latin typeface="Calibri"/>
              </a:rPr>
              <a:t>Paper KOT loss, zero raw material inventory tracking, and ₹10,000+ annual menu reprinting expenses.</a:t>
            </a:r>
          </a:p>
          <a:p>
            <a:r>
              <a:rPr b="1" sz="1150">
                <a:solidFill>
                  <a:srgbClr val="4F46E5"/>
                </a:solidFill>
                <a:latin typeface="Calibri"/>
              </a:rPr>
              <a:t>• Who Benefits: </a:t>
            </a:r>
            <a:r>
              <a:rPr b="0" sz="1150">
                <a:solidFill>
                  <a:srgbClr val="1E293B"/>
                </a:solidFill>
                <a:latin typeface="Calibri"/>
              </a:rPr>
              <a:t>Restaurant owners (faster table turnaround), kitchen staff (clear digital KDS), and patrons (instant QR ordering).</a:t>
            </a:r>
          </a:p>
        </p:txBody>
      </p:sp>
      <p:sp>
        <p:nvSpPr>
          <p:cNvPr id="9" name="Rounded Rectangle 8"/>
          <p:cNvSpPr/>
          <p:nvPr/>
        </p:nvSpPr>
        <p:spPr>
          <a:xfrm>
            <a:off x="7772400" y="1463040"/>
            <a:ext cx="3474720" cy="4754880"/>
          </a:xfrm>
          <a:prstGeom prst="roundRect">
            <a:avLst/>
          </a:prstGeom>
          <a:solidFill>
            <a:srgbClr val="F8FAFC"/>
          </a:solidFill>
          <a:ln w="254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4600">
                <a:solidFill>
                  <a:srgbClr val="4F46E5"/>
                </a:solidFill>
                <a:latin typeface="Calibri"/>
              </a:defRPr>
            </a:pPr>
            <a:r>
              <a:t>73%</a:t>
            </a:r>
          </a:p>
          <a:p>
            <a:pPr algn="ctr">
              <a:defRPr sz="1200">
                <a:solidFill>
                  <a:srgbClr val="1E293B"/>
                </a:solidFill>
                <a:latin typeface="Calibri"/>
              </a:defRPr>
            </a:pPr>
            <a:r>
              <a:t>of Indian casual dine-in restaurants suffer peak-hour billing bottlenecks and 18-22% food margin erosion due to manual tracking.</a:t>
            </a:r>
          </a:p>
          <a:p>
            <a:br/>
            <a:br/>
            <a:pPr algn="ctr">
              <a:defRPr sz="1000" i="1">
                <a:solidFill>
                  <a:srgbClr val="64748B"/>
                </a:solidFill>
                <a:latin typeface="Calibri"/>
              </a:defRPr>
            </a:pPr>
            <a:r>
              <a:t>Source: National Restaurant Association of India (NRAI) Research Report &amp; FSSAI Waste Audit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Project Objectives &amp; Measurable Targets</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4</a:t>
            </a:r>
          </a:p>
        </p:txBody>
      </p:sp>
      <p:sp>
        <p:nvSpPr>
          <p:cNvPr id="8" name="Rounded Rectangle 7"/>
          <p:cNvSpPr/>
          <p:nvPr/>
        </p:nvSpPr>
        <p:spPr>
          <a:xfrm>
            <a:off x="914400" y="1463040"/>
            <a:ext cx="32918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4F46E5"/>
                </a:solidFill>
                <a:latin typeface="Calibri"/>
              </a:defRPr>
            </a:pPr>
            <a:r>
              <a:t>Objective 1: Ultra-Fast Web POS</a:t>
            </a:r>
          </a:p>
          <a:p>
            <a:pPr>
              <a:defRPr sz="1150">
                <a:solidFill>
                  <a:srgbClr val="1E293B"/>
                </a:solidFill>
                <a:latin typeface="Calibri"/>
              </a:defRPr>
            </a:pPr>
            <a:r>
              <a:t>• Build a lightning-fast Web POS cashier terminal operating in sub-3 seconds per bill.</a:t>
            </a:r>
            <a:br/>
            <a:r>
              <a:t>• Full keyboard hotkeys (F1-F9) and direct silent ESC/POS thermal printing without browser print dialogues.</a:t>
            </a:r>
            <a:br/>
            <a:r>
              <a:t>• Multi-modal payment splitting (Cash, UPI QR, and Card).</a:t>
            </a:r>
          </a:p>
        </p:txBody>
      </p:sp>
      <p:sp>
        <p:nvSpPr>
          <p:cNvPr id="9" name="Rounded Rectangle 8"/>
          <p:cNvSpPr/>
          <p:nvPr/>
        </p:nvSpPr>
        <p:spPr>
          <a:xfrm>
            <a:off x="4434840" y="1463040"/>
            <a:ext cx="32918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4F46E5"/>
                </a:solidFill>
                <a:latin typeface="Calibri"/>
              </a:defRPr>
            </a:pPr>
            <a:r>
              <a:t>Objective 2: Contactless QR &amp; Live KDS</a:t>
            </a:r>
          </a:p>
          <a:p>
            <a:pPr>
              <a:defRPr sz="1150">
                <a:solidFill>
                  <a:srgbClr val="1E293B"/>
                </a:solidFill>
                <a:latin typeface="Calibri"/>
              </a:defRPr>
            </a:pPr>
            <a:r>
              <a:t>• Deploy dynamic table-based QR ordering requiring zero app installation for customers.</a:t>
            </a:r>
            <a:br/>
            <a:r>
              <a:t>• Direct wireless order transmission from table to kitchen display (KDS) in under 180ms.</a:t>
            </a:r>
            <a:br/>
            <a:r>
              <a:t>• Eliminate paper KOTs and physical menu reprinting costs entirely.</a:t>
            </a:r>
          </a:p>
        </p:txBody>
      </p:sp>
      <p:sp>
        <p:nvSpPr>
          <p:cNvPr id="10" name="Rounded Rectangle 9"/>
          <p:cNvSpPr/>
          <p:nvPr/>
        </p:nvSpPr>
        <p:spPr>
          <a:xfrm>
            <a:off x="7955279" y="1463040"/>
            <a:ext cx="32918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4F46E5"/>
                </a:solidFill>
                <a:latin typeface="Calibri"/>
              </a:defRPr>
            </a:pPr>
            <a:r>
              <a:t>Objective 3: Recipe ERP &amp; Voice Soundbox</a:t>
            </a:r>
          </a:p>
          <a:p>
            <a:pPr>
              <a:defRPr sz="1150">
                <a:solidFill>
                  <a:srgbClr val="1E293B"/>
                </a:solidFill>
                <a:latin typeface="Calibri"/>
              </a:defRPr>
            </a:pPr>
            <a:r>
              <a:t>• Automated raw material inventory depletion linked to live menu item recipe bills of materials (BOM).</a:t>
            </a:r>
            <a:br/>
            <a:r>
              <a:t>• Web Audio speech synthesis engine delivering real-time Gujarati &amp; English voice alerts ('નવો ઓર્ડર: ટેબલ ૪').</a:t>
            </a:r>
            <a:br/>
            <a:r>
              <a:t>• Multi-tenant AWS EC2 cloud deployment.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Literature Survey and Research Gap</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5</a:t>
            </a:r>
          </a:p>
        </p:txBody>
      </p:sp>
      <p:graphicFrame>
        <p:nvGraphicFramePr>
          <p:cNvPr id="8" name="Table 7"/>
          <p:cNvGraphicFramePr>
            <a:graphicFrameLocks noGrp="1"/>
          </p:cNvGraphicFramePr>
          <p:nvPr/>
        </p:nvGraphicFramePr>
        <p:xfrm>
          <a:off x="914400" y="1371600"/>
          <a:ext cx="10332720" cy="3474720"/>
        </p:xfrm>
        <a:graphic>
          <a:graphicData uri="http://schemas.openxmlformats.org/drawingml/2006/table">
            <a:tbl>
              <a:tblPr firstRow="1" bandRow="1">
                <a:tableStyleId>{5C22544A-7EE6-4342-B048-85BDC9FD1C3A}</a:tableStyleId>
              </a:tblPr>
              <a:tblGrid>
                <a:gridCol w="2286000"/>
                <a:gridCol w="2011680"/>
                <a:gridCol w="3474720"/>
                <a:gridCol w="2560320"/>
              </a:tblGrid>
              <a:tr h="694944">
                <a:tc>
                  <a:txBody>
                    <a:bodyPr/>
                    <a:lstStyle/>
                    <a:p>
                      <a:pPr>
                        <a:defRPr b="1" sz="1100">
                          <a:solidFill>
                            <a:srgbClr val="FFFFFF"/>
                          </a:solidFill>
                          <a:latin typeface="Calibri"/>
                        </a:defRPr>
                      </a:pPr>
                      <a:r>
                        <a:t>Existing System / Source</a:t>
                      </a:r>
                    </a:p>
                  </a:txBody>
                  <a:tcPr>
                    <a:solidFill>
                      <a:srgbClr val="4F46E5"/>
                    </a:solidFill>
                  </a:tcPr>
                </a:tc>
                <a:tc>
                  <a:txBody>
                    <a:bodyPr/>
                    <a:lstStyle/>
                    <a:p>
                      <a:pPr>
                        <a:defRPr b="1" sz="1100">
                          <a:solidFill>
                            <a:srgbClr val="FFFFFF"/>
                          </a:solidFill>
                          <a:latin typeface="Calibri"/>
                        </a:defRPr>
                      </a:pPr>
                      <a:r>
                        <a:t>Core Technology</a:t>
                      </a:r>
                    </a:p>
                  </a:txBody>
                  <a:tcPr>
                    <a:solidFill>
                      <a:srgbClr val="4F46E5"/>
                    </a:solidFill>
                  </a:tcPr>
                </a:tc>
                <a:tc>
                  <a:txBody>
                    <a:bodyPr/>
                    <a:lstStyle/>
                    <a:p>
                      <a:pPr>
                        <a:defRPr b="1" sz="1100">
                          <a:solidFill>
                            <a:srgbClr val="FFFFFF"/>
                          </a:solidFill>
                          <a:latin typeface="Calibri"/>
                        </a:defRPr>
                      </a:pPr>
                      <a:r>
                        <a:t>Working Method</a:t>
                      </a:r>
                    </a:p>
                  </a:txBody>
                  <a:tcPr>
                    <a:solidFill>
                      <a:srgbClr val="4F46E5"/>
                    </a:solidFill>
                  </a:tcPr>
                </a:tc>
                <a:tc>
                  <a:txBody>
                    <a:bodyPr/>
                    <a:lstStyle/>
                    <a:p>
                      <a:pPr>
                        <a:defRPr b="1" sz="1100">
                          <a:solidFill>
                            <a:srgbClr val="FFFFFF"/>
                          </a:solidFill>
                          <a:latin typeface="Calibri"/>
                        </a:defRPr>
                      </a:pPr>
                      <a:r>
                        <a:t>Identified Gap / Limitation</a:t>
                      </a:r>
                    </a:p>
                  </a:txBody>
                  <a:tcPr>
                    <a:solidFill>
                      <a:srgbClr val="4F46E5"/>
                    </a:solidFill>
                  </a:tcPr>
                </a:tc>
              </a:tr>
              <a:tr h="694944">
                <a:tc>
                  <a:txBody>
                    <a:bodyPr/>
                    <a:lstStyle/>
                    <a:p>
                      <a:pPr>
                        <a:defRPr sz="1050">
                          <a:solidFill>
                            <a:srgbClr val="1E293B"/>
                          </a:solidFill>
                          <a:latin typeface="Calibri"/>
                        </a:defRPr>
                      </a:pPr>
                      <a:r>
                        <a:t>Toast POS (USA, 2023)</a:t>
                      </a:r>
                    </a:p>
                  </a:txBody>
                  <a:tcPr>
                    <a:solidFill>
                      <a:srgbClr val="F8FAFC"/>
                    </a:solidFill>
                  </a:tcPr>
                </a:tc>
                <a:tc>
                  <a:txBody>
                    <a:bodyPr/>
                    <a:lstStyle/>
                    <a:p>
                      <a:pPr>
                        <a:defRPr sz="1050">
                          <a:solidFill>
                            <a:srgbClr val="1E293B"/>
                          </a:solidFill>
                          <a:latin typeface="Calibri"/>
                        </a:defRPr>
                      </a:pPr>
                      <a:r>
                        <a:t>Android Proprietary</a:t>
                      </a:r>
                    </a:p>
                  </a:txBody>
                  <a:tcPr>
                    <a:solidFill>
                      <a:srgbClr val="F8FAFC"/>
                    </a:solidFill>
                  </a:tcPr>
                </a:tc>
                <a:tc>
                  <a:txBody>
                    <a:bodyPr/>
                    <a:lstStyle/>
                    <a:p>
                      <a:pPr>
                        <a:defRPr sz="1050">
                          <a:solidFill>
                            <a:srgbClr val="1E293B"/>
                          </a:solidFill>
                          <a:latin typeface="Calibri"/>
                        </a:defRPr>
                      </a:pPr>
                      <a:r>
                        <a:t>Cloud POS for large chains</a:t>
                      </a:r>
                    </a:p>
                  </a:txBody>
                  <a:tcPr>
                    <a:solidFill>
                      <a:srgbClr val="F8FAFC"/>
                    </a:solidFill>
                  </a:tcPr>
                </a:tc>
                <a:tc>
                  <a:txBody>
                    <a:bodyPr/>
                    <a:lstStyle/>
                    <a:p>
                      <a:pPr>
                        <a:defRPr sz="1050">
                          <a:solidFill>
                            <a:srgbClr val="1E293B"/>
                          </a:solidFill>
                          <a:latin typeface="Calibri"/>
                        </a:defRPr>
                      </a:pPr>
                      <a:r>
                        <a:t>Expensive ($69-$165/mo), proprietary hardware lock-in, zero Indian UPI/GST.</a:t>
                      </a:r>
                    </a:p>
                  </a:txBody>
                  <a:tcPr>
                    <a:solidFill>
                      <a:srgbClr val="F8FAFC"/>
                    </a:solidFill>
                  </a:tcPr>
                </a:tc>
              </a:tr>
              <a:tr h="694944">
                <a:tc>
                  <a:txBody>
                    <a:bodyPr/>
                    <a:lstStyle/>
                    <a:p>
                      <a:pPr>
                        <a:defRPr sz="1050">
                          <a:solidFill>
                            <a:srgbClr val="1E293B"/>
                          </a:solidFill>
                          <a:latin typeface="Calibri"/>
                        </a:defRPr>
                      </a:pPr>
                      <a:r>
                        <a:t>Petpooja (India, 2024)</a:t>
                      </a:r>
                    </a:p>
                  </a:txBody>
                  <a:tcPr>
                    <a:solidFill>
                      <a:srgbClr val="F8FAFC"/>
                    </a:solidFill>
                  </a:tcPr>
                </a:tc>
                <a:tc>
                  <a:txBody>
                    <a:bodyPr/>
                    <a:lstStyle/>
                    <a:p>
                      <a:pPr>
                        <a:defRPr sz="1050">
                          <a:solidFill>
                            <a:srgbClr val="1E293B"/>
                          </a:solidFill>
                          <a:latin typeface="Calibri"/>
                        </a:defRPr>
                      </a:pPr>
                      <a:r>
                        <a:t>Desktop Windows App</a:t>
                      </a:r>
                    </a:p>
                  </a:txBody>
                  <a:tcPr>
                    <a:solidFill>
                      <a:srgbClr val="F8FAFC"/>
                    </a:solidFill>
                  </a:tcPr>
                </a:tc>
                <a:tc>
                  <a:txBody>
                    <a:bodyPr/>
                    <a:lstStyle/>
                    <a:p>
                      <a:pPr>
                        <a:defRPr sz="1050">
                          <a:solidFill>
                            <a:srgbClr val="1E293B"/>
                          </a:solidFill>
                          <a:latin typeface="Calibri"/>
                        </a:defRPr>
                      </a:pPr>
                      <a:r>
                        <a:t>Local client-server billing</a:t>
                      </a:r>
                    </a:p>
                  </a:txBody>
                  <a:tcPr>
                    <a:solidFill>
                      <a:srgbClr val="F8FAFC"/>
                    </a:solidFill>
                  </a:tcPr>
                </a:tc>
                <a:tc>
                  <a:txBody>
                    <a:bodyPr/>
                    <a:lstStyle/>
                    <a:p>
                      <a:pPr>
                        <a:defRPr sz="1050">
                          <a:solidFill>
                            <a:srgbClr val="1E293B"/>
                          </a:solidFill>
                          <a:latin typeface="Calibri"/>
                        </a:defRPr>
                      </a:pPr>
                      <a:r>
                        <a:t>Heavy desktop client install required, complex remote sync, slow QR ordering.</a:t>
                      </a:r>
                    </a:p>
                  </a:txBody>
                  <a:tcPr>
                    <a:solidFill>
                      <a:srgbClr val="F8FAFC"/>
                    </a:solidFill>
                  </a:tcPr>
                </a:tc>
              </a:tr>
              <a:tr h="694944">
                <a:tc>
                  <a:txBody>
                    <a:bodyPr/>
                    <a:lstStyle/>
                    <a:p>
                      <a:pPr>
                        <a:defRPr sz="1050">
                          <a:solidFill>
                            <a:srgbClr val="1E293B"/>
                          </a:solidFill>
                          <a:latin typeface="Calibri"/>
                        </a:defRPr>
                      </a:pPr>
                      <a:r>
                        <a:t>POSist / Restroworks (2023)</a:t>
                      </a:r>
                    </a:p>
                  </a:txBody>
                  <a:tcPr>
                    <a:solidFill>
                      <a:srgbClr val="F8FAFC"/>
                    </a:solidFill>
                  </a:tcPr>
                </a:tc>
                <a:tc>
                  <a:txBody>
                    <a:bodyPr/>
                    <a:lstStyle/>
                    <a:p>
                      <a:pPr>
                        <a:defRPr sz="1050">
                          <a:solidFill>
                            <a:srgbClr val="1E293B"/>
                          </a:solidFill>
                          <a:latin typeface="Calibri"/>
                        </a:defRPr>
                      </a:pPr>
                      <a:r>
                        <a:t>Enterprise Cloud SaaS</a:t>
                      </a:r>
                    </a:p>
                  </a:txBody>
                  <a:tcPr>
                    <a:solidFill>
                      <a:srgbClr val="F8FAFC"/>
                    </a:solidFill>
                  </a:tcPr>
                </a:tc>
                <a:tc>
                  <a:txBody>
                    <a:bodyPr/>
                    <a:lstStyle/>
                    <a:p>
                      <a:pPr>
                        <a:defRPr sz="1050">
                          <a:solidFill>
                            <a:srgbClr val="1E293B"/>
                          </a:solidFill>
                          <a:latin typeface="Calibri"/>
                        </a:defRPr>
                      </a:pPr>
                      <a:r>
                        <a:t>Multi-brand centralized ERP</a:t>
                      </a:r>
                    </a:p>
                  </a:txBody>
                  <a:tcPr>
                    <a:solidFill>
                      <a:srgbClr val="F8FAFC"/>
                    </a:solidFill>
                  </a:tcPr>
                </a:tc>
                <a:tc>
                  <a:txBody>
                    <a:bodyPr/>
                    <a:lstStyle/>
                    <a:p>
                      <a:pPr>
                        <a:defRPr sz="1050">
                          <a:solidFill>
                            <a:srgbClr val="1E293B"/>
                          </a:solidFill>
                          <a:latin typeface="Calibri"/>
                        </a:defRPr>
                      </a:pPr>
                      <a:r>
                        <a:t>High subscription cost, steep learning curve, no regional Gujarati voice soundbox.</a:t>
                      </a:r>
                    </a:p>
                  </a:txBody>
                  <a:tcPr>
                    <a:solidFill>
                      <a:srgbClr val="F8FAFC"/>
                    </a:solidFill>
                  </a:tcPr>
                </a:tc>
              </a:tr>
              <a:tr h="694944">
                <a:tc>
                  <a:txBody>
                    <a:bodyPr/>
                    <a:lstStyle/>
                    <a:p>
                      <a:pPr>
                        <a:defRPr sz="1050">
                          <a:solidFill>
                            <a:srgbClr val="1E293B"/>
                          </a:solidFill>
                          <a:latin typeface="Calibri"/>
                        </a:defRPr>
                      </a:pPr>
                      <a:r>
                        <a:t>Manual Paper Tokens (Traditional)</a:t>
                      </a:r>
                    </a:p>
                  </a:txBody>
                  <a:tcPr>
                    <a:solidFill>
                      <a:srgbClr val="F8FAFC"/>
                    </a:solidFill>
                  </a:tcPr>
                </a:tc>
                <a:tc>
                  <a:txBody>
                    <a:bodyPr/>
                    <a:lstStyle/>
                    <a:p>
                      <a:pPr>
                        <a:defRPr sz="1050">
                          <a:solidFill>
                            <a:srgbClr val="1E293B"/>
                          </a:solidFill>
                          <a:latin typeface="Calibri"/>
                        </a:defRPr>
                      </a:pPr>
                      <a:r>
                        <a:t>Pen &amp; Paper / Token</a:t>
                      </a:r>
                    </a:p>
                  </a:txBody>
                  <a:tcPr>
                    <a:solidFill>
                      <a:srgbClr val="F8FAFC"/>
                    </a:solidFill>
                  </a:tcPr>
                </a:tc>
                <a:tc>
                  <a:txBody>
                    <a:bodyPr/>
                    <a:lstStyle/>
                    <a:p>
                      <a:pPr>
                        <a:defRPr sz="1050">
                          <a:solidFill>
                            <a:srgbClr val="1E293B"/>
                          </a:solidFill>
                          <a:latin typeface="Calibri"/>
                        </a:defRPr>
                      </a:pPr>
                      <a:r>
                        <a:t>Handwritten KOT slips</a:t>
                      </a:r>
                    </a:p>
                  </a:txBody>
                  <a:tcPr>
                    <a:solidFill>
                      <a:srgbClr val="F8FAFC"/>
                    </a:solidFill>
                  </a:tcPr>
                </a:tc>
                <a:tc>
                  <a:txBody>
                    <a:bodyPr/>
                    <a:lstStyle/>
                    <a:p>
                      <a:pPr>
                        <a:defRPr sz="1050">
                          <a:solidFill>
                            <a:srgbClr val="1E293B"/>
                          </a:solidFill>
                          <a:latin typeface="Calibri"/>
                        </a:defRPr>
                      </a:pPr>
                      <a:r>
                        <a:t>High error rate (15-20%), lost slips, zero inventory visibility, zero analytics.</a:t>
                      </a:r>
                    </a:p>
                  </a:txBody>
                  <a:tcPr>
                    <a:solidFill>
                      <a:srgbClr val="F8FAFC"/>
                    </a:solidFill>
                  </a:tcPr>
                </a:tc>
              </a:tr>
            </a:tbl>
          </a:graphicData>
        </a:graphic>
      </p:graphicFrame>
      <p:sp>
        <p:nvSpPr>
          <p:cNvPr id="9" name="TextBox 8"/>
          <p:cNvSpPr txBox="1"/>
          <p:nvPr/>
        </p:nvSpPr>
        <p:spPr>
          <a:xfrm>
            <a:off x="914400" y="5120640"/>
            <a:ext cx="10362895" cy="1280160"/>
          </a:xfrm>
          <a:prstGeom prst="rect">
            <a:avLst/>
          </a:prstGeom>
          <a:noFill/>
        </p:spPr>
        <p:txBody>
          <a:bodyPr wrap="square">
            <a:spAutoFit/>
          </a:bodyPr>
          <a:lstStyle/>
          <a:p>
            <a:pPr>
              <a:defRPr b="1" sz="1250">
                <a:solidFill>
                  <a:srgbClr val="10B981"/>
                </a:solidFill>
                <a:latin typeface="Calibri"/>
              </a:defRPr>
            </a:pPr>
            <a:r>
              <a:t>RESEARCH GAP IDENTIFIED:</a:t>
            </a:r>
          </a:p>
          <a:p>
            <a:pPr>
              <a:defRPr sz="1150">
                <a:solidFill>
                  <a:srgbClr val="1E293B"/>
                </a:solidFill>
                <a:latin typeface="Calibri"/>
              </a:defRPr>
            </a:pPr>
            <a:r>
              <a:t>Existing solutions are either expensive and locked to proprietary hardware or limited to clunky offline desktop software. There is a clear market need for an affordable, hardware-agnostic Cloud PWA POS combining instantaneous QR table ordering, live KDS, raw-material recipe costing, and regional Gujarati voice alerts.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Alternative Solutions and Selection</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6</a:t>
            </a:r>
          </a:p>
        </p:txBody>
      </p:sp>
      <p:graphicFrame>
        <p:nvGraphicFramePr>
          <p:cNvPr id="8" name="Table 7"/>
          <p:cNvGraphicFramePr>
            <a:graphicFrameLocks noGrp="1"/>
          </p:cNvGraphicFramePr>
          <p:nvPr/>
        </p:nvGraphicFramePr>
        <p:xfrm>
          <a:off x="914400" y="1371600"/>
          <a:ext cx="10332720" cy="3474720"/>
        </p:xfrm>
        <a:graphic>
          <a:graphicData uri="http://schemas.openxmlformats.org/drawingml/2006/table">
            <a:tbl>
              <a:tblPr firstRow="1" bandRow="1">
                <a:tableStyleId>{5C22544A-7EE6-4342-B048-85BDC9FD1C3A}</a:tableStyleId>
              </a:tblPr>
              <a:tblGrid>
                <a:gridCol w="2286000"/>
                <a:gridCol w="2560320"/>
                <a:gridCol w="2560320"/>
                <a:gridCol w="2926080"/>
              </a:tblGrid>
              <a:tr h="694944">
                <a:tc>
                  <a:txBody>
                    <a:bodyPr/>
                    <a:lstStyle/>
                    <a:p>
                      <a:pPr>
                        <a:defRPr b="1" sz="1050">
                          <a:solidFill>
                            <a:srgbClr val="FFFFFF"/>
                          </a:solidFill>
                          <a:latin typeface="Calibri"/>
                        </a:defRPr>
                      </a:pPr>
                      <a:r>
                        <a:t>Comparison Criteria</a:t>
                      </a:r>
                    </a:p>
                  </a:txBody>
                  <a:tcPr>
                    <a:solidFill>
                      <a:srgbClr val="4F46E5"/>
                    </a:solidFill>
                  </a:tcPr>
                </a:tc>
                <a:tc>
                  <a:txBody>
                    <a:bodyPr/>
                    <a:lstStyle/>
                    <a:p>
                      <a:pPr>
                        <a:defRPr b="1" sz="1050">
                          <a:solidFill>
                            <a:srgbClr val="FFFFFF"/>
                          </a:solidFill>
                          <a:latin typeface="Calibri"/>
                        </a:defRPr>
                      </a:pPr>
                      <a:r>
                        <a:t>Option A: Desktop App (C# / .NET)</a:t>
                      </a:r>
                    </a:p>
                  </a:txBody>
                  <a:tcPr>
                    <a:solidFill>
                      <a:srgbClr val="4F46E5"/>
                    </a:solidFill>
                  </a:tcPr>
                </a:tc>
                <a:tc>
                  <a:txBody>
                    <a:bodyPr/>
                    <a:lstStyle/>
                    <a:p>
                      <a:pPr>
                        <a:defRPr b="1" sz="1050">
                          <a:solidFill>
                            <a:srgbClr val="FFFFFF"/>
                          </a:solidFill>
                          <a:latin typeface="Calibri"/>
                        </a:defRPr>
                      </a:pPr>
                      <a:r>
                        <a:t>Option B: Dedicated Hardware Terminal</a:t>
                      </a:r>
                    </a:p>
                  </a:txBody>
                  <a:tcPr>
                    <a:solidFill>
                      <a:srgbClr val="4F46E5"/>
                    </a:solidFill>
                  </a:tcPr>
                </a:tc>
                <a:tc>
                  <a:txBody>
                    <a:bodyPr/>
                    <a:lstStyle/>
                    <a:p>
                      <a:pPr>
                        <a:defRPr b="1" sz="1050">
                          <a:solidFill>
                            <a:srgbClr val="FFFFFF"/>
                          </a:solidFill>
                          <a:latin typeface="Calibri"/>
                        </a:defRPr>
                      </a:pPr>
                      <a:r>
                        <a:t>Option C (Selected): Cloud PWA (Laravel + JS)</a:t>
                      </a:r>
                    </a:p>
                  </a:txBody>
                  <a:tcPr>
                    <a:solidFill>
                      <a:srgbClr val="4F46E5"/>
                    </a:solidFill>
                  </a:tcPr>
                </a:tc>
              </a:tr>
              <a:tr h="694944">
                <a:tc>
                  <a:txBody>
                    <a:bodyPr/>
                    <a:lstStyle/>
                    <a:p>
                      <a:pPr>
                        <a:defRPr sz="1050">
                          <a:solidFill>
                            <a:srgbClr val="1E293B"/>
                          </a:solidFill>
                          <a:latin typeface="Calibri"/>
                        </a:defRPr>
                      </a:pPr>
                      <a:r>
                        <a:t>Architecture</a:t>
                      </a:r>
                    </a:p>
                  </a:txBody>
                  <a:tcPr>
                    <a:solidFill>
                      <a:srgbClr val="F8FAFC"/>
                    </a:solidFill>
                  </a:tcPr>
                </a:tc>
                <a:tc>
                  <a:txBody>
                    <a:bodyPr/>
                    <a:lstStyle/>
                    <a:p>
                      <a:pPr>
                        <a:defRPr sz="1050">
                          <a:solidFill>
                            <a:srgbClr val="1E293B"/>
                          </a:solidFill>
                          <a:latin typeface="Calibri"/>
                        </a:defRPr>
                      </a:pPr>
                      <a:r>
                        <a:t>Local Windows .NET + SQLite</a:t>
                      </a:r>
                    </a:p>
                  </a:txBody>
                  <a:tcPr>
                    <a:solidFill>
                      <a:srgbClr val="F8FAFC"/>
                    </a:solidFill>
                  </a:tcPr>
                </a:tc>
                <a:tc>
                  <a:txBody>
                    <a:bodyPr/>
                    <a:lstStyle/>
                    <a:p>
                      <a:pPr>
                        <a:defRPr sz="1050">
                          <a:solidFill>
                            <a:srgbClr val="1E293B"/>
                          </a:solidFill>
                          <a:latin typeface="Calibri"/>
                        </a:defRPr>
                      </a:pPr>
                      <a:r>
                        <a:t>Proprietary Embedded Android Terminal</a:t>
                      </a:r>
                    </a:p>
                  </a:txBody>
                  <a:tcPr>
                    <a:solidFill>
                      <a:srgbClr val="F8FAFC"/>
                    </a:solidFill>
                  </a:tcPr>
                </a:tc>
                <a:tc>
                  <a:txBody>
                    <a:bodyPr/>
                    <a:lstStyle/>
                    <a:p>
                      <a:pPr>
                        <a:defRPr sz="1050">
                          <a:solidFill>
                            <a:srgbClr val="1E293B"/>
                          </a:solidFill>
                          <a:latin typeface="Calibri"/>
                        </a:defRPr>
                      </a:pPr>
                      <a:r>
                        <a:t>Cloud Multi-Tenant SaaS (Laravel 11 + PWA)</a:t>
                      </a:r>
                    </a:p>
                  </a:txBody>
                  <a:tcPr>
                    <a:solidFill>
                      <a:srgbClr val="F8FAFC"/>
                    </a:solidFill>
                  </a:tcPr>
                </a:tc>
              </a:tr>
              <a:tr h="694944">
                <a:tc>
                  <a:txBody>
                    <a:bodyPr/>
                    <a:lstStyle/>
                    <a:p>
                      <a:pPr>
                        <a:defRPr sz="1050">
                          <a:solidFill>
                            <a:srgbClr val="1E293B"/>
                          </a:solidFill>
                          <a:latin typeface="Calibri"/>
                        </a:defRPr>
                      </a:pPr>
                      <a:r>
                        <a:t>Hardware Cost</a:t>
                      </a:r>
                    </a:p>
                  </a:txBody>
                  <a:tcPr>
                    <a:solidFill>
                      <a:srgbClr val="F8FAFC"/>
                    </a:solidFill>
                  </a:tcPr>
                </a:tc>
                <a:tc>
                  <a:txBody>
                    <a:bodyPr/>
                    <a:lstStyle/>
                    <a:p>
                      <a:pPr>
                        <a:defRPr sz="1050">
                          <a:solidFill>
                            <a:srgbClr val="1E293B"/>
                          </a:solidFill>
                          <a:latin typeface="Calibri"/>
                        </a:defRPr>
                      </a:pPr>
                      <a:r>
                        <a:t>Moderate (Requires PC + UPS: ₹30,000)</a:t>
                      </a:r>
                    </a:p>
                  </a:txBody>
                  <a:tcPr>
                    <a:solidFill>
                      <a:srgbClr val="F8FAFC"/>
                    </a:solidFill>
                  </a:tcPr>
                </a:tc>
                <a:tc>
                  <a:txBody>
                    <a:bodyPr/>
                    <a:lstStyle/>
                    <a:p>
                      <a:pPr>
                        <a:defRPr sz="1050">
                          <a:solidFill>
                            <a:srgbClr val="1E293B"/>
                          </a:solidFill>
                          <a:latin typeface="Calibri"/>
                        </a:defRPr>
                      </a:pPr>
                      <a:r>
                        <a:t>High (₹35,000+ per terminal device)</a:t>
                      </a:r>
                    </a:p>
                  </a:txBody>
                  <a:tcPr>
                    <a:solidFill>
                      <a:srgbClr val="F8FAFC"/>
                    </a:solidFill>
                  </a:tcPr>
                </a:tc>
                <a:tc>
                  <a:txBody>
                    <a:bodyPr/>
                    <a:lstStyle/>
                    <a:p>
                      <a:pPr>
                        <a:defRPr sz="1050">
                          <a:solidFill>
                            <a:srgbClr val="1E293B"/>
                          </a:solidFill>
                          <a:latin typeface="Calibri"/>
                        </a:defRPr>
                      </a:pPr>
                      <a:r>
                        <a:t>Zero Hardware Lock-In (Runs on any PC/Phone/Tablet)</a:t>
                      </a:r>
                    </a:p>
                  </a:txBody>
                  <a:tcPr>
                    <a:solidFill>
                      <a:srgbClr val="F8FAFC"/>
                    </a:solidFill>
                  </a:tcPr>
                </a:tc>
              </a:tr>
              <a:tr h="694944">
                <a:tc>
                  <a:txBody>
                    <a:bodyPr/>
                    <a:lstStyle/>
                    <a:p>
                      <a:pPr>
                        <a:defRPr sz="1050">
                          <a:solidFill>
                            <a:srgbClr val="1E293B"/>
                          </a:solidFill>
                          <a:latin typeface="Calibri"/>
                        </a:defRPr>
                      </a:pPr>
                      <a:r>
                        <a:t>Contactless QR</a:t>
                      </a:r>
                    </a:p>
                  </a:txBody>
                  <a:tcPr>
                    <a:solidFill>
                      <a:srgbClr val="F8FAFC"/>
                    </a:solidFill>
                  </a:tcPr>
                </a:tc>
                <a:tc>
                  <a:txBody>
                    <a:bodyPr/>
                    <a:lstStyle/>
                    <a:p>
                      <a:pPr>
                        <a:defRPr sz="1050">
                          <a:solidFill>
                            <a:srgbClr val="1E293B"/>
                          </a:solidFill>
                          <a:latin typeface="Calibri"/>
                        </a:defRPr>
                      </a:pPr>
                      <a:r>
                        <a:t>Complex (Requires third-party bridge)</a:t>
                      </a:r>
                    </a:p>
                  </a:txBody>
                  <a:tcPr>
                    <a:solidFill>
                      <a:srgbClr val="F8FAFC"/>
                    </a:solidFill>
                  </a:tcPr>
                </a:tc>
                <a:tc>
                  <a:txBody>
                    <a:bodyPr/>
                    <a:lstStyle/>
                    <a:p>
                      <a:pPr>
                        <a:defRPr sz="1050">
                          <a:solidFill>
                            <a:srgbClr val="1E293B"/>
                          </a:solidFill>
                          <a:latin typeface="Calibri"/>
                        </a:defRPr>
                      </a:pPr>
                      <a:r>
                        <a:t>Unsupported (Terminal only)</a:t>
                      </a:r>
                    </a:p>
                  </a:txBody>
                  <a:tcPr>
                    <a:solidFill>
                      <a:srgbClr val="F8FAFC"/>
                    </a:solidFill>
                  </a:tcPr>
                </a:tc>
                <a:tc>
                  <a:txBody>
                    <a:bodyPr/>
                    <a:lstStyle/>
                    <a:p>
                      <a:pPr>
                        <a:defRPr sz="1050">
                          <a:solidFill>
                            <a:srgbClr val="1E293B"/>
                          </a:solidFill>
                          <a:latin typeface="Calibri"/>
                        </a:defRPr>
                      </a:pPr>
                      <a:r>
                        <a:t>Native 100% Contactless Table QR Integration</a:t>
                      </a:r>
                    </a:p>
                  </a:txBody>
                  <a:tcPr>
                    <a:solidFill>
                      <a:srgbClr val="F8FAFC"/>
                    </a:solidFill>
                  </a:tcPr>
                </a:tc>
              </a:tr>
              <a:tr h="694944">
                <a:tc>
                  <a:txBody>
                    <a:bodyPr/>
                    <a:lstStyle/>
                    <a:p>
                      <a:pPr>
                        <a:defRPr sz="1050">
                          <a:solidFill>
                            <a:srgbClr val="1E293B"/>
                          </a:solidFill>
                          <a:latin typeface="Calibri"/>
                        </a:defRPr>
                      </a:pPr>
                      <a:r>
                        <a:t>Verdict</a:t>
                      </a:r>
                    </a:p>
                  </a:txBody>
                  <a:tcPr>
                    <a:solidFill>
                      <a:srgbClr val="F8FAFC"/>
                    </a:solidFill>
                  </a:tcPr>
                </a:tc>
                <a:tc>
                  <a:txBody>
                    <a:bodyPr/>
                    <a:lstStyle/>
                    <a:p>
                      <a:pPr>
                        <a:defRPr sz="1050">
                          <a:solidFill>
                            <a:srgbClr val="1E293B"/>
                          </a:solidFill>
                          <a:latin typeface="Calibri"/>
                        </a:defRPr>
                      </a:pPr>
                      <a:r>
                        <a:t>Rejected (Local sync failure risk)</a:t>
                      </a:r>
                    </a:p>
                  </a:txBody>
                  <a:tcPr>
                    <a:solidFill>
                      <a:srgbClr val="F8FAFC"/>
                    </a:solidFill>
                  </a:tcPr>
                </a:tc>
                <a:tc>
                  <a:txBody>
                    <a:bodyPr/>
                    <a:lstStyle/>
                    <a:p>
                      <a:pPr>
                        <a:defRPr sz="1050">
                          <a:solidFill>
                            <a:srgbClr val="1E293B"/>
                          </a:solidFill>
                          <a:latin typeface="Calibri"/>
                        </a:defRPr>
                      </a:pPr>
                      <a:r>
                        <a:t>Rejected (High CAPEX for small eateries)</a:t>
                      </a:r>
                    </a:p>
                  </a:txBody>
                  <a:tcPr>
                    <a:solidFill>
                      <a:srgbClr val="F8FAFC"/>
                    </a:solidFill>
                  </a:tcPr>
                </a:tc>
                <a:tc>
                  <a:txBody>
                    <a:bodyPr/>
                    <a:lstStyle/>
                    <a:p>
                      <a:pPr>
                        <a:defRPr sz="1050">
                          <a:solidFill>
                            <a:srgbClr val="1E293B"/>
                          </a:solidFill>
                          <a:latin typeface="Calibri"/>
                        </a:defRPr>
                      </a:pPr>
                      <a:r>
                        <a:t>SELECTED (Maximum agility, scalability &amp; low cost)</a:t>
                      </a:r>
                    </a:p>
                  </a:txBody>
                  <a:tcPr>
                    <a:solidFill>
                      <a:srgbClr val="F8FAFC"/>
                    </a:solidFill>
                  </a:tcPr>
                </a:tc>
              </a:tr>
            </a:tbl>
          </a:graphicData>
        </a:graphic>
      </p:graphicFrame>
      <p:sp>
        <p:nvSpPr>
          <p:cNvPr id="9" name="TextBox 8"/>
          <p:cNvSpPr txBox="1"/>
          <p:nvPr/>
        </p:nvSpPr>
        <p:spPr>
          <a:xfrm>
            <a:off x="914400" y="5120640"/>
            <a:ext cx="10362895" cy="1280160"/>
          </a:xfrm>
          <a:prstGeom prst="rect">
            <a:avLst/>
          </a:prstGeom>
          <a:noFill/>
        </p:spPr>
        <p:txBody>
          <a:bodyPr wrap="square">
            <a:spAutoFit/>
          </a:bodyPr>
          <a:lstStyle/>
          <a:p>
            <a:pPr>
              <a:defRPr b="1" sz="1250">
                <a:solidFill>
                  <a:srgbClr val="10B981"/>
                </a:solidFill>
                <a:latin typeface="Calibri"/>
              </a:defRPr>
            </a:pPr>
            <a:r>
              <a:t>JUSTIFICATION FOR SELECTING OPTION C:</a:t>
            </a:r>
          </a:p>
          <a:p>
            <a:pPr>
              <a:defRPr sz="1150">
                <a:solidFill>
                  <a:srgbClr val="1E293B"/>
                </a:solidFill>
                <a:latin typeface="Calibri"/>
              </a:defRPr>
            </a:pPr>
            <a:r>
              <a:t>Option C eliminates hardware vendor lock-in completely, delivers 99.9% cloud uptime, enables instant updates without manual technician visits, and provides full multi-tenant isolation across multiple branches from a single unified codebase.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General Block Diagram</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7</a:t>
            </a:r>
          </a:p>
        </p:txBody>
      </p:sp>
      <p:sp>
        <p:nvSpPr>
          <p:cNvPr id="8" name="Rounded Rectangle 7"/>
          <p:cNvSpPr/>
          <p:nvPr/>
        </p:nvSpPr>
        <p:spPr>
          <a:xfrm>
            <a:off x="914400" y="1645920"/>
            <a:ext cx="3291840" cy="411480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4F46E5"/>
                </a:solidFill>
                <a:latin typeface="Calibri"/>
              </a:defRPr>
            </a:pPr>
            <a:r>
              <a:t>INPUT TIER</a:t>
            </a:r>
          </a:p>
          <a:p>
            <a:pPr>
              <a:defRPr sz="1200">
                <a:solidFill>
                  <a:srgbClr val="1E293B"/>
                </a:solidFill>
                <a:latin typeface="Calibri"/>
              </a:defRPr>
            </a:pPr>
            <a:r>
              <a:t>• Customer Table QR Scan</a:t>
            </a:r>
            <a:br/>
            <a:r>
              <a:t>• Cashier Touch / Keyboard</a:t>
            </a:r>
            <a:br/>
            <a:r>
              <a:t>• Waiter Captain Tablet</a:t>
            </a:r>
            <a:br/>
            <a:r>
              <a:t>• Barcode / UPI QR Reader</a:t>
            </a:r>
          </a:p>
        </p:txBody>
      </p:sp>
      <p:sp>
        <p:nvSpPr>
          <p:cNvPr id="9" name="Rounded Rectangle 8"/>
          <p:cNvSpPr/>
          <p:nvPr/>
        </p:nvSpPr>
        <p:spPr>
          <a:xfrm>
            <a:off x="4389120" y="1645920"/>
            <a:ext cx="3291840" cy="411480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4F46E5"/>
                </a:solidFill>
                <a:latin typeface="Calibri"/>
              </a:defRPr>
            </a:pPr>
            <a:r>
              <a:t>PROCESSING TIER</a:t>
            </a:r>
          </a:p>
          <a:p>
            <a:pPr>
              <a:defRPr sz="1200">
                <a:solidFill>
                  <a:srgbClr val="1E293B"/>
                </a:solidFill>
                <a:latin typeface="Calibri"/>
              </a:defRPr>
            </a:pPr>
            <a:r>
              <a:t>• Laravel 11 MVC Core Engine</a:t>
            </a:r>
            <a:br/>
            <a:r>
              <a:t>• Multi-Tenant Scope Middleware</a:t>
            </a:r>
            <a:br/>
            <a:r>
              <a:t>• Recipe Depletion Controller</a:t>
            </a:r>
            <a:br/>
            <a:r>
              <a:t>• GST &amp; Tax Computation</a:t>
            </a:r>
            <a:br/>
            <a:r>
              <a:t>• Auth &amp; Session Validator</a:t>
            </a:r>
          </a:p>
        </p:txBody>
      </p:sp>
      <p:sp>
        <p:nvSpPr>
          <p:cNvPr id="10" name="Rounded Rectangle 9"/>
          <p:cNvSpPr/>
          <p:nvPr/>
        </p:nvSpPr>
        <p:spPr>
          <a:xfrm>
            <a:off x="7863840" y="1645920"/>
            <a:ext cx="3291840" cy="411480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4F46E5"/>
                </a:solidFill>
                <a:latin typeface="Calibri"/>
              </a:defRPr>
            </a:pPr>
            <a:r>
              <a:t>OUTPUT TIER</a:t>
            </a:r>
          </a:p>
          <a:p>
            <a:pPr>
              <a:defRPr sz="1200">
                <a:solidFill>
                  <a:srgbClr val="1E293B"/>
                </a:solidFill>
                <a:latin typeface="Calibri"/>
              </a:defRPr>
            </a:pPr>
            <a:r>
              <a:t>• Live Kitchen Display (KDS)</a:t>
            </a:r>
            <a:br/>
            <a:r>
              <a:t>• Silent ESC/POS Thermal Print</a:t>
            </a:r>
            <a:br/>
            <a:r>
              <a:t>• Gujarati Voice Soundbox</a:t>
            </a:r>
            <a:br/>
            <a:r>
              <a:t>• Real-Time Analytics Dashboard</a:t>
            </a:r>
            <a:br/>
            <a:r>
              <a:t>• Customer Digital Receipt</a:t>
            </a:r>
          </a:p>
        </p:txBody>
      </p:sp>
      <p:sp>
        <p:nvSpPr>
          <p:cNvPr id="11" name="TextBox 10"/>
          <p:cNvSpPr txBox="1"/>
          <p:nvPr/>
        </p:nvSpPr>
        <p:spPr>
          <a:xfrm>
            <a:off x="914400" y="5943600"/>
            <a:ext cx="10362895" cy="548640"/>
          </a:xfrm>
          <a:prstGeom prst="rect">
            <a:avLst/>
          </a:prstGeom>
          <a:noFill/>
        </p:spPr>
        <p:txBody>
          <a:bodyPr wrap="none">
            <a:spAutoFit/>
          </a:bodyPr>
          <a:lstStyle/>
          <a:p>
            <a:pPr>
              <a:defRPr sz="1100">
                <a:solidFill>
                  <a:srgbClr val="64748B"/>
                </a:solidFill>
                <a:latin typeface="Calibri"/>
              </a:defRPr>
            </a:pPr>
            <a:r>
              <a:t>System Data Flow: Input captures customer/cashier orders → Core validates stock &amp; tenant isolation → Output dispatches KOT &amp; bill simultaneously in &lt;200ms.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Detailed System Architecture Diagram</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8</a:t>
            </a:r>
          </a:p>
        </p:txBody>
      </p:sp>
      <p:sp>
        <p:nvSpPr>
          <p:cNvPr id="8" name="TextBox 7"/>
          <p:cNvSpPr txBox="1"/>
          <p:nvPr/>
        </p:nvSpPr>
        <p:spPr>
          <a:xfrm>
            <a:off x="914400" y="1463040"/>
            <a:ext cx="10362895" cy="4754880"/>
          </a:xfrm>
          <a:prstGeom prst="rect">
            <a:avLst/>
          </a:prstGeom>
          <a:noFill/>
        </p:spPr>
        <p:txBody>
          <a:bodyPr wrap="square">
            <a:spAutoFit/>
          </a:bodyPr>
          <a:lstStyle/>
          <a:p/>
          <a:p>
            <a:pPr>
              <a:defRPr b="1" sz="1350">
                <a:solidFill>
                  <a:srgbClr val="4F46E5"/>
                </a:solidFill>
                <a:latin typeface="Calibri"/>
              </a:defRPr>
            </a:pPr>
            <a:r>
              <a:t>1. Client Presentation Tier</a:t>
            </a:r>
          </a:p>
          <a:p>
            <a:pPr>
              <a:defRPr sz="1150">
                <a:solidFill>
                  <a:srgbClr val="1E293B"/>
                </a:solidFill>
                <a:latin typeface="Calibri"/>
              </a:defRPr>
            </a:pPr>
            <a:r>
              <a:t>Progressive Web App (PWA) running on HTML5, Tailwind CSS, Bootstrap 5, and Vanilla ES6+ JavaScript. Completely responsive across desktop monitors, touch POS terminals, kitchen tablets, and mobile browsers.</a:t>
            </a:r>
          </a:p>
          <a:p>
            <a:pPr>
              <a:defRPr b="1" sz="1350">
                <a:solidFill>
                  <a:srgbClr val="4F46E5"/>
                </a:solidFill>
                <a:latin typeface="Calibri"/>
              </a:defRPr>
            </a:pPr>
            <a:r>
              <a:t>2. Application &amp; API Gateway Tier</a:t>
            </a:r>
          </a:p>
          <a:p>
            <a:pPr>
              <a:defRPr sz="1150">
                <a:solidFill>
                  <a:srgbClr val="1E293B"/>
                </a:solidFill>
                <a:latin typeface="Calibri"/>
              </a:defRPr>
            </a:pPr>
            <a:r>
              <a:t>Hosted on Nginx with HTTP/2 SSL encryption. Powered by Laravel 11 MVC framework (PHP 8.3) utilizing RESTful endpoints, CSRF token security, and Role-Based Access Control (Admin, Manager, Cashier, Waiter, Kitchen).</a:t>
            </a:r>
          </a:p>
          <a:p>
            <a:pPr>
              <a:defRPr b="1" sz="1350">
                <a:solidFill>
                  <a:srgbClr val="4F46E5"/>
                </a:solidFill>
                <a:latin typeface="Calibri"/>
              </a:defRPr>
            </a:pPr>
            <a:r>
              <a:t>3. Business Logic &amp; Real-Time Engine</a:t>
            </a:r>
          </a:p>
          <a:p>
            <a:pPr>
              <a:defRPr sz="1150">
                <a:solidFill>
                  <a:srgbClr val="1E293B"/>
                </a:solidFill>
                <a:latin typeface="Calibri"/>
              </a:defRPr>
            </a:pPr>
            <a:r>
              <a:t>• Order Pipeline: Manages cart calculations, dynamic modifiers, discounts, and split billing.</a:t>
            </a:r>
            <a:br/>
            <a:r>
              <a:t>• Inventory Depletion: Real-time recipe BOM ingredient deduction (e.g., deducting 80g cheese per pizza).</a:t>
            </a:r>
            <a:br/>
            <a:r>
              <a:t>• Gujarati Soundbox: HTML5 Web Speech API generating native audio announcements on order receipt.</a:t>
            </a:r>
          </a:p>
          <a:p>
            <a:pPr>
              <a:defRPr b="1" sz="1350">
                <a:solidFill>
                  <a:srgbClr val="4F46E5"/>
                </a:solidFill>
                <a:latin typeface="Calibri"/>
              </a:defRPr>
            </a:pPr>
            <a:r>
              <a:t>4. Data Persistence &amp; Caching Tier</a:t>
            </a:r>
          </a:p>
          <a:p>
            <a:pPr>
              <a:defRPr sz="1150">
                <a:solidFill>
                  <a:srgbClr val="1E293B"/>
                </a:solidFill>
                <a:latin typeface="Calibri"/>
              </a:defRPr>
            </a:pPr>
            <a:r>
              <a:t>Relational MySQL 8.0 database with indexed tenant foreign keys ensuring cryptographic data isolation between restaurants, paired with file/Redis caching for sub-50ms query responses.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Algorithm / Flowchart</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9</a:t>
            </a:r>
          </a:p>
        </p:txBody>
      </p:sp>
      <p:sp>
        <p:nvSpPr>
          <p:cNvPr id="8" name="TextBox 7"/>
          <p:cNvSpPr txBox="1"/>
          <p:nvPr/>
        </p:nvSpPr>
        <p:spPr>
          <a:xfrm>
            <a:off x="914400" y="1463040"/>
            <a:ext cx="10362895" cy="4937760"/>
          </a:xfrm>
          <a:prstGeom prst="rect">
            <a:avLst/>
          </a:prstGeom>
          <a:noFill/>
        </p:spPr>
        <p:txBody>
          <a:bodyPr wrap="square">
            <a:spAutoFit/>
          </a:bodyPr>
          <a:lstStyle/>
          <a:p/>
          <a:p>
            <a:r>
              <a:rPr b="1" sz="1250">
                <a:solidFill>
                  <a:srgbClr val="4F46E5"/>
                </a:solidFill>
                <a:latin typeface="Calibri"/>
              </a:rPr>
              <a:t>▶ Step 1: Order Ingestion: </a:t>
            </a:r>
            <a:r>
              <a:rPr b="0" sz="1250">
                <a:solidFill>
                  <a:srgbClr val="1E293B"/>
                </a:solidFill>
                <a:latin typeface="Calibri"/>
              </a:rPr>
              <a:t>Customer scans Table QR code or Cashier selects Table T-01 from POS terminal interface.</a:t>
            </a:r>
          </a:p>
          <a:p>
            <a:r>
              <a:rPr b="1" sz="1250">
                <a:solidFill>
                  <a:srgbClr val="4F46E5"/>
                </a:solidFill>
                <a:latin typeface="Calibri"/>
              </a:rPr>
              <a:t>▶ Step 2: Cart Selection: </a:t>
            </a:r>
            <a:r>
              <a:rPr b="0" sz="1250">
                <a:solidFill>
                  <a:srgbClr val="1E293B"/>
                </a:solidFill>
                <a:latin typeface="Calibri"/>
              </a:rPr>
              <a:t>User selects menu items with custom modifiers (e.g. Extra Cheese, Cooking Notes).</a:t>
            </a:r>
          </a:p>
          <a:p>
            <a:r>
              <a:rPr b="1" sz="1250">
                <a:solidFill>
                  <a:srgbClr val="4F46E5"/>
                </a:solidFill>
                <a:latin typeface="Calibri"/>
              </a:rPr>
              <a:t>▶ Step 3: Stock Validation: </a:t>
            </a:r>
            <a:r>
              <a:rPr b="0" sz="1250">
                <a:solidFill>
                  <a:srgbClr val="1E293B"/>
                </a:solidFill>
                <a:latin typeface="Calibri"/>
              </a:rPr>
              <a:t>System checks recipe inventory availability; if any raw ingredient is exhausted, item is flagged 'Sold Out'.</a:t>
            </a:r>
          </a:p>
          <a:p>
            <a:r>
              <a:rPr b="1" sz="1250">
                <a:solidFill>
                  <a:srgbClr val="4F46E5"/>
                </a:solidFill>
                <a:latin typeface="Calibri"/>
              </a:rPr>
              <a:t>▶ Step 4: Transaction Commit: </a:t>
            </a:r>
            <a:r>
              <a:rPr b="0" sz="1250">
                <a:solidFill>
                  <a:srgbClr val="1E293B"/>
                </a:solidFill>
                <a:latin typeface="Calibri"/>
              </a:rPr>
              <a:t>Order is cryptographically committed with unique Order ID (#ORD-XXXX), GST, and payment method.</a:t>
            </a:r>
          </a:p>
          <a:p>
            <a:r>
              <a:rPr b="1" sz="1250">
                <a:solidFill>
                  <a:srgbClr val="4F46E5"/>
                </a:solidFill>
                <a:latin typeface="Calibri"/>
              </a:rPr>
              <a:t>▶ Step 5: Simultaneous KOT Dispatch: </a:t>
            </a:r>
            <a:r>
              <a:rPr b="0" sz="1250">
                <a:solidFill>
                  <a:srgbClr val="1E293B"/>
                </a:solidFill>
                <a:latin typeface="Calibri"/>
              </a:rPr>
              <a:t>KOT ticket appears on Kitchen Display System (KDS) and prints to kitchen thermal printer via ESC/POS.</a:t>
            </a:r>
          </a:p>
          <a:p>
            <a:r>
              <a:rPr b="1" sz="1250">
                <a:solidFill>
                  <a:srgbClr val="4F46E5"/>
                </a:solidFill>
                <a:latin typeface="Calibri"/>
              </a:rPr>
              <a:t>▶ Step 6: Voice Announcement: </a:t>
            </a:r>
            <a:r>
              <a:rPr b="0" sz="1250">
                <a:solidFill>
                  <a:srgbClr val="1E293B"/>
                </a:solidFill>
                <a:latin typeface="Calibri"/>
              </a:rPr>
              <a:t>Web Audio API synthesizes Gujarati audio alert: 'નવો ઓર્ડર: ટેબલ ૧, ૨ આઇટમ્સ'.</a:t>
            </a:r>
          </a:p>
          <a:p>
            <a:r>
              <a:rPr b="1" sz="1250">
                <a:solidFill>
                  <a:srgbClr val="4F46E5"/>
                </a:solidFill>
                <a:latin typeface="Calibri"/>
              </a:rPr>
              <a:t>▶ Step 7: Real-Time Depletion: </a:t>
            </a:r>
            <a:r>
              <a:rPr b="0" sz="1250">
                <a:solidFill>
                  <a:srgbClr val="1E293B"/>
                </a:solidFill>
                <a:latin typeface="Calibri"/>
              </a:rPr>
              <a:t>Recipe costing engine automatically deducts exact grams of raw materials from restaurant inventory.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Components and Cost Estimate</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10</a:t>
            </a:r>
          </a:p>
        </p:txBody>
      </p:sp>
      <p:graphicFrame>
        <p:nvGraphicFramePr>
          <p:cNvPr id="8" name="Table 7"/>
          <p:cNvGraphicFramePr>
            <a:graphicFrameLocks noGrp="1"/>
          </p:cNvGraphicFramePr>
          <p:nvPr/>
        </p:nvGraphicFramePr>
        <p:xfrm>
          <a:off x="914400" y="1371600"/>
          <a:ext cx="10332720" cy="3840480"/>
        </p:xfrm>
        <a:graphic>
          <a:graphicData uri="http://schemas.openxmlformats.org/drawingml/2006/table">
            <a:tbl>
              <a:tblPr firstRow="1" bandRow="1">
                <a:tableStyleId>{5C22544A-7EE6-4342-B048-85BDC9FD1C3A}</a:tableStyleId>
              </a:tblPr>
              <a:tblGrid>
                <a:gridCol w="914400"/>
                <a:gridCol w="2926080"/>
                <a:gridCol w="3200400"/>
                <a:gridCol w="1097280"/>
                <a:gridCol w="2194560"/>
              </a:tblGrid>
              <a:tr h="640080">
                <a:tc>
                  <a:txBody>
                    <a:bodyPr/>
                    <a:lstStyle/>
                    <a:p>
                      <a:pPr>
                        <a:defRPr b="1" sz="1100">
                          <a:solidFill>
                            <a:srgbClr val="FFFFFF"/>
                          </a:solidFill>
                          <a:latin typeface="Calibri"/>
                        </a:defRPr>
                      </a:pPr>
                      <a:r>
                        <a:t>S. No.</a:t>
                      </a:r>
                    </a:p>
                  </a:txBody>
                  <a:tcPr>
                    <a:solidFill>
                      <a:srgbClr val="4F46E5"/>
                    </a:solidFill>
                  </a:tcPr>
                </a:tc>
                <a:tc>
                  <a:txBody>
                    <a:bodyPr/>
                    <a:lstStyle/>
                    <a:p>
                      <a:pPr>
                        <a:defRPr b="1" sz="1100">
                          <a:solidFill>
                            <a:srgbClr val="FFFFFF"/>
                          </a:solidFill>
                          <a:latin typeface="Calibri"/>
                        </a:defRPr>
                      </a:pPr>
                      <a:r>
                        <a:t>Component / Service</a:t>
                      </a:r>
                    </a:p>
                  </a:txBody>
                  <a:tcPr>
                    <a:solidFill>
                      <a:srgbClr val="4F46E5"/>
                    </a:solidFill>
                  </a:tcPr>
                </a:tc>
                <a:tc>
                  <a:txBody>
                    <a:bodyPr/>
                    <a:lstStyle/>
                    <a:p>
                      <a:pPr>
                        <a:defRPr b="1" sz="1100">
                          <a:solidFill>
                            <a:srgbClr val="FFFFFF"/>
                          </a:solidFill>
                          <a:latin typeface="Calibri"/>
                        </a:defRPr>
                      </a:pPr>
                      <a:r>
                        <a:t>Technical Specification</a:t>
                      </a:r>
                    </a:p>
                  </a:txBody>
                  <a:tcPr>
                    <a:solidFill>
                      <a:srgbClr val="4F46E5"/>
                    </a:solidFill>
                  </a:tcPr>
                </a:tc>
                <a:tc>
                  <a:txBody>
                    <a:bodyPr/>
                    <a:lstStyle/>
                    <a:p>
                      <a:pPr>
                        <a:defRPr b="1" sz="1100">
                          <a:solidFill>
                            <a:srgbClr val="FFFFFF"/>
                          </a:solidFill>
                          <a:latin typeface="Calibri"/>
                        </a:defRPr>
                      </a:pPr>
                      <a:r>
                        <a:t>Qty</a:t>
                      </a:r>
                    </a:p>
                  </a:txBody>
                  <a:tcPr>
                    <a:solidFill>
                      <a:srgbClr val="4F46E5"/>
                    </a:solidFill>
                  </a:tcPr>
                </a:tc>
                <a:tc>
                  <a:txBody>
                    <a:bodyPr/>
                    <a:lstStyle/>
                    <a:p>
                      <a:pPr>
                        <a:defRPr b="1" sz="1100">
                          <a:solidFill>
                            <a:srgbClr val="FFFFFF"/>
                          </a:solidFill>
                          <a:latin typeface="Calibri"/>
                        </a:defRPr>
                      </a:pPr>
                      <a:r>
                        <a:t>Cost (₹)</a:t>
                      </a:r>
                    </a:p>
                  </a:txBody>
                  <a:tcPr>
                    <a:solidFill>
                      <a:srgbClr val="4F46E5"/>
                    </a:solidFill>
                  </a:tcPr>
                </a:tc>
              </a:tr>
              <a:tr h="640080">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Cloud Hosting Server</a:t>
                      </a:r>
                    </a:p>
                  </a:txBody>
                  <a:tcPr>
                    <a:solidFill>
                      <a:srgbClr val="F8FAFC"/>
                    </a:solidFill>
                  </a:tcPr>
                </a:tc>
                <a:tc>
                  <a:txBody>
                    <a:bodyPr/>
                    <a:lstStyle/>
                    <a:p>
                      <a:pPr>
                        <a:defRPr sz="1050">
                          <a:solidFill>
                            <a:srgbClr val="1E293B"/>
                          </a:solidFill>
                          <a:latin typeface="Calibri"/>
                        </a:defRPr>
                      </a:pPr>
                      <a:r>
                        <a:t>AWS EC2 Ubuntu 24.04 LTS, 1 vCPU, 2GB RAM</a:t>
                      </a:r>
                    </a:p>
                  </a:txBody>
                  <a:tcPr>
                    <a:solidFill>
                      <a:srgbClr val="F8FAFC"/>
                    </a:solidFill>
                  </a:tcPr>
                </a:tc>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 0 (Free Tier / Self-Hosted)</a:t>
                      </a:r>
                    </a:p>
                  </a:txBody>
                  <a:tcPr>
                    <a:solidFill>
                      <a:srgbClr val="F8FAFC"/>
                    </a:solidFill>
                  </a:tcPr>
                </a:tc>
              </a:tr>
              <a:tr h="640080">
                <a:tc>
                  <a:txBody>
                    <a:bodyPr/>
                    <a:lstStyle/>
                    <a:p>
                      <a:pPr>
                        <a:defRPr sz="1050">
                          <a:solidFill>
                            <a:srgbClr val="1E293B"/>
                          </a:solidFill>
                          <a:latin typeface="Calibri"/>
                        </a:defRPr>
                      </a:pPr>
                      <a:r>
                        <a:t>2</a:t>
                      </a:r>
                    </a:p>
                  </a:txBody>
                  <a:tcPr>
                    <a:solidFill>
                      <a:srgbClr val="F8FAFC"/>
                    </a:solidFill>
                  </a:tcPr>
                </a:tc>
                <a:tc>
                  <a:txBody>
                    <a:bodyPr/>
                    <a:lstStyle/>
                    <a:p>
                      <a:pPr>
                        <a:defRPr sz="1050">
                          <a:solidFill>
                            <a:srgbClr val="1E293B"/>
                          </a:solidFill>
                          <a:latin typeface="Calibri"/>
                        </a:defRPr>
                      </a:pPr>
                      <a:r>
                        <a:t>Backend &amp; Database</a:t>
                      </a:r>
                    </a:p>
                  </a:txBody>
                  <a:tcPr>
                    <a:solidFill>
                      <a:srgbClr val="F8FAFC"/>
                    </a:solidFill>
                  </a:tcPr>
                </a:tc>
                <a:tc>
                  <a:txBody>
                    <a:bodyPr/>
                    <a:lstStyle/>
                    <a:p>
                      <a:pPr>
                        <a:defRPr sz="1050">
                          <a:solidFill>
                            <a:srgbClr val="1E293B"/>
                          </a:solidFill>
                          <a:latin typeface="Calibri"/>
                        </a:defRPr>
                      </a:pPr>
                      <a:r>
                        <a:t>PHP 8.3, Laravel 11, MySQL 8.0, Redis</a:t>
                      </a:r>
                    </a:p>
                  </a:txBody>
                  <a:tcPr>
                    <a:solidFill>
                      <a:srgbClr val="F8FAFC"/>
                    </a:solidFill>
                  </a:tcPr>
                </a:tc>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 0 (Open Source)</a:t>
                      </a:r>
                    </a:p>
                  </a:txBody>
                  <a:tcPr>
                    <a:solidFill>
                      <a:srgbClr val="F8FAFC"/>
                    </a:solidFill>
                  </a:tcPr>
                </a:tc>
              </a:tr>
              <a:tr h="640080">
                <a:tc>
                  <a:txBody>
                    <a:bodyPr/>
                    <a:lstStyle/>
                    <a:p>
                      <a:pPr>
                        <a:defRPr sz="1050">
                          <a:solidFill>
                            <a:srgbClr val="1E293B"/>
                          </a:solidFill>
                          <a:latin typeface="Calibri"/>
                        </a:defRPr>
                      </a:pPr>
                      <a:r>
                        <a:t>3</a:t>
                      </a:r>
                    </a:p>
                  </a:txBody>
                  <a:tcPr>
                    <a:solidFill>
                      <a:srgbClr val="F8FAFC"/>
                    </a:solidFill>
                  </a:tcPr>
                </a:tc>
                <a:tc>
                  <a:txBody>
                    <a:bodyPr/>
                    <a:lstStyle/>
                    <a:p>
                      <a:pPr>
                        <a:defRPr sz="1050">
                          <a:solidFill>
                            <a:srgbClr val="1E293B"/>
                          </a:solidFill>
                          <a:latin typeface="Calibri"/>
                        </a:defRPr>
                      </a:pPr>
                      <a:r>
                        <a:t>Thermal Receipt Printer</a:t>
                      </a:r>
                    </a:p>
                  </a:txBody>
                  <a:tcPr>
                    <a:solidFill>
                      <a:srgbClr val="F8FAFC"/>
                    </a:solidFill>
                  </a:tcPr>
                </a:tc>
                <a:tc>
                  <a:txBody>
                    <a:bodyPr/>
                    <a:lstStyle/>
                    <a:p>
                      <a:pPr>
                        <a:defRPr sz="1050">
                          <a:solidFill>
                            <a:srgbClr val="1E293B"/>
                          </a:solidFill>
                          <a:latin typeface="Calibri"/>
                        </a:defRPr>
                      </a:pPr>
                      <a:r>
                        <a:t>58mm / 80mm USB Direct ESC/POS Printer</a:t>
                      </a:r>
                    </a:p>
                  </a:txBody>
                  <a:tcPr>
                    <a:solidFill>
                      <a:srgbClr val="F8FAFC"/>
                    </a:solidFill>
                  </a:tcPr>
                </a:tc>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 2,800 (Prototype Unit)</a:t>
                      </a:r>
                    </a:p>
                  </a:txBody>
                  <a:tcPr>
                    <a:solidFill>
                      <a:srgbClr val="F8FAFC"/>
                    </a:solidFill>
                  </a:tcPr>
                </a:tc>
              </a:tr>
              <a:tr h="640080">
                <a:tc>
                  <a:txBody>
                    <a:bodyPr/>
                    <a:lstStyle/>
                    <a:p>
                      <a:pPr>
                        <a:defRPr sz="1050">
                          <a:solidFill>
                            <a:srgbClr val="1E293B"/>
                          </a:solidFill>
                          <a:latin typeface="Calibri"/>
                        </a:defRPr>
                      </a:pPr>
                      <a:r>
                        <a:t>4</a:t>
                      </a:r>
                    </a:p>
                  </a:txBody>
                  <a:tcPr>
                    <a:solidFill>
                      <a:srgbClr val="F8FAFC"/>
                    </a:solidFill>
                  </a:tcPr>
                </a:tc>
                <a:tc>
                  <a:txBody>
                    <a:bodyPr/>
                    <a:lstStyle/>
                    <a:p>
                      <a:pPr>
                        <a:defRPr sz="1050">
                          <a:solidFill>
                            <a:srgbClr val="1E293B"/>
                          </a:solidFill>
                          <a:latin typeface="Calibri"/>
                        </a:defRPr>
                      </a:pPr>
                      <a:r>
                        <a:t>Display Devices (POS &amp; KDS)</a:t>
                      </a:r>
                    </a:p>
                  </a:txBody>
                  <a:tcPr>
                    <a:solidFill>
                      <a:srgbClr val="F8FAFC"/>
                    </a:solidFill>
                  </a:tcPr>
                </a:tc>
                <a:tc>
                  <a:txBody>
                    <a:bodyPr/>
                    <a:lstStyle/>
                    <a:p>
                      <a:pPr>
                        <a:defRPr sz="1050">
                          <a:solidFill>
                            <a:srgbClr val="1E293B"/>
                          </a:solidFill>
                          <a:latin typeface="Calibri"/>
                        </a:defRPr>
                      </a:pPr>
                      <a:r>
                        <a:t>Existing PC / Touch Tablet / Smartphone</a:t>
                      </a:r>
                    </a:p>
                  </a:txBody>
                  <a:tcPr>
                    <a:solidFill>
                      <a:srgbClr val="F8FAFC"/>
                    </a:solidFill>
                  </a:tcPr>
                </a:tc>
                <a:tc>
                  <a:txBody>
                    <a:bodyPr/>
                    <a:lstStyle/>
                    <a:p>
                      <a:pPr>
                        <a:defRPr sz="1050">
                          <a:solidFill>
                            <a:srgbClr val="1E293B"/>
                          </a:solidFill>
                          <a:latin typeface="Calibri"/>
                        </a:defRPr>
                      </a:pPr>
                      <a:r>
                        <a:t>2</a:t>
                      </a:r>
                    </a:p>
                  </a:txBody>
                  <a:tcPr>
                    <a:solidFill>
                      <a:srgbClr val="F8FAFC"/>
                    </a:solidFill>
                  </a:tcPr>
                </a:tc>
                <a:tc>
                  <a:txBody>
                    <a:bodyPr/>
                    <a:lstStyle/>
                    <a:p>
                      <a:pPr>
                        <a:defRPr sz="1050">
                          <a:solidFill>
                            <a:srgbClr val="1E293B"/>
                          </a:solidFill>
                          <a:latin typeface="Calibri"/>
                        </a:defRPr>
                      </a:pPr>
                      <a:r>
                        <a:t>₹ 0 (Existing Hardware)</a:t>
                      </a:r>
                    </a:p>
                  </a:txBody>
                  <a:tcPr>
                    <a:solidFill>
                      <a:srgbClr val="F8FAFC"/>
                    </a:solidFill>
                  </a:tcPr>
                </a:tc>
              </a:tr>
              <a:tr h="640080">
                <a:tc>
                  <a:txBody>
                    <a:bodyPr/>
                    <a:lstStyle/>
                    <a:p>
                      <a:pPr>
                        <a:defRPr sz="1050">
                          <a:solidFill>
                            <a:srgbClr val="1E293B"/>
                          </a:solidFill>
                          <a:latin typeface="Calibri"/>
                        </a:defRPr>
                      </a:pPr>
                      <a:r>
                        <a:t>5</a:t>
                      </a:r>
                    </a:p>
                  </a:txBody>
                  <a:tcPr>
                    <a:solidFill>
                      <a:srgbClr val="F8FAFC"/>
                    </a:solidFill>
                  </a:tcPr>
                </a:tc>
                <a:tc>
                  <a:txBody>
                    <a:bodyPr/>
                    <a:lstStyle/>
                    <a:p>
                      <a:pPr>
                        <a:defRPr sz="1050">
                          <a:solidFill>
                            <a:srgbClr val="1E293B"/>
                          </a:solidFill>
                          <a:latin typeface="Calibri"/>
                        </a:defRPr>
                      </a:pPr>
                      <a:r>
                        <a:t>SSL Certificate &amp; Domain</a:t>
                      </a:r>
                    </a:p>
                  </a:txBody>
                  <a:tcPr>
                    <a:solidFill>
                      <a:srgbClr val="F8FAFC"/>
                    </a:solidFill>
                  </a:tcPr>
                </a:tc>
                <a:tc>
                  <a:txBody>
                    <a:bodyPr/>
                    <a:lstStyle/>
                    <a:p>
                      <a:pPr>
                        <a:defRPr sz="1050">
                          <a:solidFill>
                            <a:srgbClr val="1E293B"/>
                          </a:solidFill>
                          <a:latin typeface="Calibri"/>
                        </a:defRPr>
                      </a:pPr>
                      <a:r>
                        <a:t>DuckDNS Dynamic DNS + Let's Encrypt SSL</a:t>
                      </a:r>
                    </a:p>
                  </a:txBody>
                  <a:tcPr>
                    <a:solidFill>
                      <a:srgbClr val="F8FAFC"/>
                    </a:solidFill>
                  </a:tcPr>
                </a:tc>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 0 (Free / Open)</a:t>
                      </a:r>
                    </a:p>
                  </a:txBody>
                  <a:tcPr>
                    <a:solidFill>
                      <a:srgbClr val="F8FAFC"/>
                    </a:solidFill>
                  </a:tcPr>
                </a:tc>
              </a:tr>
            </a:tbl>
          </a:graphicData>
        </a:graphic>
      </p:graphicFrame>
      <p:sp>
        <p:nvSpPr>
          <p:cNvPr id="9" name="TextBox 8"/>
          <p:cNvSpPr txBox="1"/>
          <p:nvPr/>
        </p:nvSpPr>
        <p:spPr>
          <a:xfrm>
            <a:off x="914400" y="5394960"/>
            <a:ext cx="10362895" cy="914400"/>
          </a:xfrm>
          <a:prstGeom prst="rect">
            <a:avLst/>
          </a:prstGeom>
          <a:noFill/>
        </p:spPr>
        <p:txBody>
          <a:bodyPr wrap="none">
            <a:spAutoFit/>
          </a:bodyPr>
          <a:lstStyle/>
          <a:p>
            <a:pPr>
              <a:defRPr b="1" sz="1400">
                <a:solidFill>
                  <a:srgbClr val="10B981"/>
                </a:solidFill>
                <a:latin typeface="Calibri"/>
              </a:defRPr>
            </a:pPr>
            <a:r>
              <a:t>TOTAL PROTOTYPE COST: ₹ 2,800 Only (Commercial Traditional Setup: ₹ 1,50,000+)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Work Plan (14 Weeks)</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11</a:t>
            </a:r>
          </a:p>
        </p:txBody>
      </p:sp>
      <p:graphicFrame>
        <p:nvGraphicFramePr>
          <p:cNvPr id="8" name="Table 7"/>
          <p:cNvGraphicFramePr>
            <a:graphicFrameLocks noGrp="1"/>
          </p:cNvGraphicFramePr>
          <p:nvPr/>
        </p:nvGraphicFramePr>
        <p:xfrm>
          <a:off x="914400" y="1371600"/>
          <a:ext cx="10332720" cy="4114800"/>
        </p:xfrm>
        <a:graphic>
          <a:graphicData uri="http://schemas.openxmlformats.org/drawingml/2006/table">
            <a:tbl>
              <a:tblPr firstRow="1" bandRow="1">
                <a:tableStyleId>{5C22544A-7EE6-4342-B048-85BDC9FD1C3A}</a:tableStyleId>
              </a:tblPr>
              <a:tblGrid>
                <a:gridCol w="1645920"/>
                <a:gridCol w="4114800"/>
                <a:gridCol w="2286000"/>
                <a:gridCol w="2286000"/>
              </a:tblGrid>
              <a:tr h="685800">
                <a:tc>
                  <a:txBody>
                    <a:bodyPr/>
                    <a:lstStyle/>
                    <a:p>
                      <a:pPr>
                        <a:defRPr b="1" sz="1100">
                          <a:solidFill>
                            <a:srgbClr val="FFFFFF"/>
                          </a:solidFill>
                          <a:latin typeface="Calibri"/>
                        </a:defRPr>
                      </a:pPr>
                      <a:r>
                        <a:t>Academic Weeks</a:t>
                      </a:r>
                    </a:p>
                  </a:txBody>
                  <a:tcPr>
                    <a:solidFill>
                      <a:srgbClr val="4F46E5"/>
                    </a:solidFill>
                  </a:tcPr>
                </a:tc>
                <a:tc>
                  <a:txBody>
                    <a:bodyPr/>
                    <a:lstStyle/>
                    <a:p>
                      <a:pPr>
                        <a:defRPr b="1" sz="1100">
                          <a:solidFill>
                            <a:srgbClr val="FFFFFF"/>
                          </a:solidFill>
                          <a:latin typeface="Calibri"/>
                        </a:defRPr>
                      </a:pPr>
                      <a:r>
                        <a:t>Key Project Milestones &amp; Deliverables</a:t>
                      </a:r>
                    </a:p>
                  </a:txBody>
                  <a:tcPr>
                    <a:solidFill>
                      <a:srgbClr val="4F46E5"/>
                    </a:solidFill>
                  </a:tcPr>
                </a:tc>
                <a:tc>
                  <a:txBody>
                    <a:bodyPr/>
                    <a:lstStyle/>
                    <a:p>
                      <a:pPr>
                        <a:defRPr b="1" sz="1100">
                          <a:solidFill>
                            <a:srgbClr val="FFFFFF"/>
                          </a:solidFill>
                          <a:latin typeface="Calibri"/>
                        </a:defRPr>
                      </a:pPr>
                      <a:r>
                        <a:t>GTU Seminar Review</a:t>
                      </a:r>
                    </a:p>
                  </a:txBody>
                  <a:tcPr>
                    <a:solidFill>
                      <a:srgbClr val="4F46E5"/>
                    </a:solidFill>
                  </a:tcPr>
                </a:tc>
                <a:tc>
                  <a:txBody>
                    <a:bodyPr/>
                    <a:lstStyle/>
                    <a:p>
                      <a:pPr>
                        <a:defRPr b="1" sz="1100">
                          <a:solidFill>
                            <a:srgbClr val="FFFFFF"/>
                          </a:solidFill>
                          <a:latin typeface="Calibri"/>
                        </a:defRPr>
                      </a:pPr>
                      <a:r>
                        <a:t>Status</a:t>
                      </a:r>
                    </a:p>
                  </a:txBody>
                  <a:tcPr>
                    <a:solidFill>
                      <a:srgbClr val="4F46E5"/>
                    </a:solidFill>
                  </a:tcPr>
                </a:tc>
              </a:tr>
              <a:tr h="685800">
                <a:tc>
                  <a:txBody>
                    <a:bodyPr/>
                    <a:lstStyle/>
                    <a:p>
                      <a:pPr>
                        <a:defRPr sz="1050">
                          <a:solidFill>
                            <a:srgbClr val="1E293B"/>
                          </a:solidFill>
                          <a:latin typeface="Calibri"/>
                        </a:defRPr>
                      </a:pPr>
                      <a:r>
                        <a:t>Weeks 1 - 2</a:t>
                      </a:r>
                    </a:p>
                  </a:txBody>
                  <a:tcPr>
                    <a:solidFill>
                      <a:srgbClr val="F8FAFC"/>
                    </a:solidFill>
                  </a:tcPr>
                </a:tc>
                <a:tc>
                  <a:txBody>
                    <a:bodyPr/>
                    <a:lstStyle/>
                    <a:p>
                      <a:pPr>
                        <a:defRPr sz="1050">
                          <a:solidFill>
                            <a:srgbClr val="1E293B"/>
                          </a:solidFill>
                          <a:latin typeface="Calibri"/>
                        </a:defRPr>
                      </a:pPr>
                      <a:r>
                        <a:t>Topic selection, literature survey, and gap analysis</a:t>
                      </a:r>
                    </a:p>
                  </a:txBody>
                  <a:tcPr>
                    <a:solidFill>
                      <a:srgbClr val="F8FAFC"/>
                    </a:solidFill>
                  </a:tcPr>
                </a:tc>
                <a:tc>
                  <a:txBody>
                    <a:bodyPr/>
                    <a:lstStyle/>
                    <a:p>
                      <a:pPr>
                        <a:defRPr sz="1050">
                          <a:solidFill>
                            <a:srgbClr val="1E293B"/>
                          </a:solidFill>
                          <a:latin typeface="Calibri"/>
                        </a:defRPr>
                      </a:pPr>
                      <a:r>
                        <a:t>Orientation</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r h="685800">
                <a:tc>
                  <a:txBody>
                    <a:bodyPr/>
                    <a:lstStyle/>
                    <a:p>
                      <a:pPr>
                        <a:defRPr sz="1050">
                          <a:solidFill>
                            <a:srgbClr val="1E293B"/>
                          </a:solidFill>
                          <a:latin typeface="Calibri"/>
                        </a:defRPr>
                      </a:pPr>
                      <a:r>
                        <a:t>Weeks 3 - 4</a:t>
                      </a:r>
                    </a:p>
                  </a:txBody>
                  <a:tcPr>
                    <a:solidFill>
                      <a:srgbClr val="F8FAFC"/>
                    </a:solidFill>
                  </a:tcPr>
                </a:tc>
                <a:tc>
                  <a:txBody>
                    <a:bodyPr/>
                    <a:lstStyle/>
                    <a:p>
                      <a:pPr>
                        <a:defRPr sz="1050">
                          <a:solidFill>
                            <a:srgbClr val="1E293B"/>
                          </a:solidFill>
                          <a:latin typeface="Calibri"/>
                        </a:defRPr>
                      </a:pPr>
                      <a:r>
                        <a:t>Problem formulation, SRS, and architecture selection</a:t>
                      </a:r>
                    </a:p>
                  </a:txBody>
                  <a:tcPr>
                    <a:solidFill>
                      <a:srgbClr val="F8FAFC"/>
                    </a:solidFill>
                  </a:tcPr>
                </a:tc>
                <a:tc>
                  <a:txBody>
                    <a:bodyPr/>
                    <a:lstStyle/>
                    <a:p>
                      <a:pPr>
                        <a:defRPr sz="1050">
                          <a:solidFill>
                            <a:srgbClr val="1E293B"/>
                          </a:solidFill>
                          <a:latin typeface="Calibri"/>
                        </a:defRPr>
                      </a:pPr>
                      <a:r>
                        <a:t>Seminar 1</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r h="685800">
                <a:tc>
                  <a:txBody>
                    <a:bodyPr/>
                    <a:lstStyle/>
                    <a:p>
                      <a:pPr>
                        <a:defRPr sz="1050">
                          <a:solidFill>
                            <a:srgbClr val="1E293B"/>
                          </a:solidFill>
                          <a:latin typeface="Calibri"/>
                        </a:defRPr>
                      </a:pPr>
                      <a:r>
                        <a:t>Weeks 5 - 8</a:t>
                      </a:r>
                    </a:p>
                  </a:txBody>
                  <a:tcPr>
                    <a:solidFill>
                      <a:srgbClr val="F8FAFC"/>
                    </a:solidFill>
                  </a:tcPr>
                </a:tc>
                <a:tc>
                  <a:txBody>
                    <a:bodyPr/>
                    <a:lstStyle/>
                    <a:p>
                      <a:pPr>
                        <a:defRPr sz="1050">
                          <a:solidFill>
                            <a:srgbClr val="1E293B"/>
                          </a:solidFill>
                          <a:latin typeface="Calibri"/>
                        </a:defRPr>
                      </a:pPr>
                      <a:r>
                        <a:t>Database design, multi-tenant auth, and POS terminal coding</a:t>
                      </a:r>
                    </a:p>
                  </a:txBody>
                  <a:tcPr>
                    <a:solidFill>
                      <a:srgbClr val="F8FAFC"/>
                    </a:solidFill>
                  </a:tcPr>
                </a:tc>
                <a:tc>
                  <a:txBody>
                    <a:bodyPr/>
                    <a:lstStyle/>
                    <a:p>
                      <a:pPr>
                        <a:defRPr sz="1050">
                          <a:solidFill>
                            <a:srgbClr val="1E293B"/>
                          </a:solidFill>
                          <a:latin typeface="Calibri"/>
                        </a:defRPr>
                      </a:pPr>
                      <a:r>
                        <a:t>Seminar 2</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r h="685800">
                <a:tc>
                  <a:txBody>
                    <a:bodyPr/>
                    <a:lstStyle/>
                    <a:p>
                      <a:pPr>
                        <a:defRPr sz="1050">
                          <a:solidFill>
                            <a:srgbClr val="1E293B"/>
                          </a:solidFill>
                          <a:latin typeface="Calibri"/>
                        </a:defRPr>
                      </a:pPr>
                      <a:r>
                        <a:t>Weeks 9 - 11</a:t>
                      </a:r>
                    </a:p>
                  </a:txBody>
                  <a:tcPr>
                    <a:solidFill>
                      <a:srgbClr val="F8FAFC"/>
                    </a:solidFill>
                  </a:tcPr>
                </a:tc>
                <a:tc>
                  <a:txBody>
                    <a:bodyPr/>
                    <a:lstStyle/>
                    <a:p>
                      <a:pPr>
                        <a:defRPr sz="1050">
                          <a:solidFill>
                            <a:srgbClr val="1E293B"/>
                          </a:solidFill>
                          <a:latin typeface="Calibri"/>
                        </a:defRPr>
                      </a:pPr>
                      <a:r>
                        <a:t>KDS display, ESC/POS printing, and Gujarati voice soundbox</a:t>
                      </a:r>
                    </a:p>
                  </a:txBody>
                  <a:tcPr>
                    <a:solidFill>
                      <a:srgbClr val="F8FAFC"/>
                    </a:solidFill>
                  </a:tcPr>
                </a:tc>
                <a:tc>
                  <a:txBody>
                    <a:bodyPr/>
                    <a:lstStyle/>
                    <a:p>
                      <a:pPr>
                        <a:defRPr sz="1050">
                          <a:solidFill>
                            <a:srgbClr val="1E293B"/>
                          </a:solidFill>
                          <a:latin typeface="Calibri"/>
                        </a:defRPr>
                      </a:pPr>
                      <a:r>
                        <a:t>Seminar 3</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r h="685800">
                <a:tc>
                  <a:txBody>
                    <a:bodyPr/>
                    <a:lstStyle/>
                    <a:p>
                      <a:pPr>
                        <a:defRPr sz="1050">
                          <a:solidFill>
                            <a:srgbClr val="1E293B"/>
                          </a:solidFill>
                          <a:latin typeface="Calibri"/>
                        </a:defRPr>
                      </a:pPr>
                      <a:r>
                        <a:t>Weeks 12 - 14</a:t>
                      </a:r>
                    </a:p>
                  </a:txBody>
                  <a:tcPr>
                    <a:solidFill>
                      <a:srgbClr val="F8FAFC"/>
                    </a:solidFill>
                  </a:tcPr>
                </a:tc>
                <a:tc>
                  <a:txBody>
                    <a:bodyPr/>
                    <a:lstStyle/>
                    <a:p>
                      <a:pPr>
                        <a:defRPr sz="1050">
                          <a:solidFill>
                            <a:srgbClr val="1E293B"/>
                          </a:solidFill>
                          <a:latin typeface="Calibri"/>
                        </a:defRPr>
                      </a:pPr>
                      <a:r>
                        <a:t>Testing, AWS EC2 deployment, documentation &amp; final PPT</a:t>
                      </a:r>
                    </a:p>
                  </a:txBody>
                  <a:tcPr>
                    <a:solidFill>
                      <a:srgbClr val="F8FAFC"/>
                    </a:solidFill>
                  </a:tcPr>
                </a:tc>
                <a:tc>
                  <a:txBody>
                    <a:bodyPr/>
                    <a:lstStyle/>
                    <a:p>
                      <a:pPr>
                        <a:defRPr sz="1050">
                          <a:solidFill>
                            <a:srgbClr val="1E293B"/>
                          </a:solidFill>
                          <a:latin typeface="Calibri"/>
                        </a:defRPr>
                      </a:pPr>
                      <a:r>
                        <a:t>Seminar 4 (Final)</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Prototype / Model Development (Figure 4)</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12</a:t>
            </a:r>
          </a:p>
        </p:txBody>
      </p:sp>
      <p:pic>
        <p:nvPicPr>
          <p:cNvPr id="8" name="Picture 7" descr="retail-store.png"/>
          <p:cNvPicPr>
            <a:picLocks noChangeAspect="1"/>
          </p:cNvPicPr>
          <p:nvPr/>
        </p:nvPicPr>
        <p:blipFill>
          <a:blip r:embed="rId4"/>
          <a:stretch>
            <a:fillRect/>
          </a:stretch>
        </p:blipFill>
        <p:spPr>
          <a:xfrm>
            <a:off x="731520" y="1371600"/>
            <a:ext cx="3383280" cy="2286000"/>
          </a:xfrm>
          <a:prstGeom prst="rect">
            <a:avLst/>
          </a:prstGeom>
        </p:spPr>
      </p:pic>
      <p:sp>
        <p:nvSpPr>
          <p:cNvPr id="9" name="Rounded Rectangle 8"/>
          <p:cNvSpPr/>
          <p:nvPr/>
        </p:nvSpPr>
        <p:spPr>
          <a:xfrm>
            <a:off x="731520" y="3749039"/>
            <a:ext cx="3383280" cy="18288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4F46E5"/>
                </a:solidFill>
                <a:latin typeface="Calibri"/>
              </a:defRPr>
            </a:pPr>
            <a:r>
              <a:t>Figure 4(a): Web POS Terminal</a:t>
            </a:r>
          </a:p>
          <a:p>
            <a:pPr>
              <a:defRPr sz="1050">
                <a:solidFill>
                  <a:srgbClr val="1E293B"/>
                </a:solidFill>
                <a:latin typeface="Calibri"/>
              </a:defRPr>
            </a:pPr>
            <a:r>
              <a:t>• Sub-3s checkout billing engine</a:t>
            </a:r>
            <a:br/>
            <a:r>
              <a:t>• Keyboard navigation (F1-F9)</a:t>
            </a:r>
            <a:br/>
            <a:r>
              <a:t>• Dynamic cart &amp; UPI QR billing</a:t>
            </a:r>
            <a:br/>
            <a:r>
              <a:t>• Zero local installation needed</a:t>
            </a:r>
          </a:p>
        </p:txBody>
      </p:sp>
      <p:pic>
        <p:nvPicPr>
          <p:cNvPr id="10" name="Picture 9" descr="pos_thermal_printer.jpg"/>
          <p:cNvPicPr>
            <a:picLocks noChangeAspect="1"/>
          </p:cNvPicPr>
          <p:nvPr/>
        </p:nvPicPr>
        <p:blipFill>
          <a:blip r:embed="rId5"/>
          <a:stretch>
            <a:fillRect/>
          </a:stretch>
        </p:blipFill>
        <p:spPr>
          <a:xfrm>
            <a:off x="4389120" y="1371600"/>
            <a:ext cx="3383280" cy="2286000"/>
          </a:xfrm>
          <a:prstGeom prst="rect">
            <a:avLst/>
          </a:prstGeom>
        </p:spPr>
      </p:pic>
      <p:sp>
        <p:nvSpPr>
          <p:cNvPr id="11" name="Rounded Rectangle 10"/>
          <p:cNvSpPr/>
          <p:nvPr/>
        </p:nvSpPr>
        <p:spPr>
          <a:xfrm>
            <a:off x="4389120" y="3749039"/>
            <a:ext cx="3383280" cy="18288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4F46E5"/>
                </a:solidFill>
                <a:latin typeface="Calibri"/>
              </a:defRPr>
            </a:pPr>
            <a:r>
              <a:t>Figure 4(b): Assembled Hardware Setup</a:t>
            </a:r>
          </a:p>
          <a:p>
            <a:pPr>
              <a:defRPr sz="1050">
                <a:solidFill>
                  <a:srgbClr val="1E293B"/>
                </a:solidFill>
                <a:latin typeface="Calibri"/>
              </a:defRPr>
            </a:pPr>
            <a:r>
              <a:t>• 58mm/80mm ESC/POS printer</a:t>
            </a:r>
            <a:br/>
            <a:r>
              <a:t>• Silent raw byte-stream driver</a:t>
            </a:r>
            <a:br/>
            <a:r>
              <a:t>• Automatic guillotine cutter</a:t>
            </a:r>
            <a:br/>
            <a:r>
              <a:t>• Hardware cost under ₹2,800</a:t>
            </a:r>
          </a:p>
        </p:txBody>
      </p:sp>
      <p:pic>
        <p:nvPicPr>
          <p:cNvPr id="12" name="Picture 11" descr="about_img_1.png"/>
          <p:cNvPicPr>
            <a:picLocks noChangeAspect="1"/>
          </p:cNvPicPr>
          <p:nvPr/>
        </p:nvPicPr>
        <p:blipFill>
          <a:blip r:embed="rId6"/>
          <a:stretch>
            <a:fillRect/>
          </a:stretch>
        </p:blipFill>
        <p:spPr>
          <a:xfrm>
            <a:off x="8046720" y="1371600"/>
            <a:ext cx="3383280" cy="2286000"/>
          </a:xfrm>
          <a:prstGeom prst="rect">
            <a:avLst/>
          </a:prstGeom>
        </p:spPr>
      </p:pic>
      <p:sp>
        <p:nvSpPr>
          <p:cNvPr id="13" name="Rounded Rectangle 12"/>
          <p:cNvSpPr/>
          <p:nvPr/>
        </p:nvSpPr>
        <p:spPr>
          <a:xfrm>
            <a:off x="8046720" y="3749039"/>
            <a:ext cx="3383280" cy="18288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4F46E5"/>
                </a:solidFill>
                <a:latin typeface="Calibri"/>
              </a:defRPr>
            </a:pPr>
            <a:r>
              <a:t>Figure 4(c): Cloud Management ERP</a:t>
            </a:r>
          </a:p>
          <a:p>
            <a:pPr>
              <a:defRPr sz="1050">
                <a:solidFill>
                  <a:srgbClr val="1E293B"/>
                </a:solidFill>
                <a:latin typeface="Calibri"/>
              </a:defRPr>
            </a:pPr>
            <a:r>
              <a:t>• BCG AI menu engineering matrix</a:t>
            </a:r>
            <a:br/>
            <a:r>
              <a:t>• Raw recipe auto-depletion engine</a:t>
            </a:r>
            <a:br/>
            <a:r>
              <a:t>• Sub-180ms live kitchen KDS</a:t>
            </a:r>
            <a:br/>
            <a:r>
              <a:t>• Gujarati audio alert soundbox</a:t>
            </a:r>
          </a:p>
        </p:txBody>
      </p:sp>
      <p:sp>
        <p:nvSpPr>
          <p:cNvPr id="14" name="Rounded Rectangle 13"/>
          <p:cNvSpPr/>
          <p:nvPr/>
        </p:nvSpPr>
        <p:spPr>
          <a:xfrm>
            <a:off x="731520" y="5715000"/>
            <a:ext cx="10698480" cy="594360"/>
          </a:xfrm>
          <a:prstGeom prst="roundRect">
            <a:avLst/>
          </a:prstGeom>
          <a:solidFill>
            <a:srgbClr val="F8FAFC"/>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50">
                <a:solidFill>
                  <a:srgbClr val="0F172A"/>
                </a:solidFill>
                <a:latin typeface="Calibri"/>
              </a:defRPr>
            </a:pPr>
            <a:r>
              <a:t>Figure 4: Assembled prototype / model of DineFlow AI | Live Production Cloud: https://dineflowai.duckdns.org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Testing, Results and Modifications</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13</a:t>
            </a:r>
          </a:p>
        </p:txBody>
      </p:sp>
      <p:sp>
        <p:nvSpPr>
          <p:cNvPr id="8" name="Rounded Rectangle 7"/>
          <p:cNvSpPr/>
          <p:nvPr/>
        </p:nvSpPr>
        <p:spPr>
          <a:xfrm>
            <a:off x="914400" y="1463040"/>
            <a:ext cx="2377440" cy="201168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2800">
                <a:solidFill>
                  <a:srgbClr val="10B981"/>
                </a:solidFill>
                <a:latin typeface="Calibri"/>
              </a:defRPr>
            </a:pPr>
            <a:r>
              <a:t>24 / 24</a:t>
            </a:r>
          </a:p>
          <a:p>
            <a:pPr algn="ctr">
              <a:defRPr b="1" sz="1100">
                <a:solidFill>
                  <a:srgbClr val="0F172A"/>
                </a:solidFill>
                <a:latin typeface="Calibri"/>
              </a:defRPr>
            </a:pPr>
            <a:r>
              <a:t>Automated Tests Passed</a:t>
            </a:r>
          </a:p>
          <a:p>
            <a:pPr algn="ctr">
              <a:defRPr sz="1000">
                <a:solidFill>
                  <a:srgbClr val="64748B"/>
                </a:solidFill>
                <a:latin typeface="Calibri"/>
              </a:defRPr>
            </a:pPr>
            <a:r>
              <a:t>100% Pass Rate</a:t>
            </a:r>
          </a:p>
        </p:txBody>
      </p:sp>
      <p:sp>
        <p:nvSpPr>
          <p:cNvPr id="9" name="Rounded Rectangle 8"/>
          <p:cNvSpPr/>
          <p:nvPr/>
        </p:nvSpPr>
        <p:spPr>
          <a:xfrm>
            <a:off x="3566160" y="1463040"/>
            <a:ext cx="2377440" cy="201168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2800">
                <a:solidFill>
                  <a:srgbClr val="10B981"/>
                </a:solidFill>
                <a:latin typeface="Calibri"/>
              </a:defRPr>
            </a:pPr>
            <a:r>
              <a:t>&lt; 2.1s</a:t>
            </a:r>
          </a:p>
          <a:p>
            <a:pPr algn="ctr">
              <a:defRPr b="1" sz="1100">
                <a:solidFill>
                  <a:srgbClr val="0F172A"/>
                </a:solidFill>
                <a:latin typeface="Calibri"/>
              </a:defRPr>
            </a:pPr>
            <a:r>
              <a:t>Average Billing Speed</a:t>
            </a:r>
          </a:p>
          <a:p>
            <a:pPr algn="ctr">
              <a:defRPr sz="1000">
                <a:solidFill>
                  <a:srgbClr val="64748B"/>
                </a:solidFill>
                <a:latin typeface="Calibri"/>
              </a:defRPr>
            </a:pPr>
            <a:r>
              <a:t>Target: &lt; 3.0s</a:t>
            </a:r>
          </a:p>
        </p:txBody>
      </p:sp>
      <p:sp>
        <p:nvSpPr>
          <p:cNvPr id="10" name="Rounded Rectangle 9"/>
          <p:cNvSpPr/>
          <p:nvPr/>
        </p:nvSpPr>
        <p:spPr>
          <a:xfrm>
            <a:off x="6217920" y="1463040"/>
            <a:ext cx="2377440" cy="201168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2800">
                <a:solidFill>
                  <a:srgbClr val="10B981"/>
                </a:solidFill>
                <a:latin typeface="Calibri"/>
              </a:defRPr>
            </a:pPr>
            <a:r>
              <a:t>&lt; 180ms</a:t>
            </a:r>
          </a:p>
          <a:p>
            <a:pPr algn="ctr">
              <a:defRPr b="1" sz="1100">
                <a:solidFill>
                  <a:srgbClr val="0F172A"/>
                </a:solidFill>
                <a:latin typeface="Calibri"/>
              </a:defRPr>
            </a:pPr>
            <a:r>
              <a:t>KDS Dispatch Latency</a:t>
            </a:r>
          </a:p>
          <a:p>
            <a:pPr algn="ctr">
              <a:defRPr sz="1000">
                <a:solidFill>
                  <a:srgbClr val="64748B"/>
                </a:solidFill>
                <a:latin typeface="Calibri"/>
              </a:defRPr>
            </a:pPr>
            <a:r>
              <a:t>Target: &lt; 500ms</a:t>
            </a:r>
          </a:p>
        </p:txBody>
      </p:sp>
      <p:sp>
        <p:nvSpPr>
          <p:cNvPr id="11" name="Rounded Rectangle 10"/>
          <p:cNvSpPr/>
          <p:nvPr/>
        </p:nvSpPr>
        <p:spPr>
          <a:xfrm>
            <a:off x="8869680" y="1463040"/>
            <a:ext cx="2377440" cy="201168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2800">
                <a:solidFill>
                  <a:srgbClr val="10B981"/>
                </a:solidFill>
                <a:latin typeface="Calibri"/>
              </a:defRPr>
            </a:pPr>
            <a:r>
              <a:t>100%</a:t>
            </a:r>
          </a:p>
          <a:p>
            <a:pPr algn="ctr">
              <a:defRPr b="1" sz="1100">
                <a:solidFill>
                  <a:srgbClr val="0F172A"/>
                </a:solidFill>
                <a:latin typeface="Calibri"/>
              </a:defRPr>
            </a:pPr>
            <a:r>
              <a:t>Multi-Tenant Isolation</a:t>
            </a:r>
          </a:p>
          <a:p>
            <a:pPr algn="ctr">
              <a:defRPr sz="1000">
                <a:solidFill>
                  <a:srgbClr val="64748B"/>
                </a:solidFill>
                <a:latin typeface="Calibri"/>
              </a:defRPr>
            </a:pPr>
            <a:r>
              <a:t>Zero IDOR Leaks</a:t>
            </a:r>
          </a:p>
        </p:txBody>
      </p:sp>
      <p:sp>
        <p:nvSpPr>
          <p:cNvPr id="12" name="TextBox 11"/>
          <p:cNvSpPr txBox="1"/>
          <p:nvPr/>
        </p:nvSpPr>
        <p:spPr>
          <a:xfrm>
            <a:off x="914400" y="3749039"/>
            <a:ext cx="10362895" cy="2560320"/>
          </a:xfrm>
          <a:prstGeom prst="rect">
            <a:avLst/>
          </a:prstGeom>
          <a:noFill/>
        </p:spPr>
        <p:txBody>
          <a:bodyPr wrap="square">
            <a:spAutoFit/>
          </a:bodyPr>
          <a:lstStyle/>
          <a:p>
            <a:pPr>
              <a:defRPr b="1" sz="1250">
                <a:solidFill>
                  <a:srgbClr val="4F46E5"/>
                </a:solidFill>
                <a:latin typeface="Calibri"/>
              </a:defRPr>
            </a:pPr>
            <a:r>
              <a:t>VERIFIED TEST SUITES (Executed via Automated PHPUnit &amp; Live Stress Testing):</a:t>
            </a:r>
          </a:p>
          <a:p>
            <a:r>
              <a:rPr b="1" sz="1150">
                <a:solidFill>
                  <a:srgbClr val="0F172A"/>
                </a:solidFill>
                <a:latin typeface="Calibri"/>
              </a:rPr>
              <a:t>• 1. POS Billing &amp; Discount Math: </a:t>
            </a:r>
            <a:r>
              <a:rPr b="0" sz="1150">
                <a:solidFill>
                  <a:srgbClr val="1E293B"/>
                </a:solidFill>
                <a:latin typeface="Calibri"/>
              </a:rPr>
              <a:t>Verified GST 5%/18% calculations, coupon code deductions, and roundoff logic across 100 test bills.</a:t>
            </a:r>
          </a:p>
          <a:p>
            <a:r>
              <a:rPr b="1" sz="1150">
                <a:solidFill>
                  <a:srgbClr val="0F172A"/>
                </a:solidFill>
                <a:latin typeface="Calibri"/>
              </a:rPr>
              <a:t>• 2. KDS Real-Time Synchronization: </a:t>
            </a:r>
            <a:r>
              <a:rPr b="0" sz="1150">
                <a:solidFill>
                  <a:srgbClr val="1E293B"/>
                </a:solidFill>
                <a:latin typeface="Calibri"/>
              </a:rPr>
              <a:t>Tested simultaneous KOT dispatch from 10 client devices to kitchen screen without dropped packets.</a:t>
            </a:r>
          </a:p>
          <a:p>
            <a:r>
              <a:rPr b="1" sz="1150">
                <a:solidFill>
                  <a:srgbClr val="0F172A"/>
                </a:solidFill>
                <a:latin typeface="Calibri"/>
              </a:rPr>
              <a:t>• 3. Recipe Inventory Auto-Depletion: </a:t>
            </a:r>
            <a:r>
              <a:rPr b="0" sz="1150">
                <a:solidFill>
                  <a:srgbClr val="1E293B"/>
                </a:solidFill>
                <a:latin typeface="Calibri"/>
              </a:rPr>
              <a:t>Verified accurate reduction of stock inventory (grams/ml) upon order confirmation.</a:t>
            </a:r>
          </a:p>
          <a:p>
            <a:r>
              <a:rPr b="1" sz="1150">
                <a:solidFill>
                  <a:srgbClr val="0F172A"/>
                </a:solidFill>
                <a:latin typeface="Calibri"/>
              </a:rPr>
              <a:t>• 4. Security &amp; RBAC Integrity: </a:t>
            </a:r>
            <a:r>
              <a:rPr b="0" sz="1150">
                <a:solidFill>
                  <a:srgbClr val="1E293B"/>
                </a:solidFill>
                <a:latin typeface="Calibri"/>
              </a:rPr>
              <a:t>Audited cross-tenant URL manipulation (IDOR) — unauthorized requests rejected with HTTP 403 Forbidden.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Modifications After Testing</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14</a:t>
            </a:r>
          </a:p>
        </p:txBody>
      </p:sp>
      <p:graphicFrame>
        <p:nvGraphicFramePr>
          <p:cNvPr id="8" name="Table 7"/>
          <p:cNvGraphicFramePr>
            <a:graphicFrameLocks noGrp="1"/>
          </p:cNvGraphicFramePr>
          <p:nvPr/>
        </p:nvGraphicFramePr>
        <p:xfrm>
          <a:off x="914400" y="1463040"/>
          <a:ext cx="10332720" cy="4389120"/>
        </p:xfrm>
        <a:graphic>
          <a:graphicData uri="http://schemas.openxmlformats.org/drawingml/2006/table">
            <a:tbl>
              <a:tblPr firstRow="1" bandRow="1">
                <a:tableStyleId>{5C22544A-7EE6-4342-B048-85BDC9FD1C3A}</a:tableStyleId>
              </a:tblPr>
              <a:tblGrid>
                <a:gridCol w="914400"/>
                <a:gridCol w="3017520"/>
                <a:gridCol w="3474720"/>
                <a:gridCol w="2926080"/>
              </a:tblGrid>
              <a:tr h="1097280">
                <a:tc>
                  <a:txBody>
                    <a:bodyPr/>
                    <a:lstStyle/>
                    <a:p>
                      <a:pPr>
                        <a:defRPr b="1" sz="1100">
                          <a:solidFill>
                            <a:srgbClr val="FFFFFF"/>
                          </a:solidFill>
                          <a:latin typeface="Calibri"/>
                        </a:defRPr>
                      </a:pPr>
                      <a:r>
                        <a:t>Issue</a:t>
                      </a:r>
                    </a:p>
                  </a:txBody>
                  <a:tcPr>
                    <a:solidFill>
                      <a:srgbClr val="4F46E5"/>
                    </a:solidFill>
                  </a:tcPr>
                </a:tc>
                <a:tc>
                  <a:txBody>
                    <a:bodyPr/>
                    <a:lstStyle/>
                    <a:p>
                      <a:pPr>
                        <a:defRPr b="1" sz="1100">
                          <a:solidFill>
                            <a:srgbClr val="FFFFFF"/>
                          </a:solidFill>
                          <a:latin typeface="Calibri"/>
                        </a:defRPr>
                      </a:pPr>
                      <a:r>
                        <a:t>Problem Identified in Testing</a:t>
                      </a:r>
                    </a:p>
                  </a:txBody>
                  <a:tcPr>
                    <a:solidFill>
                      <a:srgbClr val="4F46E5"/>
                    </a:solidFill>
                  </a:tcPr>
                </a:tc>
                <a:tc>
                  <a:txBody>
                    <a:bodyPr/>
                    <a:lstStyle/>
                    <a:p>
                      <a:pPr>
                        <a:defRPr b="1" sz="1100">
                          <a:solidFill>
                            <a:srgbClr val="FFFFFF"/>
                          </a:solidFill>
                          <a:latin typeface="Calibri"/>
                        </a:defRPr>
                      </a:pPr>
                      <a:r>
                        <a:t>Modification Implemented</a:t>
                      </a:r>
                    </a:p>
                  </a:txBody>
                  <a:tcPr>
                    <a:solidFill>
                      <a:srgbClr val="4F46E5"/>
                    </a:solidFill>
                  </a:tcPr>
                </a:tc>
                <a:tc>
                  <a:txBody>
                    <a:bodyPr/>
                    <a:lstStyle/>
                    <a:p>
                      <a:pPr>
                        <a:defRPr b="1" sz="1100">
                          <a:solidFill>
                            <a:srgbClr val="FFFFFF"/>
                          </a:solidFill>
                          <a:latin typeface="Calibri"/>
                        </a:defRPr>
                      </a:pPr>
                      <a:r>
                        <a:t>Observed Result After Fix</a:t>
                      </a:r>
                    </a:p>
                  </a:txBody>
                  <a:tcPr>
                    <a:solidFill>
                      <a:srgbClr val="4F46E5"/>
                    </a:solidFill>
                  </a:tcPr>
                </a:tc>
              </a:tr>
              <a:tr h="1097280">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Browser Print Dialogue Delay: Standard window.print() took 5-8 seconds and froze cashier screen.</a:t>
                      </a:r>
                    </a:p>
                  </a:txBody>
                  <a:tcPr>
                    <a:solidFill>
                      <a:srgbClr val="F8FAFC"/>
                    </a:solidFill>
                  </a:tcPr>
                </a:tc>
                <a:tc>
                  <a:txBody>
                    <a:bodyPr/>
                    <a:lstStyle/>
                    <a:p>
                      <a:pPr>
                        <a:defRPr sz="1050">
                          <a:solidFill>
                            <a:srgbClr val="1E293B"/>
                          </a:solidFill>
                          <a:latin typeface="Calibri"/>
                        </a:defRPr>
                      </a:pPr>
                      <a:r>
                        <a:t>Integrated raw ESC/POS byte-stream protocol over WebSocket/Web-Serial.</a:t>
                      </a:r>
                    </a:p>
                  </a:txBody>
                  <a:tcPr>
                    <a:solidFill>
                      <a:srgbClr val="F8FAFC"/>
                    </a:solidFill>
                  </a:tcPr>
                </a:tc>
                <a:tc>
                  <a:txBody>
                    <a:bodyPr/>
                    <a:lstStyle/>
                    <a:p>
                      <a:pPr>
                        <a:defRPr sz="1050">
                          <a:solidFill>
                            <a:srgbClr val="1E293B"/>
                          </a:solidFill>
                          <a:latin typeface="Calibri"/>
                        </a:defRPr>
                      </a:pPr>
                      <a:r>
                        <a:t>Zero-click instant thermal printing with automatic cutter in 1.2s.</a:t>
                      </a:r>
                    </a:p>
                  </a:txBody>
                  <a:tcPr>
                    <a:solidFill>
                      <a:srgbClr val="F8FAFC"/>
                    </a:solidFill>
                  </a:tcPr>
                </a:tc>
              </a:tr>
              <a:tr h="1097280">
                <a:tc>
                  <a:txBody>
                    <a:bodyPr/>
                    <a:lstStyle/>
                    <a:p>
                      <a:pPr>
                        <a:defRPr sz="1050">
                          <a:solidFill>
                            <a:srgbClr val="1E293B"/>
                          </a:solidFill>
                          <a:latin typeface="Calibri"/>
                        </a:defRPr>
                      </a:pPr>
                      <a:r>
                        <a:t>2</a:t>
                      </a:r>
                    </a:p>
                  </a:txBody>
                  <a:tcPr>
                    <a:solidFill>
                      <a:srgbClr val="F8FAFC"/>
                    </a:solidFill>
                  </a:tcPr>
                </a:tc>
                <a:tc>
                  <a:txBody>
                    <a:bodyPr/>
                    <a:lstStyle/>
                    <a:p>
                      <a:pPr>
                        <a:defRPr sz="1050">
                          <a:solidFill>
                            <a:srgbClr val="1E293B"/>
                          </a:solidFill>
                          <a:latin typeface="Calibri"/>
                        </a:defRPr>
                      </a:pPr>
                      <a:r>
                        <a:t>Missed KOTs in Loud Kitchens: Chefs missed visual screen updates during busy dinner rush.</a:t>
                      </a:r>
                    </a:p>
                  </a:txBody>
                  <a:tcPr>
                    <a:solidFill>
                      <a:srgbClr val="F8FAFC"/>
                    </a:solidFill>
                  </a:tcPr>
                </a:tc>
                <a:tc>
                  <a:txBody>
                    <a:bodyPr/>
                    <a:lstStyle/>
                    <a:p>
                      <a:pPr>
                        <a:defRPr sz="1050">
                          <a:solidFill>
                            <a:srgbClr val="1E293B"/>
                          </a:solidFill>
                          <a:latin typeface="Calibri"/>
                        </a:defRPr>
                      </a:pPr>
                      <a:r>
                        <a:t>Engineered HTML5 Web Audio Speech synthesis in Gujarati ('નવો ઓર્ડર: ટેબલ ૪').</a:t>
                      </a:r>
                    </a:p>
                  </a:txBody>
                  <a:tcPr>
                    <a:solidFill>
                      <a:srgbClr val="F8FAFC"/>
                    </a:solidFill>
                  </a:tcPr>
                </a:tc>
                <a:tc>
                  <a:txBody>
                    <a:bodyPr/>
                    <a:lstStyle/>
                    <a:p>
                      <a:pPr>
                        <a:defRPr sz="1050">
                          <a:solidFill>
                            <a:srgbClr val="1E293B"/>
                          </a:solidFill>
                          <a:latin typeface="Calibri"/>
                        </a:defRPr>
                      </a:pPr>
                      <a:r>
                        <a:t>100% KOT awareness achieved; zero missed orders during kitchen rush.</a:t>
                      </a:r>
                    </a:p>
                  </a:txBody>
                  <a:tcPr>
                    <a:solidFill>
                      <a:srgbClr val="F8FAFC"/>
                    </a:solidFill>
                  </a:tcPr>
                </a:tc>
              </a:tr>
              <a:tr h="1097280">
                <a:tc>
                  <a:txBody>
                    <a:bodyPr/>
                    <a:lstStyle/>
                    <a:p>
                      <a:pPr>
                        <a:defRPr sz="1050">
                          <a:solidFill>
                            <a:srgbClr val="1E293B"/>
                          </a:solidFill>
                          <a:latin typeface="Calibri"/>
                        </a:defRPr>
                      </a:pPr>
                      <a:r>
                        <a:t>3</a:t>
                      </a:r>
                    </a:p>
                  </a:txBody>
                  <a:tcPr>
                    <a:solidFill>
                      <a:srgbClr val="F8FAFC"/>
                    </a:solidFill>
                  </a:tcPr>
                </a:tc>
                <a:tc>
                  <a:txBody>
                    <a:bodyPr/>
                    <a:lstStyle/>
                    <a:p>
                      <a:pPr>
                        <a:defRPr sz="1050">
                          <a:solidFill>
                            <a:srgbClr val="1E293B"/>
                          </a:solidFill>
                          <a:latin typeface="Calibri"/>
                        </a:defRPr>
                      </a:pPr>
                      <a:r>
                        <a:t>Sandbox Session Layout Distortion: Demo notification banner squished sidebar in flex layout.</a:t>
                      </a:r>
                    </a:p>
                  </a:txBody>
                  <a:tcPr>
                    <a:solidFill>
                      <a:srgbClr val="F8FAFC"/>
                    </a:solidFill>
                  </a:tcPr>
                </a:tc>
                <a:tc>
                  <a:txBody>
                    <a:bodyPr/>
                    <a:lstStyle/>
                    <a:p>
                      <a:pPr>
                        <a:defRPr sz="1050">
                          <a:solidFill>
                            <a:srgbClr val="1E293B"/>
                          </a:solidFill>
                          <a:latin typeface="Calibri"/>
                        </a:defRPr>
                      </a:pPr>
                      <a:r>
                        <a:t>Refactored banner to fixed top overlay with 34px container pushdown.</a:t>
                      </a:r>
                    </a:p>
                  </a:txBody>
                  <a:tcPr>
                    <a:solidFill>
                      <a:srgbClr val="F8FAFC"/>
                    </a:solidFill>
                  </a:tcPr>
                </a:tc>
                <a:tc>
                  <a:txBody>
                    <a:bodyPr/>
                    <a:lstStyle/>
                    <a:p>
                      <a:pPr>
                        <a:defRPr sz="1050">
                          <a:solidFill>
                            <a:srgbClr val="1E293B"/>
                          </a:solidFill>
                          <a:latin typeface="Calibri"/>
                        </a:defRPr>
                      </a:pPr>
                      <a:r>
                        <a:t>Clean responsive layout maintained across all desktop &amp; tablet resolutions.</a:t>
                      </a:r>
                    </a:p>
                  </a:txBody>
                  <a:tcPr>
                    <a:solidFill>
                      <a:srgbClr val="F8FA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Conclusion, Future Scope and Entrepreneurship</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15</a:t>
            </a:r>
          </a:p>
        </p:txBody>
      </p:sp>
      <p:sp>
        <p:nvSpPr>
          <p:cNvPr id="8" name="Rounded Rectangle 7"/>
          <p:cNvSpPr/>
          <p:nvPr/>
        </p:nvSpPr>
        <p:spPr>
          <a:xfrm>
            <a:off x="914400" y="1463040"/>
            <a:ext cx="493776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F172A"/>
                </a:solidFill>
                <a:latin typeface="Calibri"/>
              </a:defRPr>
            </a:pPr>
            <a:r>
              <a:t>PROJECT CONCLUSION</a:t>
            </a:r>
          </a:p>
          <a:p>
            <a:r>
              <a:rPr b="1" sz="1150">
                <a:solidFill>
                  <a:srgbClr val="10B981"/>
                </a:solidFill>
                <a:latin typeface="Calibri"/>
              </a:rPr>
              <a:t>✔ Objective 1 Achieved: </a:t>
            </a:r>
            <a:r>
              <a:rPr b="0" sz="1150">
                <a:solidFill>
                  <a:srgbClr val="1E293B"/>
                </a:solidFill>
                <a:latin typeface="Calibri"/>
              </a:rPr>
              <a:t>Engineered an ultra-fast Web POS terminal operating in sub-3 seconds with raw ESC/POS thermal printing.</a:t>
            </a:r>
          </a:p>
          <a:p>
            <a:r>
              <a:rPr b="1" sz="1150">
                <a:solidFill>
                  <a:srgbClr val="10B981"/>
                </a:solidFill>
                <a:latin typeface="Calibri"/>
              </a:rPr>
              <a:t>✔ Objective 2 Achieved: </a:t>
            </a:r>
            <a:r>
              <a:rPr b="0" sz="1150">
                <a:solidFill>
                  <a:srgbClr val="1E293B"/>
                </a:solidFill>
                <a:latin typeface="Calibri"/>
              </a:rPr>
              <a:t>Built seamless contactless QR table ordering and digital KDS eliminating physical menus and paper KOTs.</a:t>
            </a:r>
          </a:p>
          <a:p>
            <a:r>
              <a:rPr b="1" sz="1150">
                <a:solidFill>
                  <a:srgbClr val="10B981"/>
                </a:solidFill>
                <a:latin typeface="Calibri"/>
              </a:rPr>
              <a:t>✔ Objective 3 Achieved: </a:t>
            </a:r>
            <a:r>
              <a:rPr b="0" sz="1150">
                <a:solidFill>
                  <a:srgbClr val="1E293B"/>
                </a:solidFill>
                <a:latin typeface="Calibri"/>
              </a:rPr>
              <a:t>Integrated automated recipe costing inventory depletion and real-time Gujarati voice alerts.</a:t>
            </a:r>
          </a:p>
          <a:p>
            <a:r>
              <a:rPr b="1" sz="1150">
                <a:solidFill>
                  <a:srgbClr val="10B981"/>
                </a:solidFill>
                <a:latin typeface="Calibri"/>
              </a:rPr>
              <a:t>✔ Production Deployed: </a:t>
            </a:r>
            <a:r>
              <a:rPr b="0" sz="1150">
                <a:solidFill>
                  <a:srgbClr val="1E293B"/>
                </a:solidFill>
                <a:latin typeface="Calibri"/>
              </a:rPr>
              <a:t>Live cloud deployment operating on AWS EC2 server at https://dineflowai.duckdns.org.</a:t>
            </a:r>
          </a:p>
        </p:txBody>
      </p:sp>
      <p:sp>
        <p:nvSpPr>
          <p:cNvPr id="9" name="Rounded Rectangle 8"/>
          <p:cNvSpPr/>
          <p:nvPr/>
        </p:nvSpPr>
        <p:spPr>
          <a:xfrm>
            <a:off x="6309360" y="1463040"/>
            <a:ext cx="493776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4F46E5"/>
                </a:solidFill>
                <a:latin typeface="Calibri"/>
              </a:defRPr>
            </a:pPr>
            <a:r>
              <a:t>FUTURE EXPANSION ROADMAP</a:t>
            </a:r>
          </a:p>
          <a:p>
            <a:r>
              <a:rPr b="1" sz="1150">
                <a:solidFill>
                  <a:srgbClr val="4F46E5"/>
                </a:solidFill>
                <a:latin typeface="Calibri"/>
              </a:rPr>
              <a:t>🚀 AI Predictive Inventory Forecasting: </a:t>
            </a:r>
            <a:r>
              <a:rPr b="0" sz="1150">
                <a:solidFill>
                  <a:srgbClr val="1E293B"/>
                </a:solidFill>
                <a:latin typeface="Calibri"/>
              </a:rPr>
              <a:t>Use machine learning (ARIMA/LSTM) to predict ingredient requirements based on weather and festival rush.</a:t>
            </a:r>
          </a:p>
          <a:p>
            <a:r>
              <a:rPr b="1" sz="1150">
                <a:solidFill>
                  <a:srgbClr val="4F46E5"/>
                </a:solidFill>
                <a:latin typeface="Calibri"/>
              </a:rPr>
              <a:t>🚀 Direct Food Aggregator Integration: </a:t>
            </a:r>
            <a:r>
              <a:rPr b="0" sz="1150">
                <a:solidFill>
                  <a:srgbClr val="1E293B"/>
                </a:solidFill>
                <a:latin typeface="Calibri"/>
              </a:rPr>
              <a:t>Direct 2-way API order ingestion from Zomato and Swiggy into one single unified KDS screen.</a:t>
            </a:r>
          </a:p>
          <a:p>
            <a:r>
              <a:rPr b="1" sz="1150">
                <a:solidFill>
                  <a:srgbClr val="4F46E5"/>
                </a:solidFill>
                <a:latin typeface="Calibri"/>
              </a:rPr>
              <a:t>🚀 IoT Kitchen Tare Weight Scale: </a:t>
            </a:r>
            <a:r>
              <a:rPr b="0" sz="1150">
                <a:solidFill>
                  <a:srgbClr val="1E293B"/>
                </a:solidFill>
                <a:latin typeface="Calibri"/>
              </a:rPr>
              <a:t>Connect Bluetooth weight scales under oil/flour bins for automated real-time gram depletion without manual entry.</a:t>
            </a:r>
          </a:p>
          <a:p>
            <a:r>
              <a:rPr b="1" sz="1150">
                <a:solidFill>
                  <a:srgbClr val="4F46E5"/>
                </a:solidFill>
                <a:latin typeface="Calibri"/>
              </a:rPr>
              <a:t>🚀 WhatsApp Conversational Bot: </a:t>
            </a:r>
            <a:r>
              <a:rPr b="0" sz="1150">
                <a:solidFill>
                  <a:srgbClr val="1E293B"/>
                </a:solidFill>
                <a:latin typeface="Calibri"/>
              </a:rPr>
              <a:t>Allow customers to place takeaway orders and pay directly inside WhatsApp.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Commercial Startup and Business Model</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16</a:t>
            </a:r>
          </a:p>
        </p:txBody>
      </p:sp>
      <p:sp>
        <p:nvSpPr>
          <p:cNvPr id="8" name="Rounded Rectangle 7"/>
          <p:cNvSpPr/>
          <p:nvPr/>
        </p:nvSpPr>
        <p:spPr>
          <a:xfrm>
            <a:off x="914400" y="155448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1. Startup Venture Potential</a:t>
            </a:r>
          </a:p>
          <a:p>
            <a:pPr>
              <a:defRPr b="1" sz="1200">
                <a:solidFill>
                  <a:srgbClr val="4F46E5"/>
                </a:solidFill>
                <a:latin typeface="Calibri"/>
              </a:defRPr>
            </a:pPr>
            <a:r>
              <a:t>DineFlow AI Pvt. Ltd.</a:t>
            </a:r>
          </a:p>
          <a:p>
            <a:pPr>
              <a:defRPr sz="1150">
                <a:solidFill>
                  <a:srgbClr val="1E293B"/>
                </a:solidFill>
                <a:latin typeface="Calibri"/>
              </a:defRPr>
            </a:pPr>
            <a:r>
              <a:t>• Target Market: 30M+ restaurants, cafes, cloud kitchens, and bakeries in India.</a:t>
            </a:r>
            <a:br/>
            <a:r>
              <a:t>• Value Proposition: 70% cheaper than legacy POS (Petpooja/Toast), runs on any mobile/PC, zero hardware lock-in.</a:t>
            </a:r>
            <a:br/>
            <a:r>
              <a:t>• Live Traction: Production platform operational at dineflowai.duckdns.org.</a:t>
            </a:r>
            <a:br/>
            <a:r>
              <a:t>• High Scalability: Multi-tenant database supports thousands of restaurants simultaneously.</a:t>
            </a:r>
          </a:p>
        </p:txBody>
      </p:sp>
      <p:sp>
        <p:nvSpPr>
          <p:cNvPr id="9" name="Rounded Rectangle 8"/>
          <p:cNvSpPr/>
          <p:nvPr/>
        </p:nvSpPr>
        <p:spPr>
          <a:xfrm>
            <a:off x="4389120" y="155448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2. Revenue &amp; Pricing Model</a:t>
            </a:r>
          </a:p>
          <a:p>
            <a:pPr>
              <a:defRPr b="1" sz="1200">
                <a:solidFill>
                  <a:srgbClr val="4F46E5"/>
                </a:solidFill>
                <a:latin typeface="Calibri"/>
              </a:defRPr>
            </a:pPr>
            <a:r>
              <a:t>Self-Sustaining SaaS</a:t>
            </a:r>
          </a:p>
          <a:p>
            <a:pPr>
              <a:defRPr sz="1150">
                <a:solidFill>
                  <a:srgbClr val="1E293B"/>
                </a:solidFill>
                <a:latin typeface="Calibri"/>
              </a:defRPr>
            </a:pPr>
            <a:r>
              <a:t>• Starter Plan: ₹ 499 / month (Single counter QSR &amp; cafes).</a:t>
            </a:r>
            <a:br/>
            <a:r>
              <a:t>• Pro Restaurant: ₹ 1,499 / month (Full KDS, inventory &amp; multi-table).</a:t>
            </a:r>
            <a:br/>
            <a:r>
              <a:t>• Source Code Buyout: One-time commercial developer license.</a:t>
            </a:r>
            <a:br/>
            <a:r>
              <a:t>• 100% Bootstrapped: Zero debt or external grant dependency; profitable from Day 1.</a:t>
            </a:r>
          </a:p>
        </p:txBody>
      </p:sp>
      <p:sp>
        <p:nvSpPr>
          <p:cNvPr id="10" name="Rounded Rectangle 9"/>
          <p:cNvSpPr/>
          <p:nvPr/>
        </p:nvSpPr>
        <p:spPr>
          <a:xfrm>
            <a:off x="7863840" y="155448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3. Intellectual Property (IP)</a:t>
            </a:r>
          </a:p>
          <a:p>
            <a:pPr>
              <a:defRPr b="1" sz="1200">
                <a:solidFill>
                  <a:srgbClr val="4F46E5"/>
                </a:solidFill>
                <a:latin typeface="Calibri"/>
              </a:defRPr>
            </a:pPr>
            <a:r>
              <a:t>Copyright &amp; Novelty</a:t>
            </a:r>
          </a:p>
          <a:p>
            <a:pPr>
              <a:defRPr sz="1150">
                <a:solidFill>
                  <a:srgbClr val="1E293B"/>
                </a:solidFill>
                <a:latin typeface="Calibri"/>
              </a:defRPr>
            </a:pPr>
            <a:r>
              <a:t>• Copyright Protection: Proprietary source code architecture for multi-tenant hybrid offline-cloud restaurant sync.</a:t>
            </a:r>
            <a:br/>
            <a:r>
              <a:t>• Trade Secret: Dynamic BCG AI Menu Engineering Matrix &amp; Recipe Depletion Algorithm.</a:t>
            </a:r>
            <a:br/>
            <a:r>
              <a:t>• 100% Owned by Patel Shubh Maheshkumar &amp; Team.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References and Thank You</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17</a:t>
            </a:r>
          </a:p>
        </p:txBody>
      </p:sp>
      <p:sp>
        <p:nvSpPr>
          <p:cNvPr id="8" name="TextBox 7"/>
          <p:cNvSpPr txBox="1"/>
          <p:nvPr/>
        </p:nvSpPr>
        <p:spPr>
          <a:xfrm>
            <a:off x="914400" y="1463040"/>
            <a:ext cx="5486400" cy="4754880"/>
          </a:xfrm>
          <a:prstGeom prst="rect">
            <a:avLst/>
          </a:prstGeom>
          <a:noFill/>
        </p:spPr>
        <p:txBody>
          <a:bodyPr wrap="square">
            <a:spAutoFit/>
          </a:bodyPr>
          <a:lstStyle/>
          <a:p>
            <a:pPr>
              <a:defRPr b="1" sz="1300">
                <a:solidFill>
                  <a:srgbClr val="4F46E5"/>
                </a:solidFill>
                <a:latin typeface="Calibri"/>
              </a:defRPr>
            </a:pPr>
            <a:r>
              <a:t>ACADEMIC REFERENCES (APA 7th Edition):</a:t>
            </a:r>
          </a:p>
          <a:p>
            <a:pPr>
              <a:defRPr sz="1050">
                <a:solidFill>
                  <a:srgbClr val="1E293B"/>
                </a:solidFill>
                <a:latin typeface="Calibri"/>
              </a:defRPr>
            </a:pPr>
            <a:r>
              <a:t>• Gujarat Technological University. (2026). Diploma Engineering Minor Project Syllabus (Subject Code: DI05000341). GTU Academic Board.</a:t>
            </a:r>
          </a:p>
          <a:p>
            <a:pPr>
              <a:defRPr sz="1050">
                <a:solidFill>
                  <a:srgbClr val="1E293B"/>
                </a:solidFill>
                <a:latin typeface="Calibri"/>
              </a:defRPr>
            </a:pPr>
            <a:r>
              <a:t>• National Restaurant Association of India. (2024). India Food Services Report: Technology Adoption in Hospitality Sector. NRAI Publications.</a:t>
            </a:r>
          </a:p>
          <a:p>
            <a:pPr>
              <a:defRPr sz="1050">
                <a:solidFill>
                  <a:srgbClr val="1E293B"/>
                </a:solidFill>
                <a:latin typeface="Calibri"/>
              </a:defRPr>
            </a:pPr>
            <a:r>
              <a:t>• Otwell, T. (2024). Laravel 11: The PHP Framework for Web Artisans. Taylor Otwell &amp; Laravel Core Team.</a:t>
            </a:r>
          </a:p>
          <a:p>
            <a:pPr>
              <a:defRPr sz="1050">
                <a:solidFill>
                  <a:srgbClr val="1E293B"/>
                </a:solidFill>
                <a:latin typeface="Calibri"/>
              </a:defRPr>
            </a:pPr>
            <a:r>
              <a:t>• Fielding, R. T. (2000). Architectural Styles and the Design of Network-based Software Architectures. University of California, Irvine.</a:t>
            </a:r>
          </a:p>
          <a:p>
            <a:pPr>
              <a:defRPr sz="1050">
                <a:solidFill>
                  <a:srgbClr val="1E293B"/>
                </a:solidFill>
                <a:latin typeface="Calibri"/>
              </a:defRPr>
            </a:pPr>
            <a:r>
              <a:t>• World Wide Web Consortium. (2023). Progressive Web Apps Architecture &amp; Service Workers Specification. W3C Recommendation.</a:t>
            </a:r>
          </a:p>
        </p:txBody>
      </p:sp>
      <p:sp>
        <p:nvSpPr>
          <p:cNvPr id="9" name="Rounded Rectangle 8"/>
          <p:cNvSpPr/>
          <p:nvPr/>
        </p:nvSpPr>
        <p:spPr>
          <a:xfrm>
            <a:off x="6766560" y="1463040"/>
            <a:ext cx="4480560" cy="4572000"/>
          </a:xfrm>
          <a:prstGeom prst="roundRect">
            <a:avLst/>
          </a:prstGeom>
          <a:solidFill>
            <a:srgbClr val="F8FAFC"/>
          </a:solidFill>
          <a:ln w="254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200">
                <a:solidFill>
                  <a:srgbClr val="4F46E5"/>
                </a:solidFill>
                <a:latin typeface="Calibri"/>
              </a:defRPr>
            </a:pPr>
            <a:br/>
            <a:r>
              <a:t>THANK YOU!</a:t>
            </a:r>
          </a:p>
          <a:p>
            <a:pPr algn="ctr">
              <a:defRPr b="1" sz="1400">
                <a:solidFill>
                  <a:srgbClr val="0F172A"/>
                </a:solidFill>
                <a:latin typeface="Calibri"/>
              </a:defRPr>
            </a:pPr>
            <a:r>
              <a:t>Questions &amp; Technical Discussion</a:t>
            </a:r>
            <a:br/>
          </a:p>
          <a:p>
            <a:pPr algn="ctr">
              <a:defRPr sz="1100">
                <a:solidFill>
                  <a:srgbClr val="64748B"/>
                </a:solidFill>
                <a:latin typeface="Calibri"/>
              </a:defRPr>
            </a:pPr>
            <a:r>
              <a:t>Project Lead: PATEL SHUBH MAHESHKUMAR</a:t>
            </a:r>
          </a:p>
          <a:p>
            <a:pPr algn="ctr">
              <a:defRPr sz="1100">
                <a:solidFill>
                  <a:srgbClr val="64748B"/>
                </a:solidFill>
                <a:latin typeface="Calibri"/>
              </a:defRPr>
            </a:pPr>
            <a:r>
              <a:t>Enrollment No: 246310307123</a:t>
            </a:r>
          </a:p>
          <a:p>
            <a:pPr algn="ctr">
              <a:defRPr sz="1100">
                <a:solidFill>
                  <a:srgbClr val="64748B"/>
                </a:solidFill>
                <a:latin typeface="Calibri"/>
              </a:defRPr>
            </a:pPr>
            <a:r>
              <a:t>Department: Computer Engineering</a:t>
            </a:r>
          </a:p>
          <a:p>
            <a:pPr algn="ctr">
              <a:defRPr sz="1100">
                <a:solidFill>
                  <a:srgbClr val="64748B"/>
                </a:solidFill>
                <a:latin typeface="Calibri"/>
              </a:defRPr>
            </a:pPr>
            <a:r>
              <a:t>Institute: K. D. Polytechnic, Patan</a:t>
            </a:r>
          </a:p>
          <a:p>
            <a:pPr algn="ctr">
              <a:defRPr sz="1100">
                <a:solidFill>
                  <a:srgbClr val="64748B"/>
                </a:solidFill>
                <a:latin typeface="Calibri"/>
              </a:defRPr>
            </a:pPr>
            <a:r>
              <a:t>Project Guide: Prof. Yagnesh Patel</a:t>
            </a:r>
          </a:p>
          <a:p>
            <a:pPr algn="ctr">
              <a:defRPr sz="1100">
                <a:solidFill>
                  <a:srgbClr val="64748B"/>
                </a:solidFill>
                <a:latin typeface="Calibri"/>
              </a:defRPr>
            </a:pPr>
            <a:r>
              <a:t>Head of Department: Dr. Chirag D. Patel</a:t>
            </a:r>
          </a:p>
          <a:p>
            <a:pPr algn="ctr">
              <a:defRPr sz="1100">
                <a:solidFill>
                  <a:srgbClr val="64748B"/>
                </a:solidFill>
                <a:latin typeface="Calibri"/>
              </a:defRPr>
            </a:pPr>
            <a:r>
              <a:t>Principal: H. C. Parmar</a:t>
            </a:r>
          </a:p>
          <a:p>
            <a:pPr algn="ctr">
              <a:defRPr sz="1100">
                <a:solidFill>
                  <a:srgbClr val="64748B"/>
                </a:solidFill>
                <a:latin typeface="Calibri"/>
              </a:defRPr>
            </a:pPr>
            <a:r>
              <a:t>Live Deployment: https://dineflowai.duckdns.org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