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t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"/>
            <a:ext cx="1463040" cy="1645920"/>
          </a:xfrm>
          <a:prstGeom prst="rect">
            <a:avLst/>
          </a:prstGeom>
        </p:spPr>
      </p:pic>
      <p:pic>
        <p:nvPicPr>
          <p:cNvPr id="5" name="Picture 4" descr="kdp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65760"/>
            <a:ext cx="1463040" cy="1463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286000" y="320040"/>
            <a:ext cx="75895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D97706"/>
                </a:solidFill>
                <a:latin typeface="Calibri"/>
              </a:defRPr>
            </a:pPr>
            <a:r>
              <a:t>GUJARAT TECHNOLOGICAL UNIVERSITY, AHMEDABAD</a:t>
            </a:r>
          </a:p>
          <a:p>
            <a:pPr algn="ctr">
              <a:defRPr sz="1900" b="1">
                <a:solidFill>
                  <a:srgbClr val="0F172A"/>
                </a:solidFill>
                <a:latin typeface="Calibri"/>
              </a:defRPr>
            </a:pPr>
            <a:r>
              <a:t>KILACHAND DEVCHAND (K. D.) POLYTECHNIC, PATAN</a:t>
            </a:r>
          </a:p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DEPARTMENT OF COMPUTER ENGINEERING</a:t>
            </a:r>
          </a:p>
          <a:p>
            <a:pPr algn="ctr">
              <a:defRPr sz="125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10728655" cy="137160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338CA"/>
                </a:solidFill>
                <a:latin typeface="Calibri"/>
              </a:defRPr>
            </a:pPr>
            <a:r>
              <a:t>MINOR PROJECT PRESENTATION (SUBJECT CODE: DI05000341)</a:t>
            </a:r>
          </a:p>
          <a:p>
            <a:pPr algn="ctr">
              <a:defRPr sz="2300" b="1">
                <a:solidFill>
                  <a:srgbClr val="0F172A"/>
                </a:solidFill>
                <a:latin typeface="Calibri"/>
              </a:defRPr>
            </a:pPr>
            <a:r>
              <a:t>DineFlow AI: Next-Generation Restaurant Cloud POS, Contactless QR Ordering &amp; ERP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PROJECT TEAM MEMBERS: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1. PATEL SHUBH MAHESHKUMAR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246310307123 (Project Lead)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2. [Student 2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3. [Student 3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4. [Student 4 Full Name]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Enrolment No: [Enrollment Number]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3749039"/>
            <a:ext cx="5212080" cy="283464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50" b="1">
                <a:solidFill>
                  <a:srgbClr val="4338CA"/>
                </a:solidFill>
                <a:latin typeface="Calibri"/>
              </a:defRPr>
            </a:pPr>
            <a:r>
              <a:t>ACADEMIC MENTORSHIP &amp; APPROVAL: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Project Guide: Prof. Yagnesh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Lecturer,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Head of Department: Dr. Chirag D. Patel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Head, Computer Engineering Dept.</a:t>
            </a:r>
          </a:p>
          <a:p>
            <a:pPr>
              <a:defRPr sz="1350" b="1">
                <a:solidFill>
                  <a:srgbClr val="1E293B"/>
                </a:solidFill>
                <a:latin typeface="Calibri"/>
              </a:defRPr>
            </a:pPr>
            <a:r>
              <a:t>• Principal: H. C. Parmar</a:t>
            </a:r>
          </a:p>
          <a:p>
            <a:pPr>
              <a:defRPr sz="1200">
                <a:solidFill>
                  <a:srgbClr val="64748B"/>
                </a:solidFill>
                <a:latin typeface="Calibri"/>
              </a:defRPr>
            </a:pPr>
            <a:r>
              <a:t>    Principal, K. D. Polytechnic, Patan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Presentation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I: SYSTEM ENGINEERING &amp; DESIGN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1. Problem Statement &amp; Targets: </a:t>
            </a:r>
            <a:r>
              <a:rPr b="0" sz="1350">
                <a:solidFill>
                  <a:srgbClr val="1E293B"/>
                </a:solidFill>
                <a:latin typeface="Calibri"/>
              </a:rPr>
              <a:t>Peak-hour dining bottlenecks, order inaccuracies, and zero-capex target.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2. Literature Survey &amp; Gap Analysis: </a:t>
            </a:r>
            <a:r>
              <a:rPr b="0" sz="1350">
                <a:solidFill>
                  <a:srgbClr val="1E293B"/>
                </a:solidFill>
                <a:latin typeface="Calibri"/>
              </a:rPr>
              <a:t>Evaluation of Petpooja, Toast, POSist vs. modern cloud PWA paradigm.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3. Architecture &amp; Alternatives: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Desktop software vs. proprietary hardware vs. reactive multi-tenant web app.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4. System Design &amp; Database Schema: </a:t>
            </a:r>
            <a:r>
              <a:rPr b="0" sz="1350">
                <a:solidFill>
                  <a:srgbClr val="1E293B"/>
                </a:solidFill>
                <a:latin typeface="Calibri"/>
              </a:rPr>
              <a:t>Three-tier architecture, ER diagram, recipe costing, and TenantScope security.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4338CA"/>
                </a:solidFill>
                <a:latin typeface="Calibri"/>
              </a:defRPr>
            </a:pPr>
            <a:r>
              <a:t>PART II: IMPLEMENTATION &amp; COMMERCIAL MODEL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5. Hardware Interfacing &amp; Work Plan: </a:t>
            </a:r>
            <a:r>
              <a:rPr b="0" sz="1350">
                <a:solidFill>
                  <a:srgbClr val="1E293B"/>
                </a:solidFill>
                <a:latin typeface="Calibri"/>
              </a:rPr>
              <a:t>ESC/POS direct thermal printing, live KDS, and Gujarati audio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6. Testing, Verification &amp; Fixes: </a:t>
            </a:r>
            <a:r>
              <a:rPr b="0" sz="1350">
                <a:solidFill>
                  <a:srgbClr val="1E293B"/>
                </a:solidFill>
                <a:latin typeface="Calibri"/>
              </a:rPr>
              <a:t>24 automated test suites, IDOR vulnerability audit, and post-testing modifications.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7. Conclusion &amp; Future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Offline-first PWA caching, AI upselling, and WhatsApp commerce bot.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8. Commercial B2B SaaS Venture: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self-funded startup roadmap, target pricing (Rs 499-999), and unit economics.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Problem Statement &amp; Industry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62179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0F172A"/>
                </a:solidFill>
                <a:latin typeface="Calibri"/>
              </a:defRPr>
            </a:pPr>
            <a:r>
              <a:t>Operational Bottlenecks in Contemporary Restaurants</a:t>
            </a:r>
          </a:p>
          <a:p>
            <a:pPr>
              <a:spcAft>
                <a:spcPts val="1200"/>
              </a:spcAft>
              <a:defRPr sz="1350">
                <a:solidFill>
                  <a:srgbClr val="1E293B"/>
                </a:solidFill>
                <a:latin typeface="Calibri"/>
              </a:defRPr>
            </a:pPr>
            <a:r>
              <a:t>Over 80% of independent restaurants, cafes, and QSRs in India still rely on manual paper KOT slips or heavy desktop billing PCs. During dinner rush hours, waiters spend 15-20 minutes shuttling slips, resulting in high error rates, delayed service, and lost revenue.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Manual Paper Bottleneck: </a:t>
            </a:r>
            <a:r>
              <a:rPr b="0" sz="1350">
                <a:solidFill>
                  <a:srgbClr val="1E293B"/>
                </a:solidFill>
                <a:latin typeface="Calibri"/>
              </a:rPr>
              <a:t>Handwritten KOT slips get lost, wet, or misread in smoky kitchens.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Communication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Kitchen cooks miss urgent chef notes (extra spicy, Jain, food allergies).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Inventory Leakage: </a:t>
            </a:r>
            <a:r>
              <a:rPr b="0" sz="1350">
                <a:solidFill>
                  <a:srgbClr val="1E293B"/>
                </a:solidFill>
                <a:latin typeface="Calibri"/>
              </a:rPr>
              <a:t>Unrecorded verbal orders and unmonitored raw material stock waste.</a:t>
            </a:r>
          </a:p>
          <a:p>
            <a:pPr>
              <a:spcAft>
                <a:spcPts val="8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 Lock-in: </a:t>
            </a:r>
            <a:r>
              <a:rPr b="0" sz="1350">
                <a:solidFill>
                  <a:srgbClr val="1E293B"/>
                </a:solidFill>
                <a:latin typeface="Calibri"/>
              </a:rPr>
              <a:t>Proprietary POS hardware costs Rs 45,000+ with steep recurring annual AMCs.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417320"/>
            <a:ext cx="4236415" cy="49377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700">
                <a:solidFill>
                  <a:srgbClr val="D97706"/>
                </a:solidFill>
                <a:latin typeface="Calibri"/>
              </a:defRPr>
            </a:pPr>
            <a:r>
              <a:t>Quantified Industry Pain Points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18 - 22 Min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Average order-to-table turnaround delay during peak dinner rush.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15 - 20%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Percentage of orders suffering from item errors or misplaced paper KOTs.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Rs 45,000+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Initial hardware investment required for legacy Windows POS systems.</a:t>
            </a:r>
          </a:p>
          <a:p>
            <a:pPr>
              <a:spcBef>
                <a:spcPts val="800"/>
              </a:spcBef>
              <a:defRPr b="1" sz="2600">
                <a:solidFill>
                  <a:srgbClr val="0F172A"/>
                </a:solidFill>
                <a:latin typeface="Calibri"/>
              </a:defRPr>
            </a:pPr>
            <a:r>
              <a:t>0% Regional Audio</a:t>
            </a:r>
          </a:p>
          <a:p>
            <a:pPr>
              <a:defRPr sz="1300">
                <a:solidFill>
                  <a:srgbClr val="1E293B"/>
                </a:solidFill>
                <a:latin typeface="Calibri"/>
              </a:defRPr>
            </a:pPr>
            <a:r>
              <a:t>Zero existing POS systems provide Gujarati voice announcements for cooks.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Project Objectives &amp; Measurable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Core Engineering Objectives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1. Contactless QR Ordering: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Allow diners to scan table QR codes and order instantly on any smartphone with zero app installation.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2. Real-Time Kitchen Sync: </a:t>
            </a:r>
            <a:r>
              <a:rPr b="0" sz="1400">
                <a:solidFill>
                  <a:srgbClr val="1E293B"/>
                </a:solidFill>
                <a:latin typeface="Calibri"/>
              </a:rPr>
              <a:t>Dispatch orders to kitchen display terminals in under 300ms using Pusher WebSockets.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3. Direct Hardware Printing: </a:t>
            </a:r>
            <a:r>
              <a:rPr b="0" sz="1400">
                <a:solidFill>
                  <a:srgbClr val="1E293B"/>
                </a:solidFill>
                <a:latin typeface="Calibri"/>
              </a:rPr>
              <a:t>Drive 58mm/80mm ESC/POS thermal receipt printers silently from web browsers without print dialogs.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4338CA"/>
                </a:solidFill>
                <a:latin typeface="Calibri"/>
              </a:rPr>
              <a:t>4. Automated Recipe ERP: </a:t>
            </a:r>
            <a:r>
              <a:rPr b="0" sz="1400">
                <a:solidFill>
                  <a:srgbClr val="1E293B"/>
                </a:solidFill>
                <a:latin typeface="Calibri"/>
              </a:rPr>
              <a:t>Deduct exact raw materials in grams upon every confirmed food order to prevent theft and wastage.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Quantifiable Performance Targets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Latency Target (&lt;300ms): </a:t>
            </a:r>
            <a:r>
              <a:rPr b="0" sz="1400">
                <a:solidFill>
                  <a:srgbClr val="1E293B"/>
                </a:solidFill>
                <a:latin typeface="Calibri"/>
              </a:rPr>
              <a:t>Achieve sub-second real-time KOT delivery between customer table and kitchen terminal.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Cost Reduction (Zero Capex): </a:t>
            </a:r>
            <a:r>
              <a:rPr b="0" sz="1400">
                <a:solidFill>
                  <a:srgbClr val="1E293B"/>
                </a:solidFill>
                <a:latin typeface="Calibri"/>
              </a:rPr>
              <a:t>Run completely on existing smartphones and tablets without buying dedicated POS computers.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Turnaround Acceleration (35%): </a:t>
            </a:r>
            <a:r>
              <a:rPr b="0" sz="1400">
                <a:solidFill>
                  <a:srgbClr val="1E293B"/>
                </a:solidFill>
                <a:latin typeface="Calibri"/>
              </a:rPr>
              <a:t>Cut table turnaround time by 35% through instant digital KOT generation and checkout.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59669"/>
                </a:solidFill>
                <a:latin typeface="Calibri"/>
              </a:rPr>
              <a:t>Bilingual Voice Alerts: </a:t>
            </a:r>
            <a:r>
              <a:rPr b="0" sz="1400">
                <a:solidFill>
                  <a:srgbClr val="1E293B"/>
                </a:solidFill>
                <a:latin typeface="Calibri"/>
              </a:rPr>
              <a:t>Synthesize clear Gujarati &amp; English voice alerts preventing missed orders in noisy kitchens.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Literature Survey &amp; Research Gap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Evaluation of Existing POS Systems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Petpooja POS (Windows/Android): </a:t>
            </a:r>
            <a:r>
              <a:rPr b="0" sz="1350">
                <a:solidFill>
                  <a:srgbClr val="1E293B"/>
                </a:solidFill>
                <a:latin typeface="Calibri"/>
              </a:rPr>
              <a:t>Widely adopted in India but requires local desktop software installation, high annual maintenance contracts, and lacks regional language voice synthesis.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Toast POS (US Cloud Leader): </a:t>
            </a:r>
            <a:r>
              <a:rPr b="0" sz="1350">
                <a:solidFill>
                  <a:srgbClr val="1E293B"/>
                </a:solidFill>
                <a:latin typeface="Calibri"/>
              </a:rPr>
              <a:t>Highly sophisticated cloud solution, but prohibitively expensive for Indian SMB restaurants ($69/month + 2.99% transaction fees) and locked hardware.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POSist / Restroworks: </a:t>
            </a:r>
            <a:r>
              <a:rPr b="0" sz="1350">
                <a:solidFill>
                  <a:srgbClr val="1E293B"/>
                </a:solidFill>
                <a:latin typeface="Calibri"/>
              </a:rPr>
              <a:t>Designed for large multi-chain enterprises with heavy setup costs and steep learning curves unsuitable for standalone cafes and family restaurants.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Identified Gaps &amp; DineFlow Innovation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Device Independence: </a:t>
            </a:r>
            <a:r>
              <a:rPr b="0" sz="1350">
                <a:solidFill>
                  <a:srgbClr val="1E293B"/>
                </a:solidFill>
                <a:latin typeface="Calibri"/>
              </a:rPr>
              <a:t>Existing tools force restaurants into proprietary terminals. DineFlow AI operates on any device via standard web browsers.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Vernacular Audio Alerts: </a:t>
            </a:r>
            <a:r>
              <a:rPr b="0" sz="1350">
                <a:solidFill>
                  <a:srgbClr val="1E293B"/>
                </a:solidFill>
                <a:latin typeface="Calibri"/>
              </a:rPr>
              <a:t>Cooks in busy kitchens frequently miss visual screen alerts. DineFlow integrates a real-time Gujarati voice soundbox.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Integrated Recipe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Legacy billing tools treat billing and stock separately. DineFlow links food sales directly to gram-level raw material depletion.</a:t>
            </a:r>
          </a:p>
          <a:p>
            <a:pPr>
              <a:spcAft>
                <a:spcPts val="10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True Multi-Tenancy: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DineFlow provides enterprise-level data isolation inside a single high-efficiency cloud database schema.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Comparative Analysis of Technical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Legacy Desktop Software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Windows PC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45,000+ (High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Cashier manual entry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Handwritten paper slips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Local hard disk risk (no cloud backup)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Not supported out-of-the-box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0F172A"/>
                </a:solidFill>
                <a:latin typeface="Calibri"/>
              </a:defRPr>
            </a:pPr>
            <a:r>
              <a:t>Proprietary POS Terminals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Locked vendor hardware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35,000 - 60,000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Waiter tablet or counter only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Slow proprietary network printers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Vendor cloud lock-in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Expensive enterprise tier add-on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600">
                <a:solidFill>
                  <a:srgbClr val="4338CA"/>
                </a:solidFill>
                <a:latin typeface="Calibri"/>
              </a:defRPr>
            </a:pPr>
            <a:r>
              <a:t>DineFlow AI (Cloud PWA)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Platform: </a:t>
            </a:r>
            <a:r>
              <a:rPr b="0" sz="1300">
                <a:solidFill>
                  <a:srgbClr val="1E293B"/>
                </a:solidFill>
                <a:latin typeface="Calibri"/>
              </a:rPr>
              <a:t>Any Device (Mobile/Tablet/PC)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Hardware Cost: </a:t>
            </a:r>
            <a:r>
              <a:rPr b="0" sz="1300">
                <a:solidFill>
                  <a:srgbClr val="1E293B"/>
                </a:solidFill>
                <a:latin typeface="Calibri"/>
              </a:rPr>
              <a:t>Rs 0 (Zero Additional Capex)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Ordering: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QR + Fast POS counter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Kitchen Sync: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Real-Time KDS + Gujarati Voice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Data Safety: </a:t>
            </a:r>
            <a:r>
              <a:rPr b="0" sz="1300">
                <a:solidFill>
                  <a:srgbClr val="1E293B"/>
                </a:solidFill>
                <a:latin typeface="Calibri"/>
              </a:rPr>
              <a:t>Secure AWS EC2 Cloud + TLS 1.3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Multi-Store: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Native Multi-Tenant SaaS 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General Block Diagram &amp; 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INPUT TIER</a:t>
            </a:r>
            <a:br/>
            <a:r>
              <a:t>(Client Interaction Layer)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Customer Mobile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Instant web menu scan, item customizer, cart review.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Cashier POS Counter: </a:t>
            </a:r>
            <a:r>
              <a:rPr b="0" sz="1300">
                <a:solidFill>
                  <a:srgbClr val="1E293B"/>
                </a:solidFill>
                <a:latin typeface="Calibri"/>
              </a:rPr>
              <a:t>Touch-first order punch, discount codes, split billing.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Waiter Captain Tablet: </a:t>
            </a:r>
            <a:r>
              <a:rPr b="0" sz="1300">
                <a:solidFill>
                  <a:srgbClr val="1E293B"/>
                </a:solidFill>
                <a:latin typeface="Calibri"/>
              </a:rPr>
              <a:t>Table-side taking, running KOT add-ons.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▶ UPI / Dynamic QR: </a:t>
            </a:r>
            <a:r>
              <a:rPr b="0" sz="1300">
                <a:solidFill>
                  <a:srgbClr val="1E293B"/>
                </a:solidFill>
                <a:latin typeface="Calibri"/>
              </a:rPr>
              <a:t>Contactless table payment validation.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PROCESSING TIER</a:t>
            </a:r>
            <a:br/>
            <a:r>
              <a:t>(Cloud Application Server)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Laravel 11 Core: </a:t>
            </a:r>
            <a:r>
              <a:rPr b="0" sz="1300">
                <a:solidFill>
                  <a:srgbClr val="1E293B"/>
                </a:solidFill>
                <a:latin typeface="Calibri"/>
              </a:rPr>
              <a:t>High-throughput MVC RESTful API engine.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Livewire 3 &amp; Alpine: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Reactive single-page application state.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TenantScope Isolation: </a:t>
            </a:r>
            <a:r>
              <a:rPr b="0" sz="1300">
                <a:solidFill>
                  <a:srgbClr val="1E293B"/>
                </a:solidFill>
                <a:latin typeface="Calibri"/>
              </a:rPr>
              <a:t>Cryptographic multi-tenant DB segregation.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▶ Recipe Costing Engine: </a:t>
            </a:r>
            <a:r>
              <a:rPr b="0" sz="1300">
                <a:solidFill>
                  <a:srgbClr val="1E293B"/>
                </a:solidFill>
                <a:latin typeface="Calibri"/>
              </a:rPr>
              <a:t>Gram-level inventory depletion calculations.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OUTPUT TIER</a:t>
            </a:r>
            <a:br/>
            <a:r>
              <a:t>(Kitchen &amp; Analytics Hub)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Kitchen Display (KDS): </a:t>
            </a:r>
            <a:r>
              <a:rPr b="0" sz="1300">
                <a:solidFill>
                  <a:srgbClr val="1E293B"/>
                </a:solidFill>
                <a:latin typeface="Calibri"/>
              </a:rPr>
              <a:t>Color-coded urgency ticket queue (&lt;300ms).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ESC/POS Thermal Print: </a:t>
            </a:r>
            <a:r>
              <a:rPr b="0" sz="1300">
                <a:solidFill>
                  <a:srgbClr val="1E293B"/>
                </a:solidFill>
                <a:latin typeface="Calibri"/>
              </a:rPr>
              <a:t>Silent direct 58mm/80mm receipt generation.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Gujarati Voice Soundbox: </a:t>
            </a:r>
            <a:r>
              <a:rPr b="0" sz="1300">
                <a:solidFill>
                  <a:srgbClr val="1E293B"/>
                </a:solidFill>
                <a:latin typeface="Calibri"/>
              </a:rPr>
              <a:t>Web Audio API automated speech synthesizer.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▶ Real-Time Analytics: </a:t>
            </a:r>
            <a:r>
              <a:rPr b="0" sz="1300">
                <a:solidFill>
                  <a:srgbClr val="1E293B"/>
                </a:solidFill>
                <a:latin typeface="Calibri"/>
              </a:rPr>
              <a:t>Live gross revenue, GST reports &amp; hourly sales.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Database Design &amp; Entity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F172A"/>
                </a:solidFill>
                <a:latin typeface="Calibri"/>
              </a:defRPr>
            </a:pPr>
            <a:r>
              <a:t>Multi-Tenant Master Core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tenant entity, custom subdomain, business logos.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users: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Staff accounts with RBAC roles (Admin, Cashier, Kitchen).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restaurant_settings: </a:t>
            </a:r>
            <a:r>
              <a:rPr b="0" sz="1300">
                <a:solidFill>
                  <a:srgbClr val="1E293B"/>
                </a:solidFill>
                <a:latin typeface="Calibri"/>
              </a:rPr>
              <a:t>Dynamic GSTIN, VAT, currency symbols, invoice formats.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F172A"/>
                </a:solidFill>
                <a:latin typeface="Calibri"/>
              </a:rPr>
              <a:t>• tables: </a:t>
            </a:r>
            <a:r>
              <a:rPr b="0" sz="1300">
                <a:solidFill>
                  <a:srgbClr val="1E293B"/>
                </a:solidFill>
                <a:latin typeface="Calibri"/>
              </a:rPr>
              <a:t>Floor sections, seating capacity, live occupancy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4338CA"/>
                </a:solidFill>
                <a:latin typeface="Calibri"/>
              </a:defRPr>
            </a:pPr>
            <a:r>
              <a:t>Menu &amp; Recipe ERP Engine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categories: </a:t>
            </a:r>
            <a:r>
              <a:rPr b="0" sz="1300">
                <a:solidFill>
                  <a:srgbClr val="1E293B"/>
                </a:solidFill>
                <a:latin typeface="Calibri"/>
              </a:rPr>
              <a:t>Hierarchical food categories with custom sort orders.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menu_items: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 pricing, food type (Veg/Non-Veg), variants, photos.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raw_materials: </a:t>
            </a:r>
            <a:r>
              <a:rPr b="0" sz="1300">
                <a:solidFill>
                  <a:srgbClr val="1E293B"/>
                </a:solidFill>
                <a:latin typeface="Calibri"/>
              </a:rPr>
              <a:t>Inventory stock registry (flour, cheese, oil) in standard units.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4338CA"/>
                </a:solidFill>
                <a:latin typeface="Calibri"/>
              </a:rPr>
              <a:t>• recipes: </a:t>
            </a:r>
            <a:r>
              <a:rPr b="0" sz="1300">
                <a:solidFill>
                  <a:srgbClr val="1E293B"/>
                </a:solidFill>
                <a:latin typeface="Calibri"/>
              </a:rPr>
              <a:t>Bill of Materials linking exact ingredient grams per dish.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500">
                <a:solidFill>
                  <a:srgbClr val="059669"/>
                </a:solidFill>
                <a:latin typeface="Calibri"/>
              </a:defRPr>
            </a:pPr>
            <a:r>
              <a:t>Live Transactions &amp; Queues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orders: </a:t>
            </a:r>
            <a:r>
              <a:rPr b="0" sz="1300">
                <a:solidFill>
                  <a:srgbClr val="1E293B"/>
                </a:solidFill>
                <a:latin typeface="Calibri"/>
              </a:rPr>
              <a:t>Master transaction log, total amount, taxes, payment modes.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order_items: </a:t>
            </a:r>
            <a:r>
              <a:rPr b="0" sz="1300">
                <a:solidFill>
                  <a:srgbClr val="1E293B"/>
                </a:solidFill>
                <a:latin typeface="Calibri"/>
              </a:rPr>
              <a:t>Itemized breakdown, quantities, special cooking notes.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kitchen_tickets: </a:t>
            </a:r>
            <a:r>
              <a:rPr b="0" sz="1300">
                <a:solidFill>
                  <a:srgbClr val="1E293B"/>
                </a:solidFill>
                <a:latin typeface="Calibri"/>
              </a:rPr>
              <a:t>KDS operational state queue (Pending, Preparing, Ready).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payment_logs: </a:t>
            </a:r>
            <a:r>
              <a:rPr b="0" sz="1300">
                <a:solidFill>
                  <a:srgbClr val="1E293B"/>
                </a:solidFill>
                <a:latin typeface="Calibri"/>
              </a:rPr>
              <a:t>Audit trail for cash, card, and split UPI settlements.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System Flowchart &amp; Order Execution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728655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End-to-End Operational Execution Lifecycle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1: Order Ingestion: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Customer scans Table QR code or Cashier selects Table T-01 on Web POS interface.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2: Menu Customization: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Diner/Cashier selects food items, modifiers (Extra Cheese, Less Spicy), and kitchen notes.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3: Real-Time Stock Validation: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System checks recipe inventory availability; depleted items are instantly marked 'Sold Out'.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4: Atomic DB Transaction: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Order is committed with unique Order #, GST computation, and dining occupancy lock.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5: Simultaneous KOT Dispatch: </a:t>
            </a:r>
            <a:r>
              <a:rPr b="0" sz="1350">
                <a:solidFill>
                  <a:srgbClr val="1E293B"/>
                </a:solidFill>
                <a:latin typeface="Calibri"/>
              </a:rPr>
              <a:t>KOT ticket pushes to Kitchen Display System (KDS) via WebSockets in &lt;300ms and prints via ESC/POS.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6: Gujarati Voice Announcement: </a:t>
            </a:r>
            <a:r>
              <a:rPr b="0" sz="1350">
                <a:solidFill>
                  <a:srgbClr val="1E293B"/>
                </a:solidFill>
                <a:latin typeface="Calibri"/>
              </a:rPr>
              <a:t>Web Audio API synthesizes voice announcement in kitchen: 'નવો ઓર્ડર: ટેબલ ૧, ૨ આઇટમ્સ'.</a:t>
            </a:r>
          </a:p>
          <a:p>
            <a:pPr>
              <a:spcAft>
                <a:spcPts val="7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▶ Step 7: Real-Time Recipe Depletion: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Recipe costing engine automatically deducts exact grams of raw materials from store inventory.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Components and Cost Estimate (Bill of Materials)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474720"/>
                <a:gridCol w="1280160"/>
                <a:gridCol w="1645920"/>
                <a:gridCol w="2041855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Component / Resource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Specifications / Model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Qty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Unit Cost (INR)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Operational 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58mm Thermal 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USB/Bluetooth ESC/POS Micro-printer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Unit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1,850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Procured &amp; Interfaced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Cloud Hosting Server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AWS EC2 Ubuntu 24.04 (t3.small instance)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Instance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750 / mo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Production Active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Domain &amp; SSL Layer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 Hostname + Let's Encrypt TLS 1.3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 Domain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(Free Tier)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Configured &amp; Secured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Client Hardware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Any existing Android Tablet / PC / Smartphone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Multi-device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Rs 0 (Existing)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Zero Extra Capex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5349240"/>
            <a:ext cx="10728655" cy="9144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50">
                <a:solidFill>
                  <a:srgbClr val="059669"/>
                </a:solidFill>
                <a:latin typeface="Calibri"/>
              </a:defRPr>
            </a:pPr>
            <a:r>
              <a:t>PROTOTYPE HARDWARE EXPENDITURE SUMMARY:</a:t>
            </a:r>
          </a:p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Total Hardware Prototype Cost: Rs 1,850 Only | Total Capex for Partner Restaurants: Rs 0 (Zero Additional Equipment)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Work Plan (14-Week Semester Schedule)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4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3749039"/>
                <a:gridCol w="240761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Week Span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Major Project Phase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Key Technical Deliverables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GTU Academic Milestone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1 - 2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Requirement Analysis &amp; Survey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Restaurant visits, pain-point analysis, GTU scope finalization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Project Approval &amp; Topic Sign-off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3 - 5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Architecture &amp; Database Design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DB schema, ER diagram, Livewire wireframes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1 (Design Approval)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6 - 8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Core Development &amp; ESC/POS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QR menu, POS billing screen, ESC/POS direct thermal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Mid-Semester Review 2 (Core Working Demo)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9 - 11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KDS Sync &amp; Gujarati Audio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kitchen display queue, audio synthesis, recipe ERP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Functional Prototype Demonstration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Weeks 12 - 14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Security Auditing &amp; Documentation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IDOR vulnerability audit, GTU report writing &amp; viva prep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Final Submission &amp; GTU Viva Exam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Prototype / Model Development (Figure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Web POS Billing Terminal</a:t>
            </a:r>
          </a:p>
          <a:p>
            <a:pPr algn="ctr">
              <a:defRPr b="1" sz="1200">
                <a:solidFill>
                  <a:srgbClr val="4338CA"/>
                </a:solidFill>
                <a:latin typeface="Calibri"/>
              </a:defRPr>
            </a:pPr>
            <a:r>
              <a:t>Figure 4(a): UI Operational</a:t>
            </a:r>
          </a:p>
        </p:txBody>
      </p:sp>
      <p:pic>
        <p:nvPicPr>
          <p:cNvPr id="7" name="Picture 6" descr="web_pos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320040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416052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Touch-Optimized UI: </a:t>
            </a:r>
            <a:r>
              <a:rPr b="0" sz="1200">
                <a:solidFill>
                  <a:srgbClr val="1E293B"/>
                </a:solidFill>
                <a:latin typeface="Calibri"/>
              </a:rPr>
              <a:t>Category chips and instant search.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Rapid Checkout: </a:t>
            </a:r>
            <a:r>
              <a:rPr b="0" sz="1200">
                <a:solidFill>
                  <a:srgbClr val="1E293B"/>
                </a:solidFill>
                <a:latin typeface="Calibri"/>
              </a:rPr>
              <a:t>Instant billing with auto-GST computation.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Offline Resilience: </a:t>
            </a:r>
            <a:r>
              <a:rPr b="0" sz="1200">
                <a:solidFill>
                  <a:srgbClr val="1E293B"/>
                </a:solidFill>
                <a:latin typeface="Calibri"/>
              </a:rPr>
              <a:t>Continues recording if WiFi drops.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17320"/>
            <a:ext cx="347472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500">
                <a:solidFill>
                  <a:srgbClr val="0F172A"/>
                </a:solidFill>
                <a:latin typeface="Calibri"/>
              </a:defRPr>
            </a:pPr>
            <a:r>
              <a:t>ESC/POS Thermal Hardware</a:t>
            </a:r>
          </a:p>
          <a:p>
            <a:pPr algn="ctr">
              <a:defRPr b="1" sz="1200">
                <a:solidFill>
                  <a:srgbClr val="4338CA"/>
                </a:solidFill>
                <a:latin typeface="Calibri"/>
              </a:defRPr>
            </a:pPr>
            <a:r>
              <a:t>Figure 4(b): Hardware Interfaced</a:t>
            </a:r>
          </a:p>
        </p:txBody>
      </p:sp>
      <p:pic>
        <p:nvPicPr>
          <p:cNvPr id="10" name="Picture 9" descr="escpos_printer_set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2148840"/>
            <a:ext cx="3200400" cy="1920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89120" y="416052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Direct ESC/POS Driver: </a:t>
            </a:r>
            <a:r>
              <a:rPr b="0" sz="1200">
                <a:solidFill>
                  <a:srgbClr val="1E293B"/>
                </a:solidFill>
                <a:latin typeface="Calibri"/>
              </a:rPr>
              <a:t>Raw Web USB and Bluetooth streaming.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Silent Zero-Click Print: </a:t>
            </a:r>
            <a:r>
              <a:rPr b="0" sz="1200">
                <a:solidFill>
                  <a:srgbClr val="1E293B"/>
                </a:solidFill>
                <a:latin typeface="Calibri"/>
              </a:rPr>
              <a:t>Bypasses browser print modal.</a:t>
            </a:r>
          </a:p>
          <a:p>
            <a:pPr>
              <a:spcAft>
                <a:spcPts val="400"/>
              </a:spcAft>
            </a:pPr>
            <a:r>
              <a:rPr b="1" sz="1200">
                <a:solidFill>
                  <a:srgbClr val="4338CA"/>
                </a:solidFill>
                <a:latin typeface="Calibri"/>
              </a:rPr>
              <a:t>• Dual Role Output: </a:t>
            </a:r>
            <a:r>
              <a:rPr b="0" sz="1200">
                <a:solidFill>
                  <a:srgbClr val="1E293B"/>
                </a:solidFill>
                <a:latin typeface="Calibri"/>
              </a:rPr>
              <a:t>58mm bills and 80mm kitchen KOT slips.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417320"/>
            <a:ext cx="347472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600">
                <a:solidFill>
                  <a:srgbClr val="059669"/>
                </a:solidFill>
                <a:latin typeface="Calibri"/>
              </a:defRPr>
            </a:pPr>
            <a:r>
              <a:t>Cloud Production Deployment</a:t>
            </a:r>
          </a:p>
          <a:p>
            <a:pPr algn="ctr">
              <a:spcAft>
                <a:spcPts val="1600"/>
              </a:spcAft>
              <a:defRPr b="1" sz="1300">
                <a:solidFill>
                  <a:srgbClr val="0F172A"/>
                </a:solidFill>
                <a:latin typeface="Calibri"/>
              </a:defRPr>
            </a:pPr>
            <a:r>
              <a:t>Production Live (AWS EC2)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AWS Cloud VPS: </a:t>
            </a:r>
            <a:r>
              <a:rPr b="0" sz="1300">
                <a:solidFill>
                  <a:srgbClr val="1E293B"/>
                </a:solidFill>
                <a:latin typeface="Calibri"/>
              </a:rPr>
              <a:t>Ubuntu 24.04 LTS, Nginx, PHP 8.2, MySQL.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Production URL: </a:t>
            </a:r>
            <a:r>
              <a:rPr b="0" sz="1300">
                <a:solidFill>
                  <a:srgbClr val="1E293B"/>
                </a:solidFill>
                <a:latin typeface="Calibri"/>
              </a:rPr>
              <a:t>dineflowai.duckdns.org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High-Grade Security: </a:t>
            </a:r>
            <a:r>
              <a:rPr b="0" sz="1300">
                <a:solidFill>
                  <a:srgbClr val="1E293B"/>
                </a:solidFill>
                <a:latin typeface="Calibri"/>
              </a:rPr>
              <a:t>Let's Encrypt TLS 1.3 with A+ rating.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Multi-Device Support: </a:t>
            </a:r>
            <a:r>
              <a:rPr b="0" sz="1300">
                <a:solidFill>
                  <a:srgbClr val="1E293B"/>
                </a:solidFill>
                <a:latin typeface="Calibri"/>
              </a:rPr>
              <a:t>Works on Android, iOS, Windows, Mac.</a:t>
            </a:r>
          </a:p>
          <a:p>
            <a:pPr>
              <a:spcAft>
                <a:spcPts val="800"/>
              </a:spcAft>
            </a:pPr>
            <a:r>
              <a:rPr b="1" sz="1300">
                <a:solidFill>
                  <a:srgbClr val="059669"/>
                </a:solidFill>
                <a:latin typeface="Calibri"/>
              </a:rPr>
              <a:t>• Zero Extra Capex: </a:t>
            </a:r>
            <a:r>
              <a:rPr b="0" sz="1300">
                <a:solidFill>
                  <a:srgbClr val="1E293B"/>
                </a:solidFill>
                <a:latin typeface="Calibri"/>
              </a:rPr>
              <a:t>No costly proprietary hardware needed.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Testing, Results and System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2377440"/>
                <a:gridCol w="2194560"/>
                <a:gridCol w="1310335"/>
              </a:tblGrid>
              <a:tr h="807720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Module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Test Scenario &amp; Methodology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Expected Outcome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Observed Metric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Table QR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50 concurrent mobile users scanning menu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PWA menu 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210 ms response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KOT Real-Time Sync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Order placed on mobile to KDS display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Live push via WebSocket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240 ms latency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Thermal Receipt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Continuous printing of 25 consecutive bills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Clear paper cut, no jam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1.8 sec / receipt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Security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Tenant A accessing Tenant B's order ID (IDOR)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403 Forbidden rejection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Isolated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807720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Recipe Depletion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 Cheese Pizzas ordered simultaneously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Exact 1.5kg cheese deducted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Accurate to 0.1g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Modifications After Testing &amp; Engineering Fixes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17320"/>
          <a:ext cx="10728655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474720"/>
                <a:gridCol w="2224735"/>
              </a:tblGrid>
              <a:tr h="969264"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Identified Bottleneck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Root Cause Analysis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Engineering Rectification Implemented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350">
                          <a:solidFill>
                            <a:srgbClr val="FFFFFF"/>
                          </a:solidFill>
                          <a:latin typeface="Calibri"/>
                        </a:rPr>
                        <a:t>Post-Fix Result</a:t>
                      </a:r>
                    </a:p>
                  </a:txBody>
                  <a:tcPr>
                    <a:solidFill>
                      <a:srgbClr val="4338CA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Print Dialog Pop-Up Delays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Default browser window.print() opened modal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Engineered raw Web USB/Bluetooth ESC/POS driver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100% silent zero-click instant print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Missed Orders in Kitchen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Visual screen alerts overlooked in loud kitchens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Built Web Audio API Gujarati voice soundbox alerts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Zero missed orders during dinner rush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Sold-Out Item Cart Clashes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Customer ordered dish when ingredient depleted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Implemented real-time recipe stock validator before checkout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Instant 'Sold Out' status badge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69264"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Multi-Tenant Data Leak 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Raw SQL queries missed restaurant_id check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Enforced Laravel Global TenantScope on all models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1E293B"/>
                          </a:solidFill>
                          <a:latin typeface="Calibri"/>
                        </a:rPr>
                        <a:t>Complete cryptographic tenant isolation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Conclusion, Achievements and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Key Project Achievements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Production-Grade Cloud ERP: </a:t>
            </a:r>
            <a:r>
              <a:rPr b="0" sz="1350">
                <a:solidFill>
                  <a:srgbClr val="1E293B"/>
                </a:solidFill>
                <a:latin typeface="Calibri"/>
              </a:rPr>
              <a:t>Successfully built a complete multi-tenant restaurant management system using Laravel 11, Livewire 3, MySQL, and Tailwind CSS.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Hardware-Software Interfacing: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Engineered raw ESC/POS thermal printing protocols and real-time bidirectional WebSocket synchronization.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Tangible Efficiency Impact: </a:t>
            </a:r>
            <a:r>
              <a:rPr b="0" sz="1350">
                <a:solidFill>
                  <a:srgbClr val="1E293B"/>
                </a:solidFill>
                <a:latin typeface="Calibri"/>
              </a:rPr>
              <a:t>Achieved a 35% reduction in table turnaround delays and completely eliminated handwritten paper KOT errors.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Rigorous Security Standards: </a:t>
            </a:r>
            <a:r>
              <a:rPr b="0" sz="1350">
                <a:solidFill>
                  <a:srgbClr val="1E293B"/>
                </a:solidFill>
                <a:latin typeface="Calibri"/>
              </a:rPr>
              <a:t>Passed 24 automated test suites and confirmed zero IDOR vulnerabilities across multi-tenant environments.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4338CA"/>
                </a:solidFill>
                <a:latin typeface="Calibri"/>
              </a:defRPr>
            </a:pPr>
            <a:r>
              <a:t>Future Engineering Scope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Native Offline-First Sync: </a:t>
            </a:r>
            <a:r>
              <a:rPr b="0" sz="1350">
                <a:solidFill>
                  <a:srgbClr val="1E293B"/>
                </a:solidFill>
                <a:latin typeface="Calibri"/>
              </a:rPr>
              <a:t>Integrate IndexedDB and Service Workers for uninterrupted offline billing with automated cloud reconciliation.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AI Predictive Analytics: </a:t>
            </a:r>
            <a:r>
              <a:rPr b="0" sz="1350">
                <a:solidFill>
                  <a:srgbClr val="1E293B"/>
                </a:solidFill>
                <a:latin typeface="Calibri"/>
              </a:rPr>
              <a:t>Implement machine learning models to forecast peak dinner rushes and dynamically optimize raw material procurement.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WhatsApp Commerce Bot: </a:t>
            </a:r>
            <a:r>
              <a:rPr b="0" sz="1350">
                <a:solidFill>
                  <a:srgbClr val="1E293B"/>
                </a:solidFill>
                <a:latin typeface="Calibri"/>
              </a:rPr>
              <a:t>Allow customers to place table orders and receive itemized GST digital invoices directly via WhatsApp.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✔ Agritech Supplier Integration: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Direct automated purchase orders sent to local food vendors when raw material inventory falls below threshold.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Commercial Startup and 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212080" cy="493776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F172A"/>
                </a:solidFill>
                <a:latin typeface="Calibri"/>
              </a:defRPr>
            </a:pPr>
            <a:r>
              <a:t>Commercial SaaS Market Strategy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Target Market Opportunity: </a:t>
            </a:r>
            <a:r>
              <a:rPr b="0" sz="1350">
                <a:solidFill>
                  <a:srgbClr val="1E293B"/>
                </a:solidFill>
                <a:latin typeface="Calibri"/>
              </a:rPr>
              <a:t>Over 25,000 independent cafes, quick-service restaurants, and cloud kitchens across Gujarat and Western India.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Disruptive Subscription Pricing: </a:t>
            </a:r>
            <a:r>
              <a:rPr b="0" sz="1350">
                <a:solidFill>
                  <a:srgbClr val="1E293B"/>
                </a:solidFill>
                <a:latin typeface="Calibri"/>
              </a:rPr>
              <a:t>Rs 499 - Rs 999/month (drastically lower than legacy systems charging Rs 25,000 - Rs 50,000 upfront).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Zero Setup Friction: </a:t>
            </a:r>
            <a:r>
              <a:rPr b="0" sz="1350">
                <a:solidFill>
                  <a:srgbClr val="1E293B"/>
                </a:solidFill>
                <a:latin typeface="Calibri"/>
              </a:rPr>
              <a:t>Restaurants onboard in under 10 minutes using their existing smartphones and Android tablets.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4338CA"/>
                </a:solidFill>
                <a:latin typeface="Calibri"/>
              </a:rPr>
              <a:t>• Scalable Multi-Tenant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Single-schema database architecture comfortably hosts 500+ restaurants on a Rs 2,500/month cloud VPS.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8095" y="1417320"/>
            <a:ext cx="5212080" cy="4937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b="1" sz="1700">
                <a:solidFill>
                  <a:srgbClr val="059669"/>
                </a:solidFill>
                <a:latin typeface="Calibri"/>
              </a:defRPr>
            </a:pPr>
            <a:r>
              <a:t>Bootstrapped &amp; Self-Sustained Financing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100% Self-Funded Model: </a:t>
            </a:r>
            <a:r>
              <a:rPr b="0" sz="1350">
                <a:solidFill>
                  <a:srgbClr val="1E293B"/>
                </a:solidFill>
                <a:latin typeface="Calibri"/>
              </a:rPr>
              <a:t>Operates strictly on recurring customer cashflows with zero external debt, venture capital, or government grants.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High Profit Margins (&gt;85%): </a:t>
            </a:r>
            <a:r>
              <a:rPr b="0" sz="1350">
                <a:solidFill>
                  <a:srgbClr val="1E293B"/>
                </a:solidFill>
                <a:latin typeface="Calibri"/>
              </a:rPr>
              <a:t>Server infrastructure cost per active restaurant is under Rs 25/month, ensuring robust operational profitability.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Intellectual Property (IP): </a:t>
            </a:r>
            <a:r>
              <a:rPr b="0" sz="1350">
                <a:solidFill>
                  <a:srgbClr val="1E293B"/>
                </a:solidFill>
                <a:latin typeface="Calibri"/>
              </a:rPr>
              <a:t>100% proprietary source code, system architecture, and branding owned entirely by the student founding team.</a:t>
            </a:r>
          </a:p>
          <a:p>
            <a:pPr>
              <a:spcAft>
                <a:spcPts val="1200"/>
              </a:spcAft>
            </a:pPr>
            <a:r>
              <a:rPr b="1" sz="1350">
                <a:solidFill>
                  <a:srgbClr val="059669"/>
                </a:solidFill>
                <a:latin typeface="Calibri"/>
              </a:rPr>
              <a:t>✔ Customer-Driven Roadmap: </a:t>
            </a:r>
            <a:r>
              <a:rPr b="0" sz="1350">
                <a:solidFill>
                  <a:srgbClr val="1E293B"/>
                </a:solidFill>
                <a:latin typeface="Calibri"/>
              </a:rPr>
              <a:t>Feature development prioritized strictly based on direct restaurant manager feedback and measurable ROI.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7286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Calibri"/>
              </a:defRPr>
            </a:pPr>
            <a:r>
              <a:t>Thank You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32688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4338CA"/>
                </a:solidFill>
                <a:latin typeface="Calibri"/>
              </a:defRPr>
            </a:pPr>
            <a:r>
              <a:t>K. D. Polytechnic, Patan | Department of Computer Engineering | Minor Project (DI05000341) | Slide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17320"/>
            <a:ext cx="9448495" cy="4937760"/>
          </a:xfrm>
          <a:prstGeom prst="roundRect">
            <a:avLst/>
          </a:prstGeom>
          <a:solidFill>
            <a:srgbClr val="F8FAFC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3400">
                <a:solidFill>
                  <a:srgbClr val="0F172A"/>
                </a:solidFill>
                <a:latin typeface="Calibri"/>
              </a:defRPr>
            </a:pPr>
            <a:r>
              <a:t>THANK YOU!</a:t>
            </a:r>
          </a:p>
          <a:p>
            <a:pPr algn="ctr">
              <a:spcAft>
                <a:spcPts val="1600"/>
              </a:spcAft>
              <a:defRPr b="1" sz="1800">
                <a:solidFill>
                  <a:srgbClr val="4338CA"/>
                </a:solidFill>
                <a:latin typeface="Calibri"/>
              </a:defRPr>
            </a:pPr>
            <a:r>
              <a:t>DineFlow AI: Next-Generation Restaurant Cloud POS &amp; ERP</a:t>
            </a:r>
          </a:p>
          <a:p>
            <a:pPr algn="ctr">
              <a:defRPr b="1" sz="1400">
                <a:solidFill>
                  <a:srgbClr val="1E293B"/>
                </a:solidFill>
                <a:latin typeface="Calibri"/>
              </a:defRPr>
            </a:pPr>
            <a:r>
              <a:t>Kilachand Devchand (K. D.) Polytechnic, Patan | Department of Computer Engineering</a:t>
            </a:r>
          </a:p>
          <a:p>
            <a:pPr algn="ctr">
              <a:spcAft>
                <a:spcPts val="2000"/>
              </a:spcAft>
              <a:defRPr sz="1300">
                <a:solidFill>
                  <a:srgbClr val="64748B"/>
                </a:solidFill>
                <a:latin typeface="Calibri"/>
              </a:defRPr>
            </a:pPr>
            <a:r>
              <a:t>Diploma in Computer Engineering | 5th Semester | Academic Year 2026-27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Live Application URL: https://dineflowai.duckdns.org</a:t>
            </a:r>
          </a:p>
          <a:p>
            <a:pPr algn="ctr">
              <a:defRPr b="1" sz="1450">
                <a:solidFill>
                  <a:srgbClr val="4338CA"/>
                </a:solidFill>
                <a:latin typeface="Calibri"/>
              </a:defRPr>
            </a:pPr>
            <a:r>
              <a:t>Source Code Repository: https://github.com/Shubh-Patel-07/DineFlow-AI.git</a:t>
            </a:r>
          </a:p>
          <a:p>
            <a:pPr algn="ctr">
              <a:defRPr b="1" sz="1450">
                <a:solidFill>
                  <a:srgbClr val="059669"/>
                </a:solidFill>
                <a:latin typeface="Calibri"/>
              </a:defRPr>
            </a:pPr>
            <a:r>
              <a:t>Open for Technical Questions &amp; Viva Discussion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