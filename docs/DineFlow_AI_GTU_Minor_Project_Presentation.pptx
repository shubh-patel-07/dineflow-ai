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2194560"/>
          </a:xfrm>
          <a:prstGeom prst="rect">
            <a:avLst/>
          </a:prstGeom>
          <a:noFill/>
        </p:spPr>
        <p:txBody>
          <a:bodyPr wrap="square">
            <a:spAutoFit/>
          </a:bodyPr>
          <a:lstStyle/>
          <a:p>
            <a:pPr algn="ctr">
              <a:defRPr sz="1400" b="1">
                <a:solidFill>
                  <a:srgbClr val="F59E0B"/>
                </a:solidFill>
                <a:latin typeface="Segoe UI"/>
              </a:defRPr>
            </a:pPr>
            <a:r>
              <a:t>GUJARAT TECHNOLOGICAL UNIVERSITY</a:t>
            </a:r>
          </a:p>
          <a:p>
            <a:pPr algn="ctr">
              <a:defRPr sz="1600" b="1">
                <a:solidFill>
                  <a:srgbClr val="94A3B8"/>
                </a:solidFill>
                <a:latin typeface="Segoe UI"/>
              </a:defRPr>
            </a:pPr>
            <a:r>
              <a:t>K. D. POLYTECHNIC, PATAN</a:t>
            </a:r>
          </a:p>
          <a:p>
            <a:pPr algn="ctr">
              <a:defRPr sz="2800" b="1">
                <a:solidFill>
                  <a:srgbClr val="F8FAFC"/>
                </a:solidFill>
                <a:latin typeface="Segoe UI"/>
              </a:defRPr>
            </a:pPr>
            <a:r>
              <a:t>DineFlow AI: Next-Gen Restaurant Cloud POS, Contactless QR Ordering &amp; ERP</a:t>
            </a:r>
          </a:p>
          <a:p>
            <a:pPr algn="ctr">
              <a:defRPr sz="1200">
                <a:solidFill>
                  <a:srgbClr val="6366F1"/>
                </a:solidFill>
                <a:latin typeface="Segoe UI"/>
              </a:defRPr>
            </a:pPr>
            <a:r>
              <a:t>Diploma in Computer Engineering | Semester 5 | Academic Year 2026-27 | Code: DI05000341</a:t>
            </a:r>
          </a:p>
        </p:txBody>
      </p:sp>
      <p:sp>
        <p:nvSpPr>
          <p:cNvPr id="4" name="TextBox 3"/>
          <p:cNvSpPr txBox="1"/>
          <p:nvPr/>
        </p:nvSpPr>
        <p:spPr>
          <a:xfrm>
            <a:off x="914400" y="3291840"/>
            <a:ext cx="5029200" cy="2926080"/>
          </a:xfrm>
          <a:prstGeom prst="rect">
            <a:avLst/>
          </a:prstGeom>
          <a:noFill/>
        </p:spPr>
        <p:txBody>
          <a:bodyPr wrap="square">
            <a:spAutoFit/>
          </a:bodyPr>
          <a:lstStyle/>
          <a:p>
            <a:pPr>
              <a:defRPr b="1" sz="1300">
                <a:solidFill>
                  <a:srgbClr val="10B981"/>
                </a:solidFill>
              </a:defRPr>
            </a:pPr>
            <a:r>
              <a:t>PROJECT TEAM MEMBERS:</a:t>
            </a:r>
          </a:p>
          <a:p>
            <a:pPr>
              <a:defRPr sz="1200">
                <a:solidFill>
                  <a:srgbClr val="F8FAFC"/>
                </a:solidFill>
              </a:defRPr>
            </a:pPr>
            <a:r>
              <a:t>• 1. PATEL SHUBH MAHESHKUMAR — 246310307123 (Project Lead)</a:t>
            </a:r>
          </a:p>
          <a:p>
            <a:pPr>
              <a:defRPr sz="1200">
                <a:solidFill>
                  <a:srgbClr val="F8FAFC"/>
                </a:solidFill>
              </a:defRPr>
            </a:pPr>
            <a:r>
              <a:t>• 2. [Student 2 Full Name] — [Enrollment No. 2]</a:t>
            </a:r>
          </a:p>
          <a:p>
            <a:pPr>
              <a:defRPr sz="1200">
                <a:solidFill>
                  <a:srgbClr val="F8FAFC"/>
                </a:solidFill>
              </a:defRPr>
            </a:pPr>
            <a:r>
              <a:t>• 3. [Student 3 Full Name] — [Enrollment No. 3]</a:t>
            </a:r>
          </a:p>
          <a:p>
            <a:pPr>
              <a:defRPr sz="1200">
                <a:solidFill>
                  <a:srgbClr val="F8FAFC"/>
                </a:solidFill>
              </a:defRPr>
            </a:pPr>
            <a:r>
              <a:t>• 4. [Student 4 Full Name] — [Enrollment No. 4]</a:t>
            </a:r>
          </a:p>
        </p:txBody>
      </p:sp>
      <p:sp>
        <p:nvSpPr>
          <p:cNvPr id="5" name="TextBox 4"/>
          <p:cNvSpPr txBox="1"/>
          <p:nvPr/>
        </p:nvSpPr>
        <p:spPr>
          <a:xfrm>
            <a:off x="6583680" y="3291840"/>
            <a:ext cx="4663440" cy="2926080"/>
          </a:xfrm>
          <a:prstGeom prst="rect">
            <a:avLst/>
          </a:prstGeom>
          <a:noFill/>
        </p:spPr>
        <p:txBody>
          <a:bodyPr wrap="square">
            <a:spAutoFit/>
          </a:bodyPr>
          <a:lstStyle/>
          <a:p>
            <a:pPr>
              <a:defRPr b="1" sz="1300">
                <a:solidFill>
                  <a:srgbClr val="6366F1"/>
                </a:solidFill>
              </a:defRPr>
            </a:pPr>
            <a:r>
              <a:t>ACADEMIC GUIDANCE:</a:t>
            </a:r>
          </a:p>
          <a:p>
            <a:pPr>
              <a:defRPr b="1" sz="1200">
                <a:solidFill>
                  <a:srgbClr val="F8FAFC"/>
                </a:solidFill>
              </a:defRPr>
            </a:pPr>
            <a:r>
              <a:t>Project Guide: Prof. Yagnesh Patel</a:t>
            </a:r>
          </a:p>
          <a:p>
            <a:pPr>
              <a:defRPr sz="1100">
                <a:solidFill>
                  <a:srgbClr val="94A3B8"/>
                </a:solidFill>
              </a:defRPr>
            </a:pPr>
            <a:r>
              <a:t>  (Lecturer, Computer Engg. Dept.)</a:t>
            </a:r>
          </a:p>
          <a:p>
            <a:pPr>
              <a:defRPr b="1" sz="1200">
                <a:solidFill>
                  <a:srgbClr val="F8FAFC"/>
                </a:solidFill>
              </a:defRPr>
            </a:pPr>
            <a:r>
              <a:t>Head of Department: Dr. Chirag D. Patel</a:t>
            </a:r>
          </a:p>
          <a:p>
            <a:pPr>
              <a:defRPr sz="1100">
                <a:solidFill>
                  <a:srgbClr val="94A3B8"/>
                </a:solidFill>
              </a:defRPr>
            </a:pPr>
            <a:r>
              <a:t>  (Head, Computer Engg. Dept.)</a:t>
            </a:r>
          </a:p>
          <a:p>
            <a:pPr>
              <a:defRPr b="1" sz="1200">
                <a:solidFill>
                  <a:srgbClr val="F8FAFC"/>
                </a:solidFill>
              </a:defRPr>
            </a:pPr>
            <a:r>
              <a:t>Principal: H. C. Parmar</a:t>
            </a:r>
          </a:p>
          <a:p>
            <a:pPr>
              <a:defRPr sz="1100">
                <a:solidFill>
                  <a:srgbClr val="94A3B8"/>
                </a:solidFill>
              </a:defRPr>
            </a:pPr>
            <a:r>
              <a:t>  (Principal, K. D. Polytechnic, Patan)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Presentation Agenda</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2</a:t>
            </a:r>
          </a:p>
        </p:txBody>
      </p:sp>
      <p:sp>
        <p:nvSpPr>
          <p:cNvPr id="5" name="TextBox 4"/>
          <p:cNvSpPr txBox="1"/>
          <p:nvPr/>
        </p:nvSpPr>
        <p:spPr>
          <a:xfrm>
            <a:off x="914400" y="1463040"/>
            <a:ext cx="10332720" cy="4754880"/>
          </a:xfrm>
          <a:prstGeom prst="rect">
            <a:avLst/>
          </a:prstGeom>
          <a:noFill/>
        </p:spPr>
        <p:txBody>
          <a:bodyPr wrap="none">
            <a:spAutoFit/>
          </a:bodyPr>
          <a:lstStyle/>
          <a:p/>
          <a:p>
            <a:pPr>
              <a:defRPr b="1" sz="1400">
                <a:solidFill>
                  <a:srgbClr val="6366F1"/>
                </a:solidFill>
              </a:defRPr>
            </a:pPr>
            <a:r>
              <a:t>[1]  Problem Identification &amp; Project Objectives</a:t>
            </a:r>
          </a:p>
          <a:p>
            <a:pPr>
              <a:defRPr sz="1150">
                <a:solidFill>
                  <a:srgbClr val="94A3B8"/>
                </a:solidFill>
              </a:defRPr>
            </a:pPr>
            <a:r>
              <a:t>      Peak-hour bottleneck, food wastage, and project targets</a:t>
            </a:r>
          </a:p>
          <a:p>
            <a:pPr>
              <a:defRPr b="1" sz="1400">
                <a:solidFill>
                  <a:srgbClr val="6366F1"/>
                </a:solidFill>
              </a:defRPr>
            </a:pPr>
            <a:r>
              <a:t>[2]  Literature Survey &amp; Research Gap Analysis</a:t>
            </a:r>
          </a:p>
          <a:p>
            <a:pPr>
              <a:defRPr sz="1150">
                <a:solidFill>
                  <a:srgbClr val="94A3B8"/>
                </a:solidFill>
              </a:defRPr>
            </a:pPr>
            <a:r>
              <a:t>      Evaluation of Petpooja, Toast POS, POSist &amp; open-source solutions</a:t>
            </a:r>
          </a:p>
          <a:p>
            <a:pPr>
              <a:defRPr b="1" sz="1400">
                <a:solidFill>
                  <a:srgbClr val="6366F1"/>
                </a:solidFill>
              </a:defRPr>
            </a:pPr>
            <a:r>
              <a:t>[3]  Alternative Solutions &amp; Selection Justification</a:t>
            </a:r>
          </a:p>
          <a:p>
            <a:pPr>
              <a:defRPr sz="1150">
                <a:solidFill>
                  <a:srgbClr val="94A3B8"/>
                </a:solidFill>
              </a:defRPr>
            </a:pPr>
            <a:r>
              <a:t>      Desktop vs. Hardware Terminal vs. Modern PWA Cloud Architecture</a:t>
            </a:r>
          </a:p>
          <a:p>
            <a:pPr>
              <a:defRPr b="1" sz="1400">
                <a:solidFill>
                  <a:srgbClr val="6366F1"/>
                </a:solidFill>
              </a:defRPr>
            </a:pPr>
            <a:r>
              <a:t>[4]  System Design &amp; Multi-Tenant Architecture</a:t>
            </a:r>
          </a:p>
          <a:p>
            <a:pPr>
              <a:defRPr sz="1150">
                <a:solidFill>
                  <a:srgbClr val="94A3B8"/>
                </a:solidFill>
              </a:defRPr>
            </a:pPr>
            <a:r>
              <a:t>      Block diagrams, database schema, and transaction flowcharts</a:t>
            </a:r>
          </a:p>
          <a:p>
            <a:pPr>
              <a:defRPr b="1" sz="1400">
                <a:solidFill>
                  <a:srgbClr val="6366F1"/>
                </a:solidFill>
              </a:defRPr>
            </a:pPr>
            <a:r>
              <a:t>[5]  Implementation, Hardware Integration &amp; 14-Week Plan</a:t>
            </a:r>
          </a:p>
          <a:p>
            <a:pPr>
              <a:defRPr sz="1150">
                <a:solidFill>
                  <a:srgbClr val="94A3B8"/>
                </a:solidFill>
              </a:defRPr>
            </a:pPr>
            <a:r>
              <a:t>      ESC/POS silent printing, live KDS, Web Audio Gujarati Soundbox</a:t>
            </a:r>
          </a:p>
          <a:p>
            <a:pPr>
              <a:defRPr b="1" sz="1400">
                <a:solidFill>
                  <a:srgbClr val="6366F1"/>
                </a:solidFill>
              </a:defRPr>
            </a:pPr>
            <a:r>
              <a:t>[6]  Testing, Verification &amp; Post-Testing Modifications</a:t>
            </a:r>
          </a:p>
          <a:p>
            <a:pPr>
              <a:defRPr sz="1150">
                <a:solidFill>
                  <a:srgbClr val="94A3B8"/>
                </a:solidFill>
              </a:defRPr>
            </a:pPr>
            <a:r>
              <a:t>      24 automated test suites, IDOR security &amp; real-time socket optimization</a:t>
            </a:r>
          </a:p>
          <a:p>
            <a:pPr>
              <a:defRPr b="1" sz="1400">
                <a:solidFill>
                  <a:srgbClr val="6366F1"/>
                </a:solidFill>
              </a:defRPr>
            </a:pPr>
            <a:r>
              <a:t>[7]  Conclusion, Future Scope &amp; SSIP 2.0 Entrepreneurship</a:t>
            </a:r>
          </a:p>
          <a:p>
            <a:pPr>
              <a:defRPr sz="1150">
                <a:solidFill>
                  <a:srgbClr val="94A3B8"/>
                </a:solidFill>
              </a:defRPr>
            </a:pPr>
            <a:r>
              <a:t>      Commercial validation at dineflowai.duckdns.org &amp; SSIP startup potential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Problem Statement &amp; Industry Context</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3</a:t>
            </a:r>
          </a:p>
        </p:txBody>
      </p:sp>
      <p:sp>
        <p:nvSpPr>
          <p:cNvPr id="5" name="TextBox 4"/>
          <p:cNvSpPr txBox="1"/>
          <p:nvPr/>
        </p:nvSpPr>
        <p:spPr>
          <a:xfrm>
            <a:off x="914400" y="1463040"/>
            <a:ext cx="6583680" cy="4754880"/>
          </a:xfrm>
          <a:prstGeom prst="rect">
            <a:avLst/>
          </a:prstGeom>
          <a:noFill/>
        </p:spPr>
        <p:txBody>
          <a:bodyPr wrap="square">
            <a:spAutoFit/>
          </a:bodyPr>
          <a:lstStyle/>
          <a:p>
            <a:pPr>
              <a:defRPr b="1" sz="1600">
                <a:solidFill>
                  <a:srgbClr val="F59E0B"/>
                </a:solidFill>
              </a:defRPr>
            </a:pPr>
            <a:r>
              <a:t>The Core Restaurant Operations Bottleneck:</a:t>
            </a:r>
          </a:p>
          <a:p>
            <a:pPr>
              <a:defRPr sz="1300">
                <a:solidFill>
                  <a:srgbClr val="F8FAFC"/>
                </a:solidFill>
              </a:defRPr>
            </a:pPr>
            <a:r>
              <a:t>In India's fast-growing hospitality industry, over 80% of independent restaurants and cafes still rely on manual paper KOTs (Kitchen Order Tickets) or legacy desktop billing machines. During dinner rush hours, wait staff spend 15–20 minutes writing orders, walking to kitchens, and re-entering bills, leading to severe order inaccuracies, lost revenue, and customer frustration.</a:t>
            </a:r>
          </a:p>
          <a:p>
            <a:pPr>
              <a:defRPr b="1" sz="1300">
                <a:solidFill>
                  <a:srgbClr val="6366F1"/>
                </a:solidFill>
              </a:defRPr>
            </a:pPr>
            <a:r>
              <a:t>• Current Method: Physical paper notepad order taking and manual cashier billing.</a:t>
            </a:r>
          </a:p>
          <a:p>
            <a:pPr>
              <a:defRPr b="1" sz="1300">
                <a:solidFill>
                  <a:srgbClr val="6366F1"/>
                </a:solidFill>
              </a:defRPr>
            </a:pPr>
            <a:r>
              <a:t>• Main Limitations: Frequent paper KOT misplacement, lack of real-time inventory depletion, and heavy ₹10,000+ annual menu reprinting expenses.</a:t>
            </a:r>
          </a:p>
          <a:p>
            <a:pPr>
              <a:defRPr b="1" sz="1300">
                <a:solidFill>
                  <a:srgbClr val="6366F1"/>
                </a:solidFill>
              </a:defRPr>
            </a:pPr>
            <a:r>
              <a:t>• Who Benefits: Restaurant owners (higher turnover &amp; zero theft), kitchen chefs (instant clean digital KDS), and customers (contactless QR ordering &amp; transparent billing).</a:t>
            </a:r>
          </a:p>
        </p:txBody>
      </p:sp>
      <p:sp>
        <p:nvSpPr>
          <p:cNvPr id="6" name="Rounded Rectangle 5"/>
          <p:cNvSpPr/>
          <p:nvPr/>
        </p:nvSpPr>
        <p:spPr>
          <a:xfrm>
            <a:off x="7863840" y="1645920"/>
            <a:ext cx="3383280" cy="438912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4400">
                <a:solidFill>
                  <a:srgbClr val="F59E0B"/>
                </a:solidFill>
              </a:defRPr>
            </a:pPr>
            <a:r>
              <a:t>73%</a:t>
            </a:r>
          </a:p>
          <a:p>
            <a:pPr algn="ctr">
              <a:defRPr sz="1200">
                <a:solidFill>
                  <a:srgbClr val="F8FAFC"/>
                </a:solidFill>
              </a:defRPr>
            </a:pPr>
            <a:r>
              <a:t>of Indian casual dine-in restaurants face peak-hour order bottlenecks and 18-22% food margin erosion due to manual tracking.</a:t>
            </a:r>
          </a:p>
          <a:p>
            <a:br/>
            <a:pPr algn="ctr">
              <a:defRPr sz="1000" i="1">
                <a:solidFill>
                  <a:srgbClr val="94A3B8"/>
                </a:solidFill>
              </a:defRPr>
            </a:pPr>
            <a:r>
              <a:t>Source: National Restaurant Association of India (NRAI) Research Report &amp; FSSAI Waste Audit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Project Objectives &amp; Measurable Targets</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4</a:t>
            </a:r>
          </a:p>
        </p:txBody>
      </p:sp>
      <p:sp>
        <p:nvSpPr>
          <p:cNvPr id="5" name="Rounded Rectangle 4"/>
          <p:cNvSpPr/>
          <p:nvPr/>
        </p:nvSpPr>
        <p:spPr>
          <a:xfrm>
            <a:off x="91440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Objective 1: Ultra-Fast Cloud POS Billing</a:t>
            </a:r>
          </a:p>
          <a:p>
            <a:pPr>
              <a:defRPr sz="1150">
                <a:solidFill>
                  <a:srgbClr val="F8FAFC"/>
                </a:solidFill>
              </a:defRPr>
            </a:pPr>
            <a:r>
              <a:t>• Build a lightning-fast Web POS cashier interface operating in sub-3 seconds per bill.</a:t>
            </a:r>
            <a:br/>
            <a:r>
              <a:t>• Support full keyboard shortcuts (F1-F9) and direct silent ESC/POS thermal printing without browser print dialogues.</a:t>
            </a:r>
            <a:br/>
            <a:r>
              <a:t>• Multi-modal payments: UPI QR code generator, Cash, Card, and split billing.</a:t>
            </a:r>
          </a:p>
        </p:txBody>
      </p:sp>
      <p:sp>
        <p:nvSpPr>
          <p:cNvPr id="6" name="Rounded Rectangle 5"/>
          <p:cNvSpPr/>
          <p:nvPr/>
        </p:nvSpPr>
        <p:spPr>
          <a:xfrm>
            <a:off x="443484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Objective 2: Contactless QR Menu &amp; Live KDS</a:t>
            </a:r>
          </a:p>
          <a:p>
            <a:pPr>
              <a:defRPr sz="1150">
                <a:solidFill>
                  <a:srgbClr val="F8FAFC"/>
                </a:solidFill>
              </a:defRPr>
            </a:pPr>
            <a:r>
              <a:t>• Implement dynamic table-based QR code ordering requiring zero app installation for customers.</a:t>
            </a:r>
            <a:br/>
            <a:r>
              <a:t>• Direct wireless order transmission from table to kitchen display (KDS) in under 200ms.</a:t>
            </a:r>
            <a:br/>
            <a:r>
              <a:t>• Eliminate paper KOTs and physical menu reprinting costs entirely.</a:t>
            </a:r>
          </a:p>
        </p:txBody>
      </p:sp>
      <p:sp>
        <p:nvSpPr>
          <p:cNvPr id="7" name="Rounded Rectangle 6"/>
          <p:cNvSpPr/>
          <p:nvPr/>
        </p:nvSpPr>
        <p:spPr>
          <a:xfrm>
            <a:off x="7955279"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Objective 3: Recipe ERP &amp; Voice Soundbox</a:t>
            </a:r>
          </a:p>
          <a:p>
            <a:pPr>
              <a:defRPr sz="1150">
                <a:solidFill>
                  <a:srgbClr val="F8FAFC"/>
                </a:solidFill>
              </a:defRPr>
            </a:pPr>
            <a:r>
              <a:t>• Automated raw material inventory depletion linked to live menu item recipe bills of materials (BOM).</a:t>
            </a:r>
            <a:br/>
            <a:r>
              <a:t>• Web Audio speech synthesis engine delivering real-time Gujarati &amp; English voice alerts ('નવો ઓર્ડર: ટેબલ ૪').</a:t>
            </a:r>
            <a:br/>
            <a:r>
              <a:t>• Cryptographically isolated multi-tenant architecture on AWS EC2 cloud infrastructure.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Literature Survey &amp; Research Gap</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5</a:t>
            </a:r>
          </a:p>
        </p:txBody>
      </p:sp>
      <p:graphicFrame>
        <p:nvGraphicFramePr>
          <p:cNvPr id="5" name="Table 4"/>
          <p:cNvGraphicFramePr>
            <a:graphicFrameLocks noGrp="1"/>
          </p:cNvGraphicFramePr>
          <p:nvPr/>
        </p:nvGraphicFramePr>
        <p:xfrm>
          <a:off x="914400" y="1463040"/>
          <a:ext cx="10332720" cy="3474720"/>
        </p:xfrm>
        <a:graphic>
          <a:graphicData uri="http://schemas.openxmlformats.org/drawingml/2006/table">
            <a:tbl>
              <a:tblPr firstRow="1" bandRow="1">
                <a:tableStyleId>{5C22544A-7EE6-4342-B048-85BDC9FD1C3A}</a:tableStyleId>
              </a:tblPr>
              <a:tblGrid>
                <a:gridCol w="2286000"/>
                <a:gridCol w="2011680"/>
                <a:gridCol w="3474720"/>
                <a:gridCol w="2560320"/>
              </a:tblGrid>
              <a:tr h="694944">
                <a:tc>
                  <a:txBody>
                    <a:bodyPr/>
                    <a:lstStyle/>
                    <a:p>
                      <a:pPr>
                        <a:defRPr b="1" sz="1100">
                          <a:solidFill>
                            <a:srgbClr val="F8FAFC"/>
                          </a:solidFill>
                        </a:defRPr>
                      </a:pPr>
                      <a:r>
                        <a:t>Existing System / Source</a:t>
                      </a:r>
                    </a:p>
                  </a:txBody>
                  <a:tcPr>
                    <a:solidFill>
                      <a:srgbClr val="6366F1"/>
                    </a:solidFill>
                  </a:tcPr>
                </a:tc>
                <a:tc>
                  <a:txBody>
                    <a:bodyPr/>
                    <a:lstStyle/>
                    <a:p>
                      <a:pPr>
                        <a:defRPr b="1" sz="1100">
                          <a:solidFill>
                            <a:srgbClr val="F8FAFC"/>
                          </a:solidFill>
                        </a:defRPr>
                      </a:pPr>
                      <a:r>
                        <a:t>Core Technology</a:t>
                      </a:r>
                    </a:p>
                  </a:txBody>
                  <a:tcPr>
                    <a:solidFill>
                      <a:srgbClr val="6366F1"/>
                    </a:solidFill>
                  </a:tcPr>
                </a:tc>
                <a:tc>
                  <a:txBody>
                    <a:bodyPr/>
                    <a:lstStyle/>
                    <a:p>
                      <a:pPr>
                        <a:defRPr b="1" sz="1100">
                          <a:solidFill>
                            <a:srgbClr val="F8FAFC"/>
                          </a:solidFill>
                        </a:defRPr>
                      </a:pPr>
                      <a:r>
                        <a:t>Working Method</a:t>
                      </a:r>
                    </a:p>
                  </a:txBody>
                  <a:tcPr>
                    <a:solidFill>
                      <a:srgbClr val="6366F1"/>
                    </a:solidFill>
                  </a:tcPr>
                </a:tc>
                <a:tc>
                  <a:txBody>
                    <a:bodyPr/>
                    <a:lstStyle/>
                    <a:p>
                      <a:pPr>
                        <a:defRPr b="1" sz="1100">
                          <a:solidFill>
                            <a:srgbClr val="F8FAFC"/>
                          </a:solidFill>
                        </a:defRPr>
                      </a:pPr>
                      <a:r>
                        <a:t>Identified Gap / Limitation</a:t>
                      </a:r>
                    </a:p>
                  </a:txBody>
                  <a:tcPr>
                    <a:solidFill>
                      <a:srgbClr val="6366F1"/>
                    </a:solidFill>
                  </a:tcPr>
                </a:tc>
              </a:tr>
              <a:tr h="694944">
                <a:tc>
                  <a:txBody>
                    <a:bodyPr/>
                    <a:lstStyle/>
                    <a:p>
                      <a:pPr>
                        <a:defRPr sz="1000">
                          <a:solidFill>
                            <a:srgbClr val="F8FAFC"/>
                          </a:solidFill>
                        </a:defRPr>
                      </a:pPr>
                      <a:r>
                        <a:t>Toast POS (USA, 2023)</a:t>
                      </a:r>
                    </a:p>
                  </a:txBody>
                  <a:tcPr>
                    <a:solidFill>
                      <a:srgbClr val="1E293B"/>
                    </a:solidFill>
                  </a:tcPr>
                </a:tc>
                <a:tc>
                  <a:txBody>
                    <a:bodyPr/>
                    <a:lstStyle/>
                    <a:p>
                      <a:pPr>
                        <a:defRPr sz="1000">
                          <a:solidFill>
                            <a:srgbClr val="F8FAFC"/>
                          </a:solidFill>
                        </a:defRPr>
                      </a:pPr>
                      <a:r>
                        <a:t>Android Proprietary</a:t>
                      </a:r>
                    </a:p>
                  </a:txBody>
                  <a:tcPr>
                    <a:solidFill>
                      <a:srgbClr val="1E293B"/>
                    </a:solidFill>
                  </a:tcPr>
                </a:tc>
                <a:tc>
                  <a:txBody>
                    <a:bodyPr/>
                    <a:lstStyle/>
                    <a:p>
                      <a:pPr>
                        <a:defRPr sz="1000">
                          <a:solidFill>
                            <a:srgbClr val="F8FAFC"/>
                          </a:solidFill>
                        </a:defRPr>
                      </a:pPr>
                      <a:r>
                        <a:t>Cloud POS for large chains</a:t>
                      </a:r>
                    </a:p>
                  </a:txBody>
                  <a:tcPr>
                    <a:solidFill>
                      <a:srgbClr val="1E293B"/>
                    </a:solidFill>
                  </a:tcPr>
                </a:tc>
                <a:tc>
                  <a:txBody>
                    <a:bodyPr/>
                    <a:lstStyle/>
                    <a:p>
                      <a:pPr>
                        <a:defRPr sz="1000">
                          <a:solidFill>
                            <a:srgbClr val="F8FAFC"/>
                          </a:solidFill>
                        </a:defRPr>
                      </a:pPr>
                      <a:r>
                        <a:t>Expensive ($69-$165/mo), proprietary hardware lock-in, zero Indian UPI/GST.</a:t>
                      </a:r>
                    </a:p>
                  </a:txBody>
                  <a:tcPr>
                    <a:solidFill>
                      <a:srgbClr val="1E293B"/>
                    </a:solidFill>
                  </a:tcPr>
                </a:tc>
              </a:tr>
              <a:tr h="694944">
                <a:tc>
                  <a:txBody>
                    <a:bodyPr/>
                    <a:lstStyle/>
                    <a:p>
                      <a:pPr>
                        <a:defRPr sz="1000">
                          <a:solidFill>
                            <a:srgbClr val="F8FAFC"/>
                          </a:solidFill>
                        </a:defRPr>
                      </a:pPr>
                      <a:r>
                        <a:t>Petpooja (India, 2024)</a:t>
                      </a:r>
                    </a:p>
                  </a:txBody>
                  <a:tcPr>
                    <a:solidFill>
                      <a:srgbClr val="1E293B"/>
                    </a:solidFill>
                  </a:tcPr>
                </a:tc>
                <a:tc>
                  <a:txBody>
                    <a:bodyPr/>
                    <a:lstStyle/>
                    <a:p>
                      <a:pPr>
                        <a:defRPr sz="1000">
                          <a:solidFill>
                            <a:srgbClr val="F8FAFC"/>
                          </a:solidFill>
                        </a:defRPr>
                      </a:pPr>
                      <a:r>
                        <a:t>Desktop Windows App</a:t>
                      </a:r>
                    </a:p>
                  </a:txBody>
                  <a:tcPr>
                    <a:solidFill>
                      <a:srgbClr val="1E293B"/>
                    </a:solidFill>
                  </a:tcPr>
                </a:tc>
                <a:tc>
                  <a:txBody>
                    <a:bodyPr/>
                    <a:lstStyle/>
                    <a:p>
                      <a:pPr>
                        <a:defRPr sz="1000">
                          <a:solidFill>
                            <a:srgbClr val="F8FAFC"/>
                          </a:solidFill>
                        </a:defRPr>
                      </a:pPr>
                      <a:r>
                        <a:t>Local client-server billing</a:t>
                      </a:r>
                    </a:p>
                  </a:txBody>
                  <a:tcPr>
                    <a:solidFill>
                      <a:srgbClr val="1E293B"/>
                    </a:solidFill>
                  </a:tcPr>
                </a:tc>
                <a:tc>
                  <a:txBody>
                    <a:bodyPr/>
                    <a:lstStyle/>
                    <a:p>
                      <a:pPr>
                        <a:defRPr sz="1000">
                          <a:solidFill>
                            <a:srgbClr val="F8FAFC"/>
                          </a:solidFill>
                        </a:defRPr>
                      </a:pPr>
                      <a:r>
                        <a:t>Heavy desktop client install required, complex remote sync, slow QR ordering.</a:t>
                      </a:r>
                    </a:p>
                  </a:txBody>
                  <a:tcPr>
                    <a:solidFill>
                      <a:srgbClr val="1E293B"/>
                    </a:solidFill>
                  </a:tcPr>
                </a:tc>
              </a:tr>
              <a:tr h="694944">
                <a:tc>
                  <a:txBody>
                    <a:bodyPr/>
                    <a:lstStyle/>
                    <a:p>
                      <a:pPr>
                        <a:defRPr sz="1000">
                          <a:solidFill>
                            <a:srgbClr val="F8FAFC"/>
                          </a:solidFill>
                        </a:defRPr>
                      </a:pPr>
                      <a:r>
                        <a:t>POSist / Restroworks (2023)</a:t>
                      </a:r>
                    </a:p>
                  </a:txBody>
                  <a:tcPr>
                    <a:solidFill>
                      <a:srgbClr val="1E293B"/>
                    </a:solidFill>
                  </a:tcPr>
                </a:tc>
                <a:tc>
                  <a:txBody>
                    <a:bodyPr/>
                    <a:lstStyle/>
                    <a:p>
                      <a:pPr>
                        <a:defRPr sz="1000">
                          <a:solidFill>
                            <a:srgbClr val="F8FAFC"/>
                          </a:solidFill>
                        </a:defRPr>
                      </a:pPr>
                      <a:r>
                        <a:t>Enterprise Cloud SaaS</a:t>
                      </a:r>
                    </a:p>
                  </a:txBody>
                  <a:tcPr>
                    <a:solidFill>
                      <a:srgbClr val="1E293B"/>
                    </a:solidFill>
                  </a:tcPr>
                </a:tc>
                <a:tc>
                  <a:txBody>
                    <a:bodyPr/>
                    <a:lstStyle/>
                    <a:p>
                      <a:pPr>
                        <a:defRPr sz="1000">
                          <a:solidFill>
                            <a:srgbClr val="F8FAFC"/>
                          </a:solidFill>
                        </a:defRPr>
                      </a:pPr>
                      <a:r>
                        <a:t>Multi-brand centralized ERP</a:t>
                      </a:r>
                    </a:p>
                  </a:txBody>
                  <a:tcPr>
                    <a:solidFill>
                      <a:srgbClr val="1E293B"/>
                    </a:solidFill>
                  </a:tcPr>
                </a:tc>
                <a:tc>
                  <a:txBody>
                    <a:bodyPr/>
                    <a:lstStyle/>
                    <a:p>
                      <a:pPr>
                        <a:defRPr sz="1000">
                          <a:solidFill>
                            <a:srgbClr val="F8FAFC"/>
                          </a:solidFill>
                        </a:defRPr>
                      </a:pPr>
                      <a:r>
                        <a:t>High subscription cost, steep learning curve, no vernacular voice soundbox.</a:t>
                      </a:r>
                    </a:p>
                  </a:txBody>
                  <a:tcPr>
                    <a:solidFill>
                      <a:srgbClr val="1E293B"/>
                    </a:solidFill>
                  </a:tcPr>
                </a:tc>
              </a:tr>
              <a:tr h="694944">
                <a:tc>
                  <a:txBody>
                    <a:bodyPr/>
                    <a:lstStyle/>
                    <a:p>
                      <a:pPr>
                        <a:defRPr sz="1000">
                          <a:solidFill>
                            <a:srgbClr val="F8FAFC"/>
                          </a:solidFill>
                        </a:defRPr>
                      </a:pPr>
                      <a:r>
                        <a:t>Manual Paper Tokens (Traditional)</a:t>
                      </a:r>
                    </a:p>
                  </a:txBody>
                  <a:tcPr>
                    <a:solidFill>
                      <a:srgbClr val="1E293B"/>
                    </a:solidFill>
                  </a:tcPr>
                </a:tc>
                <a:tc>
                  <a:txBody>
                    <a:bodyPr/>
                    <a:lstStyle/>
                    <a:p>
                      <a:pPr>
                        <a:defRPr sz="1000">
                          <a:solidFill>
                            <a:srgbClr val="F8FAFC"/>
                          </a:solidFill>
                        </a:defRPr>
                      </a:pPr>
                      <a:r>
                        <a:t>Pen &amp; Paper / Token</a:t>
                      </a:r>
                    </a:p>
                  </a:txBody>
                  <a:tcPr>
                    <a:solidFill>
                      <a:srgbClr val="1E293B"/>
                    </a:solidFill>
                  </a:tcPr>
                </a:tc>
                <a:tc>
                  <a:txBody>
                    <a:bodyPr/>
                    <a:lstStyle/>
                    <a:p>
                      <a:pPr>
                        <a:defRPr sz="1000">
                          <a:solidFill>
                            <a:srgbClr val="F8FAFC"/>
                          </a:solidFill>
                        </a:defRPr>
                      </a:pPr>
                      <a:r>
                        <a:t>Handwritten KOT slips</a:t>
                      </a:r>
                    </a:p>
                  </a:txBody>
                  <a:tcPr>
                    <a:solidFill>
                      <a:srgbClr val="1E293B"/>
                    </a:solidFill>
                  </a:tcPr>
                </a:tc>
                <a:tc>
                  <a:txBody>
                    <a:bodyPr/>
                    <a:lstStyle/>
                    <a:p>
                      <a:pPr>
                        <a:defRPr sz="1000">
                          <a:solidFill>
                            <a:srgbClr val="F8FAFC"/>
                          </a:solidFill>
                        </a:defRPr>
                      </a:pPr>
                      <a:r>
                        <a:t>High error rate (15-20%), lost slips, zero inventory visibility, zero analytics.</a:t>
                      </a:r>
                    </a:p>
                  </a:txBody>
                  <a:tcPr>
                    <a:solidFill>
                      <a:srgbClr val="1E293B"/>
                    </a:solidFill>
                  </a:tcPr>
                </a:tc>
              </a:tr>
            </a:tbl>
          </a:graphicData>
        </a:graphic>
      </p:graphicFrame>
      <p:sp>
        <p:nvSpPr>
          <p:cNvPr id="6" name="TextBox 5"/>
          <p:cNvSpPr txBox="1"/>
          <p:nvPr/>
        </p:nvSpPr>
        <p:spPr>
          <a:xfrm>
            <a:off x="914400" y="5303520"/>
            <a:ext cx="10332720" cy="1097280"/>
          </a:xfrm>
          <a:prstGeom prst="rect">
            <a:avLst/>
          </a:prstGeom>
          <a:noFill/>
        </p:spPr>
        <p:txBody>
          <a:bodyPr wrap="square">
            <a:spAutoFit/>
          </a:bodyPr>
          <a:lstStyle/>
          <a:p>
            <a:pPr>
              <a:defRPr b="1" sz="1250">
                <a:solidFill>
                  <a:srgbClr val="10B981"/>
                </a:solidFill>
              </a:defRPr>
            </a:pPr>
            <a:r>
              <a:t>RESEARCH GAP IDENTIFIED:</a:t>
            </a:r>
          </a:p>
          <a:p>
            <a:pPr>
              <a:defRPr sz="1150">
                <a:solidFill>
                  <a:srgbClr val="F8FAFC"/>
                </a:solidFill>
              </a:defRPr>
            </a:pPr>
            <a:r>
              <a:t>Existing solutions are either expensive and locked to proprietary hardware or limited to clunky offline desktop apps. There is a clear market need for an affordable, hardware-agnostic Cloud PWA POS combining instantaneous QR table ordering, live KDS, raw-material recipe costing, and regional Gujarati voice alerts.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Alternative Solutions &amp; Selection Justification</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6</a:t>
            </a:r>
          </a:p>
        </p:txBody>
      </p:sp>
      <p:graphicFrame>
        <p:nvGraphicFramePr>
          <p:cNvPr id="5" name="Table 4"/>
          <p:cNvGraphicFramePr>
            <a:graphicFrameLocks noGrp="1"/>
          </p:cNvGraphicFramePr>
          <p:nvPr/>
        </p:nvGraphicFramePr>
        <p:xfrm>
          <a:off x="914400" y="1463040"/>
          <a:ext cx="10332720" cy="3474720"/>
        </p:xfrm>
        <a:graphic>
          <a:graphicData uri="http://schemas.openxmlformats.org/drawingml/2006/table">
            <a:tbl>
              <a:tblPr firstRow="1" bandRow="1">
                <a:tableStyleId>{5C22544A-7EE6-4342-B048-85BDC9FD1C3A}</a:tableStyleId>
              </a:tblPr>
              <a:tblGrid>
                <a:gridCol w="2286000"/>
                <a:gridCol w="2560320"/>
                <a:gridCol w="2560320"/>
                <a:gridCol w="2926080"/>
              </a:tblGrid>
              <a:tr h="694944">
                <a:tc>
                  <a:txBody>
                    <a:bodyPr/>
                    <a:lstStyle/>
                    <a:p>
                      <a:pPr>
                        <a:defRPr b="1" sz="1050">
                          <a:solidFill>
                            <a:srgbClr val="F8FAFC"/>
                          </a:solidFill>
                        </a:defRPr>
                      </a:pPr>
                      <a:r>
                        <a:t>Comparison Criteria</a:t>
                      </a:r>
                    </a:p>
                  </a:txBody>
                  <a:tcPr>
                    <a:solidFill>
                      <a:srgbClr val="6366F1"/>
                    </a:solidFill>
                  </a:tcPr>
                </a:tc>
                <a:tc>
                  <a:txBody>
                    <a:bodyPr/>
                    <a:lstStyle/>
                    <a:p>
                      <a:pPr>
                        <a:defRPr b="1" sz="1050">
                          <a:solidFill>
                            <a:srgbClr val="F8FAFC"/>
                          </a:solidFill>
                        </a:defRPr>
                      </a:pPr>
                      <a:r>
                        <a:t>Option A: Desktop App (C# / .NET)</a:t>
                      </a:r>
                    </a:p>
                  </a:txBody>
                  <a:tcPr>
                    <a:solidFill>
                      <a:srgbClr val="6366F1"/>
                    </a:solidFill>
                  </a:tcPr>
                </a:tc>
                <a:tc>
                  <a:txBody>
                    <a:bodyPr/>
                    <a:lstStyle/>
                    <a:p>
                      <a:pPr>
                        <a:defRPr b="1" sz="1050">
                          <a:solidFill>
                            <a:srgbClr val="F8FAFC"/>
                          </a:solidFill>
                        </a:defRPr>
                      </a:pPr>
                      <a:r>
                        <a:t>Option B: Dedicated Hardware Terminal</a:t>
                      </a:r>
                    </a:p>
                  </a:txBody>
                  <a:tcPr>
                    <a:solidFill>
                      <a:srgbClr val="6366F1"/>
                    </a:solidFill>
                  </a:tcPr>
                </a:tc>
                <a:tc>
                  <a:txBody>
                    <a:bodyPr/>
                    <a:lstStyle/>
                    <a:p>
                      <a:pPr>
                        <a:defRPr b="1" sz="1050">
                          <a:solidFill>
                            <a:srgbClr val="F8FAFC"/>
                          </a:solidFill>
                        </a:defRPr>
                      </a:pPr>
                      <a:r>
                        <a:t>Option C (Selected): Cloud PWA (Laravel + JS)</a:t>
                      </a:r>
                    </a:p>
                  </a:txBody>
                  <a:tcPr>
                    <a:solidFill>
                      <a:srgbClr val="6366F1"/>
                    </a:solidFill>
                  </a:tcPr>
                </a:tc>
              </a:tr>
              <a:tr h="694944">
                <a:tc>
                  <a:txBody>
                    <a:bodyPr/>
                    <a:lstStyle/>
                    <a:p>
                      <a:pPr>
                        <a:defRPr sz="1000">
                          <a:solidFill>
                            <a:srgbClr val="F8FAFC"/>
                          </a:solidFill>
                        </a:defRPr>
                      </a:pPr>
                      <a:r>
                        <a:t>Architecture</a:t>
                      </a:r>
                    </a:p>
                  </a:txBody>
                  <a:tcPr>
                    <a:solidFill>
                      <a:srgbClr val="1E293B"/>
                    </a:solidFill>
                  </a:tcPr>
                </a:tc>
                <a:tc>
                  <a:txBody>
                    <a:bodyPr/>
                    <a:lstStyle/>
                    <a:p>
                      <a:pPr>
                        <a:defRPr sz="1000">
                          <a:solidFill>
                            <a:srgbClr val="F8FAFC"/>
                          </a:solidFill>
                        </a:defRPr>
                      </a:pPr>
                      <a:r>
                        <a:t>Local Windows .NET + SQLite</a:t>
                      </a:r>
                    </a:p>
                  </a:txBody>
                  <a:tcPr>
                    <a:solidFill>
                      <a:srgbClr val="1E293B"/>
                    </a:solidFill>
                  </a:tcPr>
                </a:tc>
                <a:tc>
                  <a:txBody>
                    <a:bodyPr/>
                    <a:lstStyle/>
                    <a:p>
                      <a:pPr>
                        <a:defRPr sz="1000">
                          <a:solidFill>
                            <a:srgbClr val="F8FAFC"/>
                          </a:solidFill>
                        </a:defRPr>
                      </a:pPr>
                      <a:r>
                        <a:t>Proprietary Embedded Android Terminal</a:t>
                      </a:r>
                    </a:p>
                  </a:txBody>
                  <a:tcPr>
                    <a:solidFill>
                      <a:srgbClr val="1E293B"/>
                    </a:solidFill>
                  </a:tcPr>
                </a:tc>
                <a:tc>
                  <a:txBody>
                    <a:bodyPr/>
                    <a:lstStyle/>
                    <a:p>
                      <a:pPr>
                        <a:defRPr sz="1000">
                          <a:solidFill>
                            <a:srgbClr val="F8FAFC"/>
                          </a:solidFill>
                        </a:defRPr>
                      </a:pPr>
                      <a:r>
                        <a:t>Cloud Multi-Tenant SaaS (Laravel 11 + PWA)</a:t>
                      </a:r>
                    </a:p>
                  </a:txBody>
                  <a:tcPr>
                    <a:solidFill>
                      <a:srgbClr val="1E293B"/>
                    </a:solidFill>
                  </a:tcPr>
                </a:tc>
              </a:tr>
              <a:tr h="694944">
                <a:tc>
                  <a:txBody>
                    <a:bodyPr/>
                    <a:lstStyle/>
                    <a:p>
                      <a:pPr>
                        <a:defRPr sz="1000">
                          <a:solidFill>
                            <a:srgbClr val="F8FAFC"/>
                          </a:solidFill>
                        </a:defRPr>
                      </a:pPr>
                      <a:r>
                        <a:t>Hardware Cost</a:t>
                      </a:r>
                    </a:p>
                  </a:txBody>
                  <a:tcPr>
                    <a:solidFill>
                      <a:srgbClr val="1E293B"/>
                    </a:solidFill>
                  </a:tcPr>
                </a:tc>
                <a:tc>
                  <a:txBody>
                    <a:bodyPr/>
                    <a:lstStyle/>
                    <a:p>
                      <a:pPr>
                        <a:defRPr sz="1000">
                          <a:solidFill>
                            <a:srgbClr val="F8FAFC"/>
                          </a:solidFill>
                        </a:defRPr>
                      </a:pPr>
                      <a:r>
                        <a:t>Moderate (Requires PC + UPS: ₹30,000)</a:t>
                      </a:r>
                    </a:p>
                  </a:txBody>
                  <a:tcPr>
                    <a:solidFill>
                      <a:srgbClr val="1E293B"/>
                    </a:solidFill>
                  </a:tcPr>
                </a:tc>
                <a:tc>
                  <a:txBody>
                    <a:bodyPr/>
                    <a:lstStyle/>
                    <a:p>
                      <a:pPr>
                        <a:defRPr sz="1000">
                          <a:solidFill>
                            <a:srgbClr val="F8FAFC"/>
                          </a:solidFill>
                        </a:defRPr>
                      </a:pPr>
                      <a:r>
                        <a:t>High (₹35,000+ per terminal device)</a:t>
                      </a:r>
                    </a:p>
                  </a:txBody>
                  <a:tcPr>
                    <a:solidFill>
                      <a:srgbClr val="1E293B"/>
                    </a:solidFill>
                  </a:tcPr>
                </a:tc>
                <a:tc>
                  <a:txBody>
                    <a:bodyPr/>
                    <a:lstStyle/>
                    <a:p>
                      <a:pPr>
                        <a:defRPr sz="1000">
                          <a:solidFill>
                            <a:srgbClr val="F8FAFC"/>
                          </a:solidFill>
                        </a:defRPr>
                      </a:pPr>
                      <a:r>
                        <a:t>Zero Hardware Lock-In (Runs on any PC/Phone/Tablet)</a:t>
                      </a:r>
                    </a:p>
                  </a:txBody>
                  <a:tcPr>
                    <a:solidFill>
                      <a:srgbClr val="1E293B"/>
                    </a:solidFill>
                  </a:tcPr>
                </a:tc>
              </a:tr>
              <a:tr h="694944">
                <a:tc>
                  <a:txBody>
                    <a:bodyPr/>
                    <a:lstStyle/>
                    <a:p>
                      <a:pPr>
                        <a:defRPr sz="1000">
                          <a:solidFill>
                            <a:srgbClr val="F8FAFC"/>
                          </a:solidFill>
                        </a:defRPr>
                      </a:pPr>
                      <a:r>
                        <a:t>Contactless QR</a:t>
                      </a:r>
                    </a:p>
                  </a:txBody>
                  <a:tcPr>
                    <a:solidFill>
                      <a:srgbClr val="1E293B"/>
                    </a:solidFill>
                  </a:tcPr>
                </a:tc>
                <a:tc>
                  <a:txBody>
                    <a:bodyPr/>
                    <a:lstStyle/>
                    <a:p>
                      <a:pPr>
                        <a:defRPr sz="1000">
                          <a:solidFill>
                            <a:srgbClr val="F8FAFC"/>
                          </a:solidFill>
                        </a:defRPr>
                      </a:pPr>
                      <a:r>
                        <a:t>Complex (Requires third-party bridge)</a:t>
                      </a:r>
                    </a:p>
                  </a:txBody>
                  <a:tcPr>
                    <a:solidFill>
                      <a:srgbClr val="1E293B"/>
                    </a:solidFill>
                  </a:tcPr>
                </a:tc>
                <a:tc>
                  <a:txBody>
                    <a:bodyPr/>
                    <a:lstStyle/>
                    <a:p>
                      <a:pPr>
                        <a:defRPr sz="1000">
                          <a:solidFill>
                            <a:srgbClr val="F8FAFC"/>
                          </a:solidFill>
                        </a:defRPr>
                      </a:pPr>
                      <a:r>
                        <a:t>Unsupported (Terminal only)</a:t>
                      </a:r>
                    </a:p>
                  </a:txBody>
                  <a:tcPr>
                    <a:solidFill>
                      <a:srgbClr val="1E293B"/>
                    </a:solidFill>
                  </a:tcPr>
                </a:tc>
                <a:tc>
                  <a:txBody>
                    <a:bodyPr/>
                    <a:lstStyle/>
                    <a:p>
                      <a:pPr>
                        <a:defRPr sz="1000">
                          <a:solidFill>
                            <a:srgbClr val="F8FAFC"/>
                          </a:solidFill>
                        </a:defRPr>
                      </a:pPr>
                      <a:r>
                        <a:t>Native 100% Contactless Table QR Integration</a:t>
                      </a:r>
                    </a:p>
                  </a:txBody>
                  <a:tcPr>
                    <a:solidFill>
                      <a:srgbClr val="1E293B"/>
                    </a:solidFill>
                  </a:tcPr>
                </a:tc>
              </a:tr>
              <a:tr h="694944">
                <a:tc>
                  <a:txBody>
                    <a:bodyPr/>
                    <a:lstStyle/>
                    <a:p>
                      <a:pPr>
                        <a:defRPr sz="1000">
                          <a:solidFill>
                            <a:srgbClr val="F8FAFC"/>
                          </a:solidFill>
                        </a:defRPr>
                      </a:pPr>
                      <a:r>
                        <a:t>Verdict</a:t>
                      </a:r>
                    </a:p>
                  </a:txBody>
                  <a:tcPr>
                    <a:solidFill>
                      <a:srgbClr val="1E293B"/>
                    </a:solidFill>
                  </a:tcPr>
                </a:tc>
                <a:tc>
                  <a:txBody>
                    <a:bodyPr/>
                    <a:lstStyle/>
                    <a:p>
                      <a:pPr>
                        <a:defRPr sz="1000">
                          <a:solidFill>
                            <a:srgbClr val="F8FAFC"/>
                          </a:solidFill>
                        </a:defRPr>
                      </a:pPr>
                      <a:r>
                        <a:t>Rejected (Local sync failure risk)</a:t>
                      </a:r>
                    </a:p>
                  </a:txBody>
                  <a:tcPr>
                    <a:solidFill>
                      <a:srgbClr val="1E293B"/>
                    </a:solidFill>
                  </a:tcPr>
                </a:tc>
                <a:tc>
                  <a:txBody>
                    <a:bodyPr/>
                    <a:lstStyle/>
                    <a:p>
                      <a:pPr>
                        <a:defRPr sz="1000">
                          <a:solidFill>
                            <a:srgbClr val="F8FAFC"/>
                          </a:solidFill>
                        </a:defRPr>
                      </a:pPr>
                      <a:r>
                        <a:t>Rejected (High CAPEX for small eateries)</a:t>
                      </a:r>
                    </a:p>
                  </a:txBody>
                  <a:tcPr>
                    <a:solidFill>
                      <a:srgbClr val="1E293B"/>
                    </a:solidFill>
                  </a:tcPr>
                </a:tc>
                <a:tc>
                  <a:txBody>
                    <a:bodyPr/>
                    <a:lstStyle/>
                    <a:p>
                      <a:pPr>
                        <a:defRPr sz="1000">
                          <a:solidFill>
                            <a:srgbClr val="F8FAFC"/>
                          </a:solidFill>
                        </a:defRPr>
                      </a:pPr>
                      <a:r>
                        <a:t>SELECTED (Maximum agility, scalability &amp; low cost)</a:t>
                      </a:r>
                    </a:p>
                  </a:txBody>
                  <a:tcPr>
                    <a:solidFill>
                      <a:srgbClr val="1E293B"/>
                    </a:solidFill>
                  </a:tcPr>
                </a:tc>
              </a:tr>
            </a:tbl>
          </a:graphicData>
        </a:graphic>
      </p:graphicFrame>
      <p:sp>
        <p:nvSpPr>
          <p:cNvPr id="6" name="TextBox 5"/>
          <p:cNvSpPr txBox="1"/>
          <p:nvPr/>
        </p:nvSpPr>
        <p:spPr>
          <a:xfrm>
            <a:off x="914400" y="5303520"/>
            <a:ext cx="10332720" cy="1097280"/>
          </a:xfrm>
          <a:prstGeom prst="rect">
            <a:avLst/>
          </a:prstGeom>
          <a:noFill/>
        </p:spPr>
        <p:txBody>
          <a:bodyPr wrap="square">
            <a:spAutoFit/>
          </a:bodyPr>
          <a:lstStyle/>
          <a:p>
            <a:pPr>
              <a:defRPr b="1" sz="1250">
                <a:solidFill>
                  <a:srgbClr val="10B981"/>
                </a:solidFill>
              </a:defRPr>
            </a:pPr>
            <a:r>
              <a:t>JUSTIFICATION FOR SELECTING OPTION C:</a:t>
            </a:r>
          </a:p>
          <a:p>
            <a:pPr>
              <a:defRPr sz="1150">
                <a:solidFill>
                  <a:srgbClr val="F8FAFC"/>
                </a:solidFill>
              </a:defRPr>
            </a:pPr>
            <a:r>
              <a:t>Option C eliminates hardware vendor lock-in completely, delivers 99.9% cloud uptime, enables instant updates without manual technician visits, and provides full multi-tenant isolation across multiple branches from a single unified codebase.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System Design: General Block Diagram</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7</a:t>
            </a:r>
          </a:p>
        </p:txBody>
      </p:sp>
      <p:sp>
        <p:nvSpPr>
          <p:cNvPr id="5" name="Rounded Rectangle 4"/>
          <p:cNvSpPr/>
          <p:nvPr/>
        </p:nvSpPr>
        <p:spPr>
          <a:xfrm>
            <a:off x="914400" y="1645920"/>
            <a:ext cx="3291840" cy="41148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INPUT TIER</a:t>
            </a:r>
          </a:p>
          <a:p>
            <a:pPr>
              <a:defRPr sz="1200">
                <a:solidFill>
                  <a:srgbClr val="F8FAFC"/>
                </a:solidFill>
              </a:defRPr>
            </a:pPr>
            <a:r>
              <a:t>• Customer Table QR Scan</a:t>
            </a:r>
            <a:br/>
            <a:r>
              <a:t>• Cashier Touch / Keyboard</a:t>
            </a:r>
            <a:br/>
            <a:r>
              <a:t>• Waiter Captain Tablet</a:t>
            </a:r>
            <a:br/>
            <a:r>
              <a:t>• Barcode / UPI QR Reader</a:t>
            </a:r>
          </a:p>
        </p:txBody>
      </p:sp>
      <p:sp>
        <p:nvSpPr>
          <p:cNvPr id="6" name="Rounded Rectangle 5"/>
          <p:cNvSpPr/>
          <p:nvPr/>
        </p:nvSpPr>
        <p:spPr>
          <a:xfrm>
            <a:off x="4389120" y="1645920"/>
            <a:ext cx="3291840" cy="41148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PROCESSING TIER</a:t>
            </a:r>
          </a:p>
          <a:p>
            <a:pPr>
              <a:defRPr sz="1200">
                <a:solidFill>
                  <a:srgbClr val="F8FAFC"/>
                </a:solidFill>
              </a:defRPr>
            </a:pPr>
            <a:r>
              <a:t>• Laravel 11 MVC Core Engine</a:t>
            </a:r>
            <a:br/>
            <a:r>
              <a:t>• Multi-Tenant Scope Middleware</a:t>
            </a:r>
            <a:br/>
            <a:r>
              <a:t>• Recipe Depletion Controller</a:t>
            </a:r>
            <a:br/>
            <a:r>
              <a:t>• GST &amp; Tax Computation</a:t>
            </a:r>
            <a:br/>
            <a:r>
              <a:t>• Auth &amp; Session Validator</a:t>
            </a:r>
          </a:p>
        </p:txBody>
      </p:sp>
      <p:sp>
        <p:nvSpPr>
          <p:cNvPr id="7" name="Rounded Rectangle 6"/>
          <p:cNvSpPr/>
          <p:nvPr/>
        </p:nvSpPr>
        <p:spPr>
          <a:xfrm>
            <a:off x="7863840" y="1645920"/>
            <a:ext cx="3291840" cy="41148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OUTPUT TIER</a:t>
            </a:r>
          </a:p>
          <a:p>
            <a:pPr>
              <a:defRPr sz="1200">
                <a:solidFill>
                  <a:srgbClr val="F8FAFC"/>
                </a:solidFill>
              </a:defRPr>
            </a:pPr>
            <a:r>
              <a:t>• Live Kitchen Display (KDS)</a:t>
            </a:r>
            <a:br/>
            <a:r>
              <a:t>• Silent ESC/POS Thermal Print</a:t>
            </a:r>
            <a:br/>
            <a:r>
              <a:t>• Gujarati Voice Soundbox</a:t>
            </a:r>
            <a:br/>
            <a:r>
              <a:t>• Real-Time Analytics Dashboard</a:t>
            </a:r>
            <a:br/>
            <a:r>
              <a:t>• Customer Digital Receipt</a:t>
            </a:r>
          </a:p>
        </p:txBody>
      </p:sp>
      <p:sp>
        <p:nvSpPr>
          <p:cNvPr id="8" name="TextBox 7"/>
          <p:cNvSpPr txBox="1"/>
          <p:nvPr/>
        </p:nvSpPr>
        <p:spPr>
          <a:xfrm>
            <a:off x="914400" y="5943600"/>
            <a:ext cx="10332720" cy="548640"/>
          </a:xfrm>
          <a:prstGeom prst="rect">
            <a:avLst/>
          </a:prstGeom>
          <a:noFill/>
        </p:spPr>
        <p:txBody>
          <a:bodyPr wrap="none">
            <a:spAutoFit/>
          </a:bodyPr>
          <a:lstStyle/>
          <a:p>
            <a:pPr>
              <a:defRPr sz="1100">
                <a:solidFill>
                  <a:srgbClr val="94A3B8"/>
                </a:solidFill>
              </a:defRPr>
            </a:pPr>
            <a:r>
              <a:t>System Data Flow: Input captures customer/cashier orders → Core validates stock &amp; tenant isolation → Output dispatches KOT &amp; bill simultaneously in &lt;200ms.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Multi-Tenant Cloud System Architecture</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8</a:t>
            </a:r>
          </a:p>
        </p:txBody>
      </p:sp>
      <p:sp>
        <p:nvSpPr>
          <p:cNvPr id="5" name="TextBox 4"/>
          <p:cNvSpPr txBox="1"/>
          <p:nvPr/>
        </p:nvSpPr>
        <p:spPr>
          <a:xfrm>
            <a:off x="914400" y="1463040"/>
            <a:ext cx="10332720" cy="4754880"/>
          </a:xfrm>
          <a:prstGeom prst="rect">
            <a:avLst/>
          </a:prstGeom>
          <a:noFill/>
        </p:spPr>
        <p:txBody>
          <a:bodyPr wrap="square">
            <a:spAutoFit/>
          </a:bodyPr>
          <a:lstStyle/>
          <a:p/>
          <a:p>
            <a:pPr>
              <a:defRPr b="1" sz="1350">
                <a:solidFill>
                  <a:srgbClr val="6366F1"/>
                </a:solidFill>
              </a:defRPr>
            </a:pPr>
            <a:r>
              <a:t>1. Client Presentation Tier</a:t>
            </a:r>
          </a:p>
          <a:p>
            <a:pPr>
              <a:defRPr sz="1150">
                <a:solidFill>
                  <a:srgbClr val="F8FAFC"/>
                </a:solidFill>
              </a:defRPr>
            </a:pPr>
            <a:r>
              <a:t>Progressive Web App (PWA) running on HTML5, Tailwind CSS, Bootstrap 5, and Vanilla ES6+ JavaScript. Completely responsive across desktop monitors, touch POS terminals, kitchen tablets, and mobile browsers.</a:t>
            </a:r>
          </a:p>
          <a:p>
            <a:pPr>
              <a:defRPr b="1" sz="1350">
                <a:solidFill>
                  <a:srgbClr val="6366F1"/>
                </a:solidFill>
              </a:defRPr>
            </a:pPr>
            <a:r>
              <a:t>2. Application &amp; API Gateway Tier</a:t>
            </a:r>
          </a:p>
          <a:p>
            <a:pPr>
              <a:defRPr sz="1150">
                <a:solidFill>
                  <a:srgbClr val="F8FAFC"/>
                </a:solidFill>
              </a:defRPr>
            </a:pPr>
            <a:r>
              <a:t>Hosted on Nginx with HTTP/2 SSL encryption. Powered by Laravel 11 MVC framework (PHP 8.3) utilizing RESTful endpoints, CSRF token security, and Role-Based Access Control (Admin, Manager, Cashier, Waiter, Kitchen).</a:t>
            </a:r>
          </a:p>
          <a:p>
            <a:pPr>
              <a:defRPr b="1" sz="1350">
                <a:solidFill>
                  <a:srgbClr val="6366F1"/>
                </a:solidFill>
              </a:defRPr>
            </a:pPr>
            <a:r>
              <a:t>3. Business Logic &amp; Real-Time Engine</a:t>
            </a:r>
          </a:p>
          <a:p>
            <a:pPr>
              <a:defRPr sz="1150">
                <a:solidFill>
                  <a:srgbClr val="F8FAFC"/>
                </a:solidFill>
              </a:defRPr>
            </a:pPr>
            <a:r>
              <a:t>• Order Pipeline: Manages cart calculations, dynamic modifiers, discounts, and split billing.</a:t>
            </a:r>
            <a:br/>
            <a:r>
              <a:t>• Inventory Depletion: Real-time recipe BOM ingredient deduction (e.g., deducting 80g cheese per pizza).</a:t>
            </a:r>
            <a:br/>
            <a:r>
              <a:t>• Gujarati Soundbox: HTML5 Web Speech API generating native audio announcements on order receipt.</a:t>
            </a:r>
          </a:p>
          <a:p>
            <a:pPr>
              <a:defRPr b="1" sz="1350">
                <a:solidFill>
                  <a:srgbClr val="6366F1"/>
                </a:solidFill>
              </a:defRPr>
            </a:pPr>
            <a:r>
              <a:t>4. Data Persistence &amp; Caching Tier</a:t>
            </a:r>
          </a:p>
          <a:p>
            <a:pPr>
              <a:defRPr sz="1150">
                <a:solidFill>
                  <a:srgbClr val="F8FAFC"/>
                </a:solidFill>
              </a:defRPr>
            </a:pPr>
            <a:r>
              <a:t>Relational MySQL 8.0 database with indexed tenant foreign keys ensuring cryptographic data isolation between restaurants, paired with file/Redis caching for sub-50ms query responses.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Algorithm &amp; Transaction Flowchart</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9</a:t>
            </a:r>
          </a:p>
        </p:txBody>
      </p:sp>
      <p:sp>
        <p:nvSpPr>
          <p:cNvPr id="5" name="TextBox 4"/>
          <p:cNvSpPr txBox="1"/>
          <p:nvPr/>
        </p:nvSpPr>
        <p:spPr>
          <a:xfrm>
            <a:off x="914400" y="1463040"/>
            <a:ext cx="10332720" cy="4754880"/>
          </a:xfrm>
          <a:prstGeom prst="rect">
            <a:avLst/>
          </a:prstGeom>
          <a:noFill/>
        </p:spPr>
        <p:txBody>
          <a:bodyPr wrap="square">
            <a:spAutoFit/>
          </a:bodyPr>
          <a:lstStyle/>
          <a:p/>
          <a:p>
            <a:pPr>
              <a:defRPr b="1" sz="1250">
                <a:solidFill>
                  <a:srgbClr val="10B981"/>
                </a:solidFill>
              </a:defRPr>
            </a:pPr>
            <a:r>
              <a:t>▶ Step 1: Order Ingestion: Customer scans Table QR code or Cashier selects Table T-01 from POS terminal interface.</a:t>
            </a:r>
          </a:p>
          <a:p>
            <a:pPr>
              <a:defRPr b="1" sz="1250">
                <a:solidFill>
                  <a:srgbClr val="10B981"/>
                </a:solidFill>
              </a:defRPr>
            </a:pPr>
            <a:r>
              <a:t>▶ Step 2: Cart Selection: User selects menu items with custom modifiers (e.g. Extra Cheese, Cooking Notes).</a:t>
            </a:r>
          </a:p>
          <a:p>
            <a:pPr>
              <a:defRPr b="1" sz="1250">
                <a:solidFill>
                  <a:srgbClr val="10B981"/>
                </a:solidFill>
              </a:defRPr>
            </a:pPr>
            <a:r>
              <a:t>▶ Step 3: Stock Validation: System checks recipe inventory availability; if any raw ingredient is exhausted, item is flagged 'Sold Out'.</a:t>
            </a:r>
          </a:p>
          <a:p>
            <a:pPr>
              <a:defRPr b="1" sz="1250">
                <a:solidFill>
                  <a:srgbClr val="10B981"/>
                </a:solidFill>
              </a:defRPr>
            </a:pPr>
            <a:r>
              <a:t>▶ Step 4: Transaction Commit: Order is cryptographically committed with unique Order ID (#ORD-XXXX), GST, and payment method.</a:t>
            </a:r>
          </a:p>
          <a:p>
            <a:pPr>
              <a:defRPr b="1" sz="1250">
                <a:solidFill>
                  <a:srgbClr val="10B981"/>
                </a:solidFill>
              </a:defRPr>
            </a:pPr>
            <a:r>
              <a:t>▶ Step 5: Simultaneous KOT Dispatch: KOT ticket appears on Kitchen Display System (KDS) and prints to kitchen thermal printer via ESC/POS.</a:t>
            </a:r>
          </a:p>
          <a:p>
            <a:pPr>
              <a:defRPr b="1" sz="1250">
                <a:solidFill>
                  <a:srgbClr val="10B981"/>
                </a:solidFill>
              </a:defRPr>
            </a:pPr>
            <a:r>
              <a:t>▶ Step 6: Voice Announcement: Web Audio API synthesizes Gujarati audio alert: 'નવો ઓર્ડર: ટેબલ ૧, ૨ આઇટમ્સ'.</a:t>
            </a:r>
          </a:p>
          <a:p>
            <a:pPr>
              <a:defRPr b="1" sz="1250">
                <a:solidFill>
                  <a:srgbClr val="10B981"/>
                </a:solidFill>
              </a:defRPr>
            </a:pPr>
            <a:r>
              <a:t>▶ Step 7: Real-Time Depletion: Recipe costing engine automatically deducts exact grams of raw materials from restaurant inventory.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Components, Tech Stack &amp; Cost Estimate (BOM)</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10</a:t>
            </a:r>
          </a:p>
        </p:txBody>
      </p:sp>
      <p:graphicFrame>
        <p:nvGraphicFramePr>
          <p:cNvPr id="5" name="Table 4"/>
          <p:cNvGraphicFramePr>
            <a:graphicFrameLocks noGrp="1"/>
          </p:cNvGraphicFramePr>
          <p:nvPr/>
        </p:nvGraphicFramePr>
        <p:xfrm>
          <a:off x="914400" y="1463040"/>
          <a:ext cx="10332720" cy="3840480"/>
        </p:xfrm>
        <a:graphic>
          <a:graphicData uri="http://schemas.openxmlformats.org/drawingml/2006/table">
            <a:tbl>
              <a:tblPr firstRow="1" bandRow="1">
                <a:tableStyleId>{5C22544A-7EE6-4342-B048-85BDC9FD1C3A}</a:tableStyleId>
              </a:tblPr>
              <a:tblGrid>
                <a:gridCol w="914400"/>
                <a:gridCol w="2926080"/>
                <a:gridCol w="3200400"/>
                <a:gridCol w="1097280"/>
                <a:gridCol w="2194560"/>
              </a:tblGrid>
              <a:tr h="640080">
                <a:tc>
                  <a:txBody>
                    <a:bodyPr/>
                    <a:lstStyle/>
                    <a:p>
                      <a:pPr>
                        <a:defRPr b="1" sz="1100">
                          <a:solidFill>
                            <a:srgbClr val="F8FAFC"/>
                          </a:solidFill>
                        </a:defRPr>
                      </a:pPr>
                      <a:r>
                        <a:t>Sr.</a:t>
                      </a:r>
                    </a:p>
                  </a:txBody>
                  <a:tcPr>
                    <a:solidFill>
                      <a:srgbClr val="6366F1"/>
                    </a:solidFill>
                  </a:tcPr>
                </a:tc>
                <a:tc>
                  <a:txBody>
                    <a:bodyPr/>
                    <a:lstStyle/>
                    <a:p>
                      <a:pPr>
                        <a:defRPr b="1" sz="1100">
                          <a:solidFill>
                            <a:srgbClr val="F8FAFC"/>
                          </a:solidFill>
                        </a:defRPr>
                      </a:pPr>
                      <a:r>
                        <a:t>Component / Service</a:t>
                      </a:r>
                    </a:p>
                  </a:txBody>
                  <a:tcPr>
                    <a:solidFill>
                      <a:srgbClr val="6366F1"/>
                    </a:solidFill>
                  </a:tcPr>
                </a:tc>
                <a:tc>
                  <a:txBody>
                    <a:bodyPr/>
                    <a:lstStyle/>
                    <a:p>
                      <a:pPr>
                        <a:defRPr b="1" sz="1100">
                          <a:solidFill>
                            <a:srgbClr val="F8FAFC"/>
                          </a:solidFill>
                        </a:defRPr>
                      </a:pPr>
                      <a:r>
                        <a:t>Technical Specification</a:t>
                      </a:r>
                    </a:p>
                  </a:txBody>
                  <a:tcPr>
                    <a:solidFill>
                      <a:srgbClr val="6366F1"/>
                    </a:solidFill>
                  </a:tcPr>
                </a:tc>
                <a:tc>
                  <a:txBody>
                    <a:bodyPr/>
                    <a:lstStyle/>
                    <a:p>
                      <a:pPr>
                        <a:defRPr b="1" sz="1100">
                          <a:solidFill>
                            <a:srgbClr val="F8FAFC"/>
                          </a:solidFill>
                        </a:defRPr>
                      </a:pPr>
                      <a:r>
                        <a:t>Qty</a:t>
                      </a:r>
                    </a:p>
                  </a:txBody>
                  <a:tcPr>
                    <a:solidFill>
                      <a:srgbClr val="6366F1"/>
                    </a:solidFill>
                  </a:tcPr>
                </a:tc>
                <a:tc>
                  <a:txBody>
                    <a:bodyPr/>
                    <a:lstStyle/>
                    <a:p>
                      <a:pPr>
                        <a:defRPr b="1" sz="1100">
                          <a:solidFill>
                            <a:srgbClr val="F8FAFC"/>
                          </a:solidFill>
                        </a:defRPr>
                      </a:pPr>
                      <a:r>
                        <a:t>Cost (₹)</a:t>
                      </a:r>
                    </a:p>
                  </a:txBody>
                  <a:tcPr>
                    <a:solidFill>
                      <a:srgbClr val="6366F1"/>
                    </a:solidFill>
                  </a:tcPr>
                </a:tc>
              </a:tr>
              <a:tr h="640080">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Cloud Infrastructure (AWS EC2)</a:t>
                      </a:r>
                    </a:p>
                  </a:txBody>
                  <a:tcPr>
                    <a:solidFill>
                      <a:srgbClr val="1E293B"/>
                    </a:solidFill>
                  </a:tcPr>
                </a:tc>
                <a:tc>
                  <a:txBody>
                    <a:bodyPr/>
                    <a:lstStyle/>
                    <a:p>
                      <a:pPr>
                        <a:defRPr sz="1050">
                          <a:solidFill>
                            <a:srgbClr val="F8FAFC"/>
                          </a:solidFill>
                        </a:defRPr>
                      </a:pPr>
                      <a:r>
                        <a:t>Ubuntu Linux 24.04 LTS, 1 vCPU, 2GB RAM</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0 (Free Tier / SSIP)</a:t>
                      </a:r>
                    </a:p>
                  </a:txBody>
                  <a:tcPr>
                    <a:solidFill>
                      <a:srgbClr val="1E293B"/>
                    </a:solidFill>
                  </a:tcPr>
                </a:tc>
              </a:tr>
              <a:tr h="640080">
                <a:tc>
                  <a:txBody>
                    <a:bodyPr/>
                    <a:lstStyle/>
                    <a:p>
                      <a:pPr>
                        <a:defRPr sz="1050">
                          <a:solidFill>
                            <a:srgbClr val="F8FAFC"/>
                          </a:solidFill>
                        </a:defRPr>
                      </a:pPr>
                      <a:r>
                        <a:t>2</a:t>
                      </a:r>
                    </a:p>
                  </a:txBody>
                  <a:tcPr>
                    <a:solidFill>
                      <a:srgbClr val="1E293B"/>
                    </a:solidFill>
                  </a:tcPr>
                </a:tc>
                <a:tc>
                  <a:txBody>
                    <a:bodyPr/>
                    <a:lstStyle/>
                    <a:p>
                      <a:pPr>
                        <a:defRPr sz="1050">
                          <a:solidFill>
                            <a:srgbClr val="F8FAFC"/>
                          </a:solidFill>
                        </a:defRPr>
                      </a:pPr>
                      <a:r>
                        <a:t>Core Framework &amp; Database</a:t>
                      </a:r>
                    </a:p>
                  </a:txBody>
                  <a:tcPr>
                    <a:solidFill>
                      <a:srgbClr val="1E293B"/>
                    </a:solidFill>
                  </a:tcPr>
                </a:tc>
                <a:tc>
                  <a:txBody>
                    <a:bodyPr/>
                    <a:lstStyle/>
                    <a:p>
                      <a:pPr>
                        <a:defRPr sz="1050">
                          <a:solidFill>
                            <a:srgbClr val="F8FAFC"/>
                          </a:solidFill>
                        </a:defRPr>
                      </a:pPr>
                      <a:r>
                        <a:t>PHP 8.3, Laravel 11, MySQL 8.0, Redis</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0 (Open Source)</a:t>
                      </a:r>
                    </a:p>
                  </a:txBody>
                  <a:tcPr>
                    <a:solidFill>
                      <a:srgbClr val="1E293B"/>
                    </a:solidFill>
                  </a:tcPr>
                </a:tc>
              </a:tr>
              <a:tr h="640080">
                <a:tc>
                  <a:txBody>
                    <a:bodyPr/>
                    <a:lstStyle/>
                    <a:p>
                      <a:pPr>
                        <a:defRPr sz="1050">
                          <a:solidFill>
                            <a:srgbClr val="F8FAFC"/>
                          </a:solidFill>
                        </a:defRPr>
                      </a:pPr>
                      <a:r>
                        <a:t>3</a:t>
                      </a:r>
                    </a:p>
                  </a:txBody>
                  <a:tcPr>
                    <a:solidFill>
                      <a:srgbClr val="1E293B"/>
                    </a:solidFill>
                  </a:tcPr>
                </a:tc>
                <a:tc>
                  <a:txBody>
                    <a:bodyPr/>
                    <a:lstStyle/>
                    <a:p>
                      <a:pPr>
                        <a:defRPr sz="1050">
                          <a:solidFill>
                            <a:srgbClr val="F8FAFC"/>
                          </a:solidFill>
                        </a:defRPr>
                      </a:pPr>
                      <a:r>
                        <a:t>Thermal Receipt Printer</a:t>
                      </a:r>
                    </a:p>
                  </a:txBody>
                  <a:tcPr>
                    <a:solidFill>
                      <a:srgbClr val="1E293B"/>
                    </a:solidFill>
                  </a:tcPr>
                </a:tc>
                <a:tc>
                  <a:txBody>
                    <a:bodyPr/>
                    <a:lstStyle/>
                    <a:p>
                      <a:pPr>
                        <a:defRPr sz="1050">
                          <a:solidFill>
                            <a:srgbClr val="F8FAFC"/>
                          </a:solidFill>
                        </a:defRPr>
                      </a:pPr>
                      <a:r>
                        <a:t>58mm / 80mm USB Direct ESC/POS Printer</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2,800 (Prototype Unit)</a:t>
                      </a:r>
                    </a:p>
                  </a:txBody>
                  <a:tcPr>
                    <a:solidFill>
                      <a:srgbClr val="1E293B"/>
                    </a:solidFill>
                  </a:tcPr>
                </a:tc>
              </a:tr>
              <a:tr h="640080">
                <a:tc>
                  <a:txBody>
                    <a:bodyPr/>
                    <a:lstStyle/>
                    <a:p>
                      <a:pPr>
                        <a:defRPr sz="1050">
                          <a:solidFill>
                            <a:srgbClr val="F8FAFC"/>
                          </a:solidFill>
                        </a:defRPr>
                      </a:pPr>
                      <a:r>
                        <a:t>4</a:t>
                      </a:r>
                    </a:p>
                  </a:txBody>
                  <a:tcPr>
                    <a:solidFill>
                      <a:srgbClr val="1E293B"/>
                    </a:solidFill>
                  </a:tcPr>
                </a:tc>
                <a:tc>
                  <a:txBody>
                    <a:bodyPr/>
                    <a:lstStyle/>
                    <a:p>
                      <a:pPr>
                        <a:defRPr sz="1050">
                          <a:solidFill>
                            <a:srgbClr val="F8FAFC"/>
                          </a:solidFill>
                        </a:defRPr>
                      </a:pPr>
                      <a:r>
                        <a:t>Display Devices (POS &amp; KDS)</a:t>
                      </a:r>
                    </a:p>
                  </a:txBody>
                  <a:tcPr>
                    <a:solidFill>
                      <a:srgbClr val="1E293B"/>
                    </a:solidFill>
                  </a:tcPr>
                </a:tc>
                <a:tc>
                  <a:txBody>
                    <a:bodyPr/>
                    <a:lstStyle/>
                    <a:p>
                      <a:pPr>
                        <a:defRPr sz="1050">
                          <a:solidFill>
                            <a:srgbClr val="F8FAFC"/>
                          </a:solidFill>
                        </a:defRPr>
                      </a:pPr>
                      <a:r>
                        <a:t>Existing PC / Touch Tablet / Smartphone</a:t>
                      </a:r>
                    </a:p>
                  </a:txBody>
                  <a:tcPr>
                    <a:solidFill>
                      <a:srgbClr val="1E293B"/>
                    </a:solidFill>
                  </a:tcPr>
                </a:tc>
                <a:tc>
                  <a:txBody>
                    <a:bodyPr/>
                    <a:lstStyle/>
                    <a:p>
                      <a:pPr>
                        <a:defRPr sz="1050">
                          <a:solidFill>
                            <a:srgbClr val="F8FAFC"/>
                          </a:solidFill>
                        </a:defRPr>
                      </a:pPr>
                      <a:r>
                        <a:t>2</a:t>
                      </a:r>
                    </a:p>
                  </a:txBody>
                  <a:tcPr>
                    <a:solidFill>
                      <a:srgbClr val="1E293B"/>
                    </a:solidFill>
                  </a:tcPr>
                </a:tc>
                <a:tc>
                  <a:txBody>
                    <a:bodyPr/>
                    <a:lstStyle/>
                    <a:p>
                      <a:pPr>
                        <a:defRPr sz="1050">
                          <a:solidFill>
                            <a:srgbClr val="F8FAFC"/>
                          </a:solidFill>
                        </a:defRPr>
                      </a:pPr>
                      <a:r>
                        <a:t>₹ 0 (Existing Hardware)</a:t>
                      </a:r>
                    </a:p>
                  </a:txBody>
                  <a:tcPr>
                    <a:solidFill>
                      <a:srgbClr val="1E293B"/>
                    </a:solidFill>
                  </a:tcPr>
                </a:tc>
              </a:tr>
              <a:tr h="640080">
                <a:tc>
                  <a:txBody>
                    <a:bodyPr/>
                    <a:lstStyle/>
                    <a:p>
                      <a:pPr>
                        <a:defRPr sz="1050">
                          <a:solidFill>
                            <a:srgbClr val="F8FAFC"/>
                          </a:solidFill>
                        </a:defRPr>
                      </a:pPr>
                      <a:r>
                        <a:t>5</a:t>
                      </a:r>
                    </a:p>
                  </a:txBody>
                  <a:tcPr>
                    <a:solidFill>
                      <a:srgbClr val="1E293B"/>
                    </a:solidFill>
                  </a:tcPr>
                </a:tc>
                <a:tc>
                  <a:txBody>
                    <a:bodyPr/>
                    <a:lstStyle/>
                    <a:p>
                      <a:pPr>
                        <a:defRPr sz="1050">
                          <a:solidFill>
                            <a:srgbClr val="F8FAFC"/>
                          </a:solidFill>
                        </a:defRPr>
                      </a:pPr>
                      <a:r>
                        <a:t>SSL Certificate &amp; Domain</a:t>
                      </a:r>
                    </a:p>
                  </a:txBody>
                  <a:tcPr>
                    <a:solidFill>
                      <a:srgbClr val="1E293B"/>
                    </a:solidFill>
                  </a:tcPr>
                </a:tc>
                <a:tc>
                  <a:txBody>
                    <a:bodyPr/>
                    <a:lstStyle/>
                    <a:p>
                      <a:pPr>
                        <a:defRPr sz="1050">
                          <a:solidFill>
                            <a:srgbClr val="F8FAFC"/>
                          </a:solidFill>
                        </a:defRPr>
                      </a:pPr>
                      <a:r>
                        <a:t>DuckDNS Dynamic DNS + Let's Encrypt SSL</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0 (Free / Open)</a:t>
                      </a:r>
                    </a:p>
                  </a:txBody>
                  <a:tcPr>
                    <a:solidFill>
                      <a:srgbClr val="1E293B"/>
                    </a:solidFill>
                  </a:tcPr>
                </a:tc>
              </a:tr>
            </a:tbl>
          </a:graphicData>
        </a:graphic>
      </p:graphicFrame>
      <p:sp>
        <p:nvSpPr>
          <p:cNvPr id="6" name="TextBox 5"/>
          <p:cNvSpPr txBox="1"/>
          <p:nvPr/>
        </p:nvSpPr>
        <p:spPr>
          <a:xfrm>
            <a:off x="914400" y="5486400"/>
            <a:ext cx="10332720" cy="914400"/>
          </a:xfrm>
          <a:prstGeom prst="rect">
            <a:avLst/>
          </a:prstGeom>
          <a:noFill/>
        </p:spPr>
        <p:txBody>
          <a:bodyPr wrap="none">
            <a:spAutoFit/>
          </a:bodyPr>
          <a:lstStyle/>
          <a:p>
            <a:pPr>
              <a:defRPr b="1" sz="1400">
                <a:solidFill>
                  <a:srgbClr val="F59E0B"/>
                </a:solidFill>
              </a:defRPr>
            </a:pPr>
            <a:r>
              <a:t>TOTAL PROTOTYPE COST: ₹ 2,800 Only (Commercial Traditional Setup: ₹ 1,50,000+)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14-Week Semester Work Plan (4 GTU Seminars)</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11</a:t>
            </a:r>
          </a:p>
        </p:txBody>
      </p:sp>
      <p:graphicFrame>
        <p:nvGraphicFramePr>
          <p:cNvPr id="5" name="Table 4"/>
          <p:cNvGraphicFramePr>
            <a:graphicFrameLocks noGrp="1"/>
          </p:cNvGraphicFramePr>
          <p:nvPr/>
        </p:nvGraphicFramePr>
        <p:xfrm>
          <a:off x="914400" y="1463040"/>
          <a:ext cx="10332720" cy="4114800"/>
        </p:xfrm>
        <a:graphic>
          <a:graphicData uri="http://schemas.openxmlformats.org/drawingml/2006/table">
            <a:tbl>
              <a:tblPr firstRow="1" bandRow="1">
                <a:tableStyleId>{5C22544A-7EE6-4342-B048-85BDC9FD1C3A}</a:tableStyleId>
              </a:tblPr>
              <a:tblGrid>
                <a:gridCol w="1645920"/>
                <a:gridCol w="4114800"/>
                <a:gridCol w="2286000"/>
                <a:gridCol w="2286000"/>
              </a:tblGrid>
              <a:tr h="685800">
                <a:tc>
                  <a:txBody>
                    <a:bodyPr/>
                    <a:lstStyle/>
                    <a:p>
                      <a:pPr>
                        <a:defRPr b="1" sz="1100">
                          <a:solidFill>
                            <a:srgbClr val="F8FAFC"/>
                          </a:solidFill>
                        </a:defRPr>
                      </a:pPr>
                      <a:r>
                        <a:t>Academic Weeks</a:t>
                      </a:r>
                    </a:p>
                  </a:txBody>
                  <a:tcPr>
                    <a:solidFill>
                      <a:srgbClr val="6366F1"/>
                    </a:solidFill>
                  </a:tcPr>
                </a:tc>
                <a:tc>
                  <a:txBody>
                    <a:bodyPr/>
                    <a:lstStyle/>
                    <a:p>
                      <a:pPr>
                        <a:defRPr b="1" sz="1100">
                          <a:solidFill>
                            <a:srgbClr val="F8FAFC"/>
                          </a:solidFill>
                        </a:defRPr>
                      </a:pPr>
                      <a:r>
                        <a:t>Key Project Milestones &amp; Deliverables</a:t>
                      </a:r>
                    </a:p>
                  </a:txBody>
                  <a:tcPr>
                    <a:solidFill>
                      <a:srgbClr val="6366F1"/>
                    </a:solidFill>
                  </a:tcPr>
                </a:tc>
                <a:tc>
                  <a:txBody>
                    <a:bodyPr/>
                    <a:lstStyle/>
                    <a:p>
                      <a:pPr>
                        <a:defRPr b="1" sz="1100">
                          <a:solidFill>
                            <a:srgbClr val="F8FAFC"/>
                          </a:solidFill>
                        </a:defRPr>
                      </a:pPr>
                      <a:r>
                        <a:t>GTU Seminar Review</a:t>
                      </a:r>
                    </a:p>
                  </a:txBody>
                  <a:tcPr>
                    <a:solidFill>
                      <a:srgbClr val="6366F1"/>
                    </a:solidFill>
                  </a:tcPr>
                </a:tc>
                <a:tc>
                  <a:txBody>
                    <a:bodyPr/>
                    <a:lstStyle/>
                    <a:p>
                      <a:pPr>
                        <a:defRPr b="1" sz="1100">
                          <a:solidFill>
                            <a:srgbClr val="F8FAFC"/>
                          </a:solidFill>
                        </a:defRPr>
                      </a:pPr>
                      <a:r>
                        <a:t>Status</a:t>
                      </a:r>
                    </a:p>
                  </a:txBody>
                  <a:tcPr>
                    <a:solidFill>
                      <a:srgbClr val="6366F1"/>
                    </a:solidFill>
                  </a:tcPr>
                </a:tc>
              </a:tr>
              <a:tr h="685800">
                <a:tc>
                  <a:txBody>
                    <a:bodyPr/>
                    <a:lstStyle/>
                    <a:p>
                      <a:pPr>
                        <a:defRPr sz="1050">
                          <a:solidFill>
                            <a:srgbClr val="F8FAFC"/>
                          </a:solidFill>
                        </a:defRPr>
                      </a:pPr>
                      <a:r>
                        <a:t>Weeks 1 - 2</a:t>
                      </a:r>
                    </a:p>
                  </a:txBody>
                  <a:tcPr>
                    <a:solidFill>
                      <a:srgbClr val="1E293B"/>
                    </a:solidFill>
                  </a:tcPr>
                </a:tc>
                <a:tc>
                  <a:txBody>
                    <a:bodyPr/>
                    <a:lstStyle/>
                    <a:p>
                      <a:pPr>
                        <a:defRPr sz="1050">
                          <a:solidFill>
                            <a:srgbClr val="F8FAFC"/>
                          </a:solidFill>
                        </a:defRPr>
                      </a:pPr>
                      <a:r>
                        <a:t>Topic selection, literature survey, and gap analysis</a:t>
                      </a:r>
                    </a:p>
                  </a:txBody>
                  <a:tcPr>
                    <a:solidFill>
                      <a:srgbClr val="1E293B"/>
                    </a:solidFill>
                  </a:tcPr>
                </a:tc>
                <a:tc>
                  <a:txBody>
                    <a:bodyPr/>
                    <a:lstStyle/>
                    <a:p>
                      <a:pPr>
                        <a:defRPr sz="1050">
                          <a:solidFill>
                            <a:srgbClr val="F8FAFC"/>
                          </a:solidFill>
                        </a:defRPr>
                      </a:pPr>
                      <a:r>
                        <a:t>Orientation</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3 - 4</a:t>
                      </a:r>
                    </a:p>
                  </a:txBody>
                  <a:tcPr>
                    <a:solidFill>
                      <a:srgbClr val="1E293B"/>
                    </a:solidFill>
                  </a:tcPr>
                </a:tc>
                <a:tc>
                  <a:txBody>
                    <a:bodyPr/>
                    <a:lstStyle/>
                    <a:p>
                      <a:pPr>
                        <a:defRPr sz="1050">
                          <a:solidFill>
                            <a:srgbClr val="F8FAFC"/>
                          </a:solidFill>
                        </a:defRPr>
                      </a:pPr>
                      <a:r>
                        <a:t>Problem formulation, SRS, and architecture selection</a:t>
                      </a:r>
                    </a:p>
                  </a:txBody>
                  <a:tcPr>
                    <a:solidFill>
                      <a:srgbClr val="1E293B"/>
                    </a:solidFill>
                  </a:tcPr>
                </a:tc>
                <a:tc>
                  <a:txBody>
                    <a:bodyPr/>
                    <a:lstStyle/>
                    <a:p>
                      <a:pPr>
                        <a:defRPr sz="1050">
                          <a:solidFill>
                            <a:srgbClr val="F8FAFC"/>
                          </a:solidFill>
                        </a:defRPr>
                      </a:pPr>
                      <a:r>
                        <a:t>Seminar 1</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5 - 8</a:t>
                      </a:r>
                    </a:p>
                  </a:txBody>
                  <a:tcPr>
                    <a:solidFill>
                      <a:srgbClr val="1E293B"/>
                    </a:solidFill>
                  </a:tcPr>
                </a:tc>
                <a:tc>
                  <a:txBody>
                    <a:bodyPr/>
                    <a:lstStyle/>
                    <a:p>
                      <a:pPr>
                        <a:defRPr sz="1050">
                          <a:solidFill>
                            <a:srgbClr val="F8FAFC"/>
                          </a:solidFill>
                        </a:defRPr>
                      </a:pPr>
                      <a:r>
                        <a:t>Database design, multi-tenant auth, and POS terminal coding</a:t>
                      </a:r>
                    </a:p>
                  </a:txBody>
                  <a:tcPr>
                    <a:solidFill>
                      <a:srgbClr val="1E293B"/>
                    </a:solidFill>
                  </a:tcPr>
                </a:tc>
                <a:tc>
                  <a:txBody>
                    <a:bodyPr/>
                    <a:lstStyle/>
                    <a:p>
                      <a:pPr>
                        <a:defRPr sz="1050">
                          <a:solidFill>
                            <a:srgbClr val="F8FAFC"/>
                          </a:solidFill>
                        </a:defRPr>
                      </a:pPr>
                      <a:r>
                        <a:t>Seminar 2</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9 - 11</a:t>
                      </a:r>
                    </a:p>
                  </a:txBody>
                  <a:tcPr>
                    <a:solidFill>
                      <a:srgbClr val="1E293B"/>
                    </a:solidFill>
                  </a:tcPr>
                </a:tc>
                <a:tc>
                  <a:txBody>
                    <a:bodyPr/>
                    <a:lstStyle/>
                    <a:p>
                      <a:pPr>
                        <a:defRPr sz="1050">
                          <a:solidFill>
                            <a:srgbClr val="F8FAFC"/>
                          </a:solidFill>
                        </a:defRPr>
                      </a:pPr>
                      <a:r>
                        <a:t>KDS display, ESC/POS printing, and Gujarati voice soundbox</a:t>
                      </a:r>
                    </a:p>
                  </a:txBody>
                  <a:tcPr>
                    <a:solidFill>
                      <a:srgbClr val="1E293B"/>
                    </a:solidFill>
                  </a:tcPr>
                </a:tc>
                <a:tc>
                  <a:txBody>
                    <a:bodyPr/>
                    <a:lstStyle/>
                    <a:p>
                      <a:pPr>
                        <a:defRPr sz="1050">
                          <a:solidFill>
                            <a:srgbClr val="F8FAFC"/>
                          </a:solidFill>
                        </a:defRPr>
                      </a:pPr>
                      <a:r>
                        <a:t>Seminar 3</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12 - 14</a:t>
                      </a:r>
                    </a:p>
                  </a:txBody>
                  <a:tcPr>
                    <a:solidFill>
                      <a:srgbClr val="1E293B"/>
                    </a:solidFill>
                  </a:tcPr>
                </a:tc>
                <a:tc>
                  <a:txBody>
                    <a:bodyPr/>
                    <a:lstStyle/>
                    <a:p>
                      <a:pPr>
                        <a:defRPr sz="1050">
                          <a:solidFill>
                            <a:srgbClr val="F8FAFC"/>
                          </a:solidFill>
                        </a:defRPr>
                      </a:pPr>
                      <a:r>
                        <a:t>Testing, AWS EC2 deployment, documentation &amp; final PPT</a:t>
                      </a:r>
                    </a:p>
                  </a:txBody>
                  <a:tcPr>
                    <a:solidFill>
                      <a:srgbClr val="1E293B"/>
                    </a:solidFill>
                  </a:tcPr>
                </a:tc>
                <a:tc>
                  <a:txBody>
                    <a:bodyPr/>
                    <a:lstStyle/>
                    <a:p>
                      <a:pPr>
                        <a:defRPr sz="1050">
                          <a:solidFill>
                            <a:srgbClr val="F8FAFC"/>
                          </a:solidFill>
                        </a:defRPr>
                      </a:pPr>
                      <a:r>
                        <a:t>Seminar 4 (Final)</a:t>
                      </a:r>
                    </a:p>
                  </a:txBody>
                  <a:tcPr>
                    <a:solidFill>
                      <a:srgbClr val="1E293B"/>
                    </a:solidFill>
                  </a:tcPr>
                </a:tc>
                <a:tc>
                  <a:txBody>
                    <a:bodyPr/>
                    <a:lstStyle/>
                    <a:p>
                      <a:pPr>
                        <a:defRPr sz="1050">
                          <a:solidFill>
                            <a:srgbClr val="10B981"/>
                          </a:solidFill>
                        </a:defRPr>
                      </a:pPr>
                      <a:r>
                        <a:t>Completed (100%)</a:t>
                      </a:r>
                    </a:p>
                  </a:txBody>
                  <a:tcPr>
                    <a:solidFill>
                      <a:srgbClr val="1E293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Prototype &amp; Working System Development</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12</a:t>
            </a:r>
          </a:p>
        </p:txBody>
      </p:sp>
      <p:pic>
        <p:nvPicPr>
          <p:cNvPr id="5" name="Picture 4" descr="retail-store.png"/>
          <p:cNvPicPr>
            <a:picLocks noChangeAspect="1"/>
          </p:cNvPicPr>
          <p:nvPr/>
        </p:nvPicPr>
        <p:blipFill>
          <a:blip r:embed="rId2"/>
          <a:stretch>
            <a:fillRect/>
          </a:stretch>
        </p:blipFill>
        <p:spPr>
          <a:xfrm>
            <a:off x="914400" y="1463040"/>
            <a:ext cx="4937760" cy="3291840"/>
          </a:xfrm>
          <a:prstGeom prst="rect">
            <a:avLst/>
          </a:prstGeom>
        </p:spPr>
      </p:pic>
      <p:pic>
        <p:nvPicPr>
          <p:cNvPr id="6" name="Picture 5" descr="about_img_1.png"/>
          <p:cNvPicPr>
            <a:picLocks noChangeAspect="1"/>
          </p:cNvPicPr>
          <p:nvPr/>
        </p:nvPicPr>
        <p:blipFill>
          <a:blip r:embed="rId3"/>
          <a:stretch>
            <a:fillRect/>
          </a:stretch>
        </p:blipFill>
        <p:spPr>
          <a:xfrm>
            <a:off x="6309360" y="1463040"/>
            <a:ext cx="4937760" cy="3291840"/>
          </a:xfrm>
          <a:prstGeom prst="rect">
            <a:avLst/>
          </a:prstGeom>
        </p:spPr>
      </p:pic>
      <p:sp>
        <p:nvSpPr>
          <p:cNvPr id="7" name="TextBox 6"/>
          <p:cNvSpPr txBox="1"/>
          <p:nvPr/>
        </p:nvSpPr>
        <p:spPr>
          <a:xfrm>
            <a:off x="914400" y="4937760"/>
            <a:ext cx="10332720" cy="1463040"/>
          </a:xfrm>
          <a:prstGeom prst="rect">
            <a:avLst/>
          </a:prstGeom>
          <a:noFill/>
        </p:spPr>
        <p:txBody>
          <a:bodyPr wrap="square">
            <a:spAutoFit/>
          </a:bodyPr>
          <a:lstStyle/>
          <a:p>
            <a:pPr>
              <a:defRPr sz="1150">
                <a:solidFill>
                  <a:srgbClr val="F8FAFC"/>
                </a:solidFill>
              </a:defRPr>
            </a:pPr>
            <a:r>
              <a:t>Left: DineFlow AI Real-Time Web POS Terminal with active cart, discounts, and UPI QR code.</a:t>
            </a:r>
          </a:p>
          <a:p>
            <a:pPr>
              <a:defRPr sz="1150">
                <a:solidFill>
                  <a:srgbClr val="F8FAFC"/>
                </a:solidFill>
              </a:defRPr>
            </a:pPr>
            <a:r>
              <a:t>Right: Restaurant Operations &amp; Revenue Analytics Dashboard with AI Menu Engineering Matrix.</a:t>
            </a:r>
          </a:p>
          <a:p>
            <a:pPr>
              <a:defRPr b="1" sz="1200">
                <a:solidFill>
                  <a:srgbClr val="F59E0B"/>
                </a:solidFill>
              </a:defRPr>
            </a:pPr>
            <a:r>
              <a:t>Live Cloud Server URL: https://dineflowai.duckdns.org (Hosted on AWS EC2 Ubuntu Server)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System Testing &amp; Performance Verification</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13</a:t>
            </a:r>
          </a:p>
        </p:txBody>
      </p:sp>
      <p:sp>
        <p:nvSpPr>
          <p:cNvPr id="5" name="Rounded Rectangle 4"/>
          <p:cNvSpPr/>
          <p:nvPr/>
        </p:nvSpPr>
        <p:spPr>
          <a:xfrm>
            <a:off x="91440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24 / 24</a:t>
            </a:r>
          </a:p>
          <a:p>
            <a:pPr algn="ctr">
              <a:defRPr b="1" sz="1100">
                <a:solidFill>
                  <a:srgbClr val="F8FAFC"/>
                </a:solidFill>
              </a:defRPr>
            </a:pPr>
            <a:r>
              <a:t>Automated Tests Passed</a:t>
            </a:r>
          </a:p>
          <a:p>
            <a:pPr algn="ctr">
              <a:defRPr sz="1000">
                <a:solidFill>
                  <a:srgbClr val="94A3B8"/>
                </a:solidFill>
              </a:defRPr>
            </a:pPr>
            <a:r>
              <a:t>100% Pass Rate</a:t>
            </a:r>
          </a:p>
        </p:txBody>
      </p:sp>
      <p:sp>
        <p:nvSpPr>
          <p:cNvPr id="6" name="Rounded Rectangle 5"/>
          <p:cNvSpPr/>
          <p:nvPr/>
        </p:nvSpPr>
        <p:spPr>
          <a:xfrm>
            <a:off x="356616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&lt; 2.1s</a:t>
            </a:r>
          </a:p>
          <a:p>
            <a:pPr algn="ctr">
              <a:defRPr b="1" sz="1100">
                <a:solidFill>
                  <a:srgbClr val="F8FAFC"/>
                </a:solidFill>
              </a:defRPr>
            </a:pPr>
            <a:r>
              <a:t>Average Billing Speed</a:t>
            </a:r>
          </a:p>
          <a:p>
            <a:pPr algn="ctr">
              <a:defRPr sz="1000">
                <a:solidFill>
                  <a:srgbClr val="94A3B8"/>
                </a:solidFill>
              </a:defRPr>
            </a:pPr>
            <a:r>
              <a:t>Target: &lt; 3.0s</a:t>
            </a:r>
          </a:p>
        </p:txBody>
      </p:sp>
      <p:sp>
        <p:nvSpPr>
          <p:cNvPr id="7" name="Rounded Rectangle 6"/>
          <p:cNvSpPr/>
          <p:nvPr/>
        </p:nvSpPr>
        <p:spPr>
          <a:xfrm>
            <a:off x="621792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&lt; 180ms</a:t>
            </a:r>
          </a:p>
          <a:p>
            <a:pPr algn="ctr">
              <a:defRPr b="1" sz="1100">
                <a:solidFill>
                  <a:srgbClr val="F8FAFC"/>
                </a:solidFill>
              </a:defRPr>
            </a:pPr>
            <a:r>
              <a:t>KDS Dispatch Latency</a:t>
            </a:r>
          </a:p>
          <a:p>
            <a:pPr algn="ctr">
              <a:defRPr sz="1000">
                <a:solidFill>
                  <a:srgbClr val="94A3B8"/>
                </a:solidFill>
              </a:defRPr>
            </a:pPr>
            <a:r>
              <a:t>Target: &lt; 500ms</a:t>
            </a:r>
          </a:p>
        </p:txBody>
      </p:sp>
      <p:sp>
        <p:nvSpPr>
          <p:cNvPr id="8" name="Rounded Rectangle 7"/>
          <p:cNvSpPr/>
          <p:nvPr/>
        </p:nvSpPr>
        <p:spPr>
          <a:xfrm>
            <a:off x="886968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100%</a:t>
            </a:r>
          </a:p>
          <a:p>
            <a:pPr algn="ctr">
              <a:defRPr b="1" sz="1100">
                <a:solidFill>
                  <a:srgbClr val="F8FAFC"/>
                </a:solidFill>
              </a:defRPr>
            </a:pPr>
            <a:r>
              <a:t>Multi-Tenant Isolation</a:t>
            </a:r>
          </a:p>
          <a:p>
            <a:pPr algn="ctr">
              <a:defRPr sz="1000">
                <a:solidFill>
                  <a:srgbClr val="94A3B8"/>
                </a:solidFill>
              </a:defRPr>
            </a:pPr>
            <a:r>
              <a:t>Zero IDOR Leaks</a:t>
            </a:r>
          </a:p>
        </p:txBody>
      </p:sp>
      <p:sp>
        <p:nvSpPr>
          <p:cNvPr id="9" name="TextBox 8"/>
          <p:cNvSpPr txBox="1"/>
          <p:nvPr/>
        </p:nvSpPr>
        <p:spPr>
          <a:xfrm>
            <a:off x="914400" y="3749039"/>
            <a:ext cx="10332720" cy="2560320"/>
          </a:xfrm>
          <a:prstGeom prst="rect">
            <a:avLst/>
          </a:prstGeom>
          <a:noFill/>
        </p:spPr>
        <p:txBody>
          <a:bodyPr wrap="square">
            <a:spAutoFit/>
          </a:bodyPr>
          <a:lstStyle/>
          <a:p>
            <a:pPr>
              <a:defRPr b="1" sz="1250">
                <a:solidFill>
                  <a:srgbClr val="F59E0B"/>
                </a:solidFill>
              </a:defRPr>
            </a:pPr>
            <a:r>
              <a:t>VERIFIED TEST SUITES (Executed via Automated PHPUnit &amp; Stress Testing):</a:t>
            </a:r>
          </a:p>
          <a:p>
            <a:pPr>
              <a:defRPr b="1" sz="1150">
                <a:solidFill>
                  <a:srgbClr val="6366F1"/>
                </a:solidFill>
              </a:defRPr>
            </a:pPr>
            <a:r>
              <a:t>• 1. POS Billing &amp; Discount Math: Verified GST 5%/18% calculations, coupon code deductions, and roundoff logic across 100 test bills.</a:t>
            </a:r>
          </a:p>
          <a:p>
            <a:pPr>
              <a:defRPr b="1" sz="1150">
                <a:solidFill>
                  <a:srgbClr val="6366F1"/>
                </a:solidFill>
              </a:defRPr>
            </a:pPr>
            <a:r>
              <a:t>• 2. KDS Real-Time Synchronization: Tested simultaneous KOT dispatch from 10 client devices to kitchen screen without dropped packets.</a:t>
            </a:r>
          </a:p>
          <a:p>
            <a:pPr>
              <a:defRPr b="1" sz="1150">
                <a:solidFill>
                  <a:srgbClr val="6366F1"/>
                </a:solidFill>
              </a:defRPr>
            </a:pPr>
            <a:r>
              <a:t>• 3. Recipe Inventory Auto-Depletion: Verified accurate reduction of stock inventory (grams/ml) upon order confirmation.</a:t>
            </a:r>
          </a:p>
          <a:p>
            <a:pPr>
              <a:defRPr b="1" sz="1150">
                <a:solidFill>
                  <a:srgbClr val="6366F1"/>
                </a:solidFill>
              </a:defRPr>
            </a:pPr>
            <a:r>
              <a:t>• 4. Security &amp; RBAC Integrity: Audited cross-tenant URL manipulation (IDOR) — unauthorized requests rejected with HTTP 403 Forbidden.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Modifications Made After Testing (GTU Comp. 15)</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14</a:t>
            </a:r>
          </a:p>
        </p:txBody>
      </p:sp>
      <p:graphicFrame>
        <p:nvGraphicFramePr>
          <p:cNvPr id="5" name="Table 4"/>
          <p:cNvGraphicFramePr>
            <a:graphicFrameLocks noGrp="1"/>
          </p:cNvGraphicFramePr>
          <p:nvPr/>
        </p:nvGraphicFramePr>
        <p:xfrm>
          <a:off x="914400" y="1463040"/>
          <a:ext cx="10332720" cy="4389120"/>
        </p:xfrm>
        <a:graphic>
          <a:graphicData uri="http://schemas.openxmlformats.org/drawingml/2006/table">
            <a:tbl>
              <a:tblPr firstRow="1" bandRow="1">
                <a:tableStyleId>{5C22544A-7EE6-4342-B048-85BDC9FD1C3A}</a:tableStyleId>
              </a:tblPr>
              <a:tblGrid>
                <a:gridCol w="914400"/>
                <a:gridCol w="3017520"/>
                <a:gridCol w="3474720"/>
                <a:gridCol w="2926080"/>
              </a:tblGrid>
              <a:tr h="1097280">
                <a:tc>
                  <a:txBody>
                    <a:bodyPr/>
                    <a:lstStyle/>
                    <a:p>
                      <a:pPr>
                        <a:defRPr b="1" sz="1100">
                          <a:solidFill>
                            <a:srgbClr val="F8FAFC"/>
                          </a:solidFill>
                        </a:defRPr>
                      </a:pPr>
                      <a:r>
                        <a:t>Issue</a:t>
                      </a:r>
                    </a:p>
                  </a:txBody>
                  <a:tcPr>
                    <a:solidFill>
                      <a:srgbClr val="6366F1"/>
                    </a:solidFill>
                  </a:tcPr>
                </a:tc>
                <a:tc>
                  <a:txBody>
                    <a:bodyPr/>
                    <a:lstStyle/>
                    <a:p>
                      <a:pPr>
                        <a:defRPr b="1" sz="1100">
                          <a:solidFill>
                            <a:srgbClr val="F8FAFC"/>
                          </a:solidFill>
                        </a:defRPr>
                      </a:pPr>
                      <a:r>
                        <a:t>Problem Identified in Testing</a:t>
                      </a:r>
                    </a:p>
                  </a:txBody>
                  <a:tcPr>
                    <a:solidFill>
                      <a:srgbClr val="6366F1"/>
                    </a:solidFill>
                  </a:tcPr>
                </a:tc>
                <a:tc>
                  <a:txBody>
                    <a:bodyPr/>
                    <a:lstStyle/>
                    <a:p>
                      <a:pPr>
                        <a:defRPr b="1" sz="1100">
                          <a:solidFill>
                            <a:srgbClr val="F8FAFC"/>
                          </a:solidFill>
                        </a:defRPr>
                      </a:pPr>
                      <a:r>
                        <a:t>Modification Implemented</a:t>
                      </a:r>
                    </a:p>
                  </a:txBody>
                  <a:tcPr>
                    <a:solidFill>
                      <a:srgbClr val="6366F1"/>
                    </a:solidFill>
                  </a:tcPr>
                </a:tc>
                <a:tc>
                  <a:txBody>
                    <a:bodyPr/>
                    <a:lstStyle/>
                    <a:p>
                      <a:pPr>
                        <a:defRPr b="1" sz="1100">
                          <a:solidFill>
                            <a:srgbClr val="F8FAFC"/>
                          </a:solidFill>
                        </a:defRPr>
                      </a:pPr>
                      <a:r>
                        <a:t>Observed Result After Fix</a:t>
                      </a:r>
                    </a:p>
                  </a:txBody>
                  <a:tcPr>
                    <a:solidFill>
                      <a:srgbClr val="6366F1"/>
                    </a:solidFill>
                  </a:tcPr>
                </a:tc>
              </a:tr>
              <a:tr h="1097280">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Browser Print Dialogue Delay: Standard window.print() took 5-8 seconds and froze cashier screen.</a:t>
                      </a:r>
                    </a:p>
                  </a:txBody>
                  <a:tcPr>
                    <a:solidFill>
                      <a:srgbClr val="1E293B"/>
                    </a:solidFill>
                  </a:tcPr>
                </a:tc>
                <a:tc>
                  <a:txBody>
                    <a:bodyPr/>
                    <a:lstStyle/>
                    <a:p>
                      <a:pPr>
                        <a:defRPr sz="1050">
                          <a:solidFill>
                            <a:srgbClr val="F8FAFC"/>
                          </a:solidFill>
                        </a:defRPr>
                      </a:pPr>
                      <a:r>
                        <a:t>Integrated raw ESC/POS byte-stream protocol over WebSocket/Web-Serial.</a:t>
                      </a:r>
                    </a:p>
                  </a:txBody>
                  <a:tcPr>
                    <a:solidFill>
                      <a:srgbClr val="1E293B"/>
                    </a:solidFill>
                  </a:tcPr>
                </a:tc>
                <a:tc>
                  <a:txBody>
                    <a:bodyPr/>
                    <a:lstStyle/>
                    <a:p>
                      <a:pPr>
                        <a:defRPr sz="1050">
                          <a:solidFill>
                            <a:srgbClr val="F8FAFC"/>
                          </a:solidFill>
                        </a:defRPr>
                      </a:pPr>
                      <a:r>
                        <a:t>Zero-click instant thermal printing with automatic cutter in 1.2s.</a:t>
                      </a:r>
                    </a:p>
                  </a:txBody>
                  <a:tcPr>
                    <a:solidFill>
                      <a:srgbClr val="1E293B"/>
                    </a:solidFill>
                  </a:tcPr>
                </a:tc>
              </a:tr>
              <a:tr h="1097280">
                <a:tc>
                  <a:txBody>
                    <a:bodyPr/>
                    <a:lstStyle/>
                    <a:p>
                      <a:pPr>
                        <a:defRPr sz="1050">
                          <a:solidFill>
                            <a:srgbClr val="F8FAFC"/>
                          </a:solidFill>
                        </a:defRPr>
                      </a:pPr>
                      <a:r>
                        <a:t>2</a:t>
                      </a:r>
                    </a:p>
                  </a:txBody>
                  <a:tcPr>
                    <a:solidFill>
                      <a:srgbClr val="1E293B"/>
                    </a:solidFill>
                  </a:tcPr>
                </a:tc>
                <a:tc>
                  <a:txBody>
                    <a:bodyPr/>
                    <a:lstStyle/>
                    <a:p>
                      <a:pPr>
                        <a:defRPr sz="1050">
                          <a:solidFill>
                            <a:srgbClr val="F8FAFC"/>
                          </a:solidFill>
                        </a:defRPr>
                      </a:pPr>
                      <a:r>
                        <a:t>Missed KOTs in Loud Kitchens: Chefs missed visual screen updates during busy dinner rush.</a:t>
                      </a:r>
                    </a:p>
                  </a:txBody>
                  <a:tcPr>
                    <a:solidFill>
                      <a:srgbClr val="1E293B"/>
                    </a:solidFill>
                  </a:tcPr>
                </a:tc>
                <a:tc>
                  <a:txBody>
                    <a:bodyPr/>
                    <a:lstStyle/>
                    <a:p>
                      <a:pPr>
                        <a:defRPr sz="1050">
                          <a:solidFill>
                            <a:srgbClr val="F8FAFC"/>
                          </a:solidFill>
                        </a:defRPr>
                      </a:pPr>
                      <a:r>
                        <a:t>Engineered HTML5 Web Audio Speech synthesis in Gujarati ('નવો ઓર્ડર: ટેબલ ૪').</a:t>
                      </a:r>
                    </a:p>
                  </a:txBody>
                  <a:tcPr>
                    <a:solidFill>
                      <a:srgbClr val="1E293B"/>
                    </a:solidFill>
                  </a:tcPr>
                </a:tc>
                <a:tc>
                  <a:txBody>
                    <a:bodyPr/>
                    <a:lstStyle/>
                    <a:p>
                      <a:pPr>
                        <a:defRPr sz="1050">
                          <a:solidFill>
                            <a:srgbClr val="F8FAFC"/>
                          </a:solidFill>
                        </a:defRPr>
                      </a:pPr>
                      <a:r>
                        <a:t>100% KOT awareness achieved; zero missed orders during kitchen rush.</a:t>
                      </a:r>
                    </a:p>
                  </a:txBody>
                  <a:tcPr>
                    <a:solidFill>
                      <a:srgbClr val="1E293B"/>
                    </a:solidFill>
                  </a:tcPr>
                </a:tc>
              </a:tr>
              <a:tr h="1097280">
                <a:tc>
                  <a:txBody>
                    <a:bodyPr/>
                    <a:lstStyle/>
                    <a:p>
                      <a:pPr>
                        <a:defRPr sz="1050">
                          <a:solidFill>
                            <a:srgbClr val="F8FAFC"/>
                          </a:solidFill>
                        </a:defRPr>
                      </a:pPr>
                      <a:r>
                        <a:t>3</a:t>
                      </a:r>
                    </a:p>
                  </a:txBody>
                  <a:tcPr>
                    <a:solidFill>
                      <a:srgbClr val="1E293B"/>
                    </a:solidFill>
                  </a:tcPr>
                </a:tc>
                <a:tc>
                  <a:txBody>
                    <a:bodyPr/>
                    <a:lstStyle/>
                    <a:p>
                      <a:pPr>
                        <a:defRPr sz="1050">
                          <a:solidFill>
                            <a:srgbClr val="F8FAFC"/>
                          </a:solidFill>
                        </a:defRPr>
                      </a:pPr>
                      <a:r>
                        <a:t>Sandbox Session Layout Distortion: Demo notification banner squished sidebar in flex layout.</a:t>
                      </a:r>
                    </a:p>
                  </a:txBody>
                  <a:tcPr>
                    <a:solidFill>
                      <a:srgbClr val="1E293B"/>
                    </a:solidFill>
                  </a:tcPr>
                </a:tc>
                <a:tc>
                  <a:txBody>
                    <a:bodyPr/>
                    <a:lstStyle/>
                    <a:p>
                      <a:pPr>
                        <a:defRPr sz="1050">
                          <a:solidFill>
                            <a:srgbClr val="F8FAFC"/>
                          </a:solidFill>
                        </a:defRPr>
                      </a:pPr>
                      <a:r>
                        <a:t>Refactored banner to fixed top overlay with 34px container pushdown.</a:t>
                      </a:r>
                    </a:p>
                  </a:txBody>
                  <a:tcPr>
                    <a:solidFill>
                      <a:srgbClr val="1E293B"/>
                    </a:solidFill>
                  </a:tcPr>
                </a:tc>
                <a:tc>
                  <a:txBody>
                    <a:bodyPr/>
                    <a:lstStyle/>
                    <a:p>
                      <a:pPr>
                        <a:defRPr sz="1050">
                          <a:solidFill>
                            <a:srgbClr val="F8FAFC"/>
                          </a:solidFill>
                        </a:defRPr>
                      </a:pPr>
                      <a:r>
                        <a:t>Clean responsive layout maintained across all desktop &amp; tablet resolutions.</a:t>
                      </a:r>
                    </a:p>
                  </a:txBody>
                  <a:tcPr>
                    <a:solidFill>
                      <a:srgbClr val="1E293B"/>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Conclusion &amp; Future Scope</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15</a:t>
            </a:r>
          </a:p>
        </p:txBody>
      </p:sp>
      <p:sp>
        <p:nvSpPr>
          <p:cNvPr id="5" name="Rounded Rectangle 4"/>
          <p:cNvSpPr/>
          <p:nvPr/>
        </p:nvSpPr>
        <p:spPr>
          <a:xfrm>
            <a:off x="914400" y="1463040"/>
            <a:ext cx="493776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PROJECT CONCLUSION</a:t>
            </a:r>
          </a:p>
          <a:p>
            <a:pPr>
              <a:defRPr b="1" sz="1150">
                <a:solidFill>
                  <a:srgbClr val="10B981"/>
                </a:solidFill>
              </a:defRPr>
            </a:pPr>
            <a:r>
              <a:t>✔ Objective 1 Achieved: Engineered an ultra-fast Web POS terminal operating in sub-3 seconds with raw ESC/POS thermal printing.</a:t>
            </a:r>
          </a:p>
          <a:p>
            <a:pPr>
              <a:defRPr b="1" sz="1150">
                <a:solidFill>
                  <a:srgbClr val="10B981"/>
                </a:solidFill>
              </a:defRPr>
            </a:pPr>
            <a:r>
              <a:t>✔ Objective 2 Achieved: Built seamless contactless QR table ordering and digital KDS eliminating physical menus and paper KOTs.</a:t>
            </a:r>
          </a:p>
          <a:p>
            <a:pPr>
              <a:defRPr b="1" sz="1150">
                <a:solidFill>
                  <a:srgbClr val="10B981"/>
                </a:solidFill>
              </a:defRPr>
            </a:pPr>
            <a:r>
              <a:t>✔ Objective 3 Achieved: Integrated automated recipe costing inventory depletion and real-time Gujarati voice alerts.</a:t>
            </a:r>
          </a:p>
          <a:p>
            <a:pPr>
              <a:defRPr b="1" sz="1150">
                <a:solidFill>
                  <a:srgbClr val="10B981"/>
                </a:solidFill>
              </a:defRPr>
            </a:pPr>
            <a:r>
              <a:t>✔ Production Deployed: Live cloud deployment operating on AWS EC2 server at https://dineflowai.duckdns.org.</a:t>
            </a:r>
          </a:p>
        </p:txBody>
      </p:sp>
      <p:sp>
        <p:nvSpPr>
          <p:cNvPr id="6" name="Rounded Rectangle 5"/>
          <p:cNvSpPr/>
          <p:nvPr/>
        </p:nvSpPr>
        <p:spPr>
          <a:xfrm>
            <a:off x="6309360" y="1463040"/>
            <a:ext cx="4937760" cy="4572000"/>
          </a:xfrm>
          <a:prstGeom prst="roundRect">
            <a:avLst/>
          </a:prstGeom>
          <a:solidFill>
            <a:srgbClr val="1E293B"/>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FUTURE EXPANSION ROADMAP</a:t>
            </a:r>
          </a:p>
          <a:p>
            <a:pPr>
              <a:defRPr b="1" sz="1150">
                <a:solidFill>
                  <a:srgbClr val="6366F1"/>
                </a:solidFill>
              </a:defRPr>
            </a:pPr>
            <a:r>
              <a:t>🚀 AI Predictive Inventory Forecasting: Use machine learning (ARIMA/LSTM) to predict ingredient requirements based on weather and festival rush.</a:t>
            </a:r>
          </a:p>
          <a:p>
            <a:pPr>
              <a:defRPr b="1" sz="1150">
                <a:solidFill>
                  <a:srgbClr val="6366F1"/>
                </a:solidFill>
              </a:defRPr>
            </a:pPr>
            <a:r>
              <a:t>🚀 Direct Food Aggregator Integration: Direct 2-way API order ingestion from Zomato and Swiggy into one single unified KDS screen.</a:t>
            </a:r>
          </a:p>
          <a:p>
            <a:pPr>
              <a:defRPr b="1" sz="1150">
                <a:solidFill>
                  <a:srgbClr val="6366F1"/>
                </a:solidFill>
              </a:defRPr>
            </a:pPr>
            <a:r>
              <a:t>🚀 IoT Kitchen Tare Weight Scale: Connect Bluetooth weight scales under oil/flour bins for automated real-time gram depletion without manual entry.</a:t>
            </a:r>
          </a:p>
          <a:p>
            <a:pPr>
              <a:defRPr b="1" sz="1150">
                <a:solidFill>
                  <a:srgbClr val="6366F1"/>
                </a:solidFill>
              </a:defRPr>
            </a:pPr>
            <a:r>
              <a:t>🚀 WhatsApp Conversational Bot: Allow customers to place takeaway orders and pay directly inside WhatsApp.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Startup, SSIP Grant &amp; Patent Potential</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16</a:t>
            </a:r>
          </a:p>
        </p:txBody>
      </p:sp>
      <p:sp>
        <p:nvSpPr>
          <p:cNvPr id="5" name="Rounded Rectangle 4"/>
          <p:cNvSpPr/>
          <p:nvPr/>
        </p:nvSpPr>
        <p:spPr>
          <a:xfrm>
            <a:off x="91440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1. Startup Venture Potential</a:t>
            </a:r>
          </a:p>
          <a:p>
            <a:pPr>
              <a:defRPr b="1" sz="1200">
                <a:solidFill>
                  <a:srgbClr val="10B981"/>
                </a:solidFill>
              </a:defRPr>
            </a:pPr>
            <a:r>
              <a:t>DineFlow AI Pvt. Ltd.</a:t>
            </a:r>
          </a:p>
          <a:p>
            <a:pPr>
              <a:defRPr sz="1150">
                <a:solidFill>
                  <a:srgbClr val="F8FAFC"/>
                </a:solidFill>
              </a:defRPr>
            </a:pPr>
            <a:r>
              <a:t>• Target Market: 30M+ restaurants, cafes, cloud kitchens, and bakeries in India.</a:t>
            </a:r>
            <a:br/>
            <a:r>
              <a:t>• Value Proposition: 70% cheaper than legacy POS (Petpooja/Toast), runs on any mobile/PC, zero hardware lock-in.</a:t>
            </a:r>
            <a:br/>
            <a:r>
              <a:t>• Revenue Model: Affordable B2B SaaS subscription (₹499 - ₹1,499/mo) + source code licensing.</a:t>
            </a:r>
            <a:br/>
            <a:r>
              <a:t>• Live Traction: Functional prototype live at dineflowai.duckdns.org.</a:t>
            </a:r>
          </a:p>
        </p:txBody>
      </p:sp>
      <p:sp>
        <p:nvSpPr>
          <p:cNvPr id="6" name="Rounded Rectangle 5"/>
          <p:cNvSpPr/>
          <p:nvPr/>
        </p:nvSpPr>
        <p:spPr>
          <a:xfrm>
            <a:off x="438912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2. SSIP 2.0 Grant Scheme</a:t>
            </a:r>
          </a:p>
          <a:p>
            <a:pPr>
              <a:defRPr b="1" sz="1200">
                <a:solidFill>
                  <a:srgbClr val="10B981"/>
                </a:solidFill>
              </a:defRPr>
            </a:pPr>
            <a:r>
              <a:t>Government of Gujarat</a:t>
            </a:r>
          </a:p>
          <a:p>
            <a:pPr>
              <a:defRPr sz="1150">
                <a:solidFill>
                  <a:srgbClr val="F8FAFC"/>
                </a:solidFill>
              </a:defRPr>
            </a:pPr>
            <a:r>
              <a:t>• Status: Proposed &amp; Eligible (PoC/Prototype Grant up to ₹ 2.50 Lakhs).</a:t>
            </a:r>
            <a:br/>
            <a:r>
              <a:t>• Proposal Stage: In pipeline for submission to K. D. Polytechnic SSIP Innovation Council.</a:t>
            </a:r>
            <a:br/>
            <a:r>
              <a:t>• Target Use: Deploying thermal printers &amp; pilot trials in local Patan restaurants.</a:t>
            </a:r>
          </a:p>
        </p:txBody>
      </p:sp>
      <p:sp>
        <p:nvSpPr>
          <p:cNvPr id="7" name="Rounded Rectangle 6"/>
          <p:cNvSpPr/>
          <p:nvPr/>
        </p:nvSpPr>
        <p:spPr>
          <a:xfrm>
            <a:off x="786384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3. Intellectual Property (IP)</a:t>
            </a:r>
          </a:p>
          <a:p>
            <a:pPr>
              <a:defRPr b="1" sz="1200">
                <a:solidFill>
                  <a:srgbClr val="10B981"/>
                </a:solidFill>
              </a:defRPr>
            </a:pPr>
            <a:r>
              <a:t>Copyright &amp; Novelty</a:t>
            </a:r>
          </a:p>
          <a:p>
            <a:pPr>
              <a:defRPr sz="1150">
                <a:solidFill>
                  <a:srgbClr val="F8FAFC"/>
                </a:solidFill>
              </a:defRPr>
            </a:pPr>
            <a:r>
              <a:t>• Copyright Protection: Proprietary source code architecture for multi-tenant hybrid offline-cloud restaurant sync.</a:t>
            </a:r>
            <a:br/>
            <a:r>
              <a:t>• Trade Secret: Dynamic BCG AI Menu Engineering Matrix &amp; Recipe Depletion Algorithm.</a:t>
            </a:r>
            <a:br/>
            <a:r>
              <a:t>• 100% Owned by Patel Shubh Maheshkumar &amp; Team.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References &amp; Open Discussion</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17</a:t>
            </a:r>
          </a:p>
        </p:txBody>
      </p:sp>
      <p:sp>
        <p:nvSpPr>
          <p:cNvPr id="5" name="TextBox 4"/>
          <p:cNvSpPr txBox="1"/>
          <p:nvPr/>
        </p:nvSpPr>
        <p:spPr>
          <a:xfrm>
            <a:off x="914400" y="1463040"/>
            <a:ext cx="5486400" cy="4754880"/>
          </a:xfrm>
          <a:prstGeom prst="rect">
            <a:avLst/>
          </a:prstGeom>
          <a:noFill/>
        </p:spPr>
        <p:txBody>
          <a:bodyPr wrap="square">
            <a:spAutoFit/>
          </a:bodyPr>
          <a:lstStyle/>
          <a:p>
            <a:pPr>
              <a:defRPr b="1" sz="1300">
                <a:solidFill>
                  <a:srgbClr val="6366F1"/>
                </a:solidFill>
              </a:defRPr>
            </a:pPr>
            <a:r>
              <a:t>ACADEMIC REFERENCES (APA 7th Edition):</a:t>
            </a:r>
          </a:p>
          <a:p>
            <a:pPr>
              <a:defRPr sz="1050">
                <a:solidFill>
                  <a:srgbClr val="F8FAFC"/>
                </a:solidFill>
              </a:defRPr>
            </a:pPr>
            <a:r>
              <a:t>• Gujarat Technological University. (2026). Diploma Engineering Minor Project Syllabus (Subject Code: DI05000341). GTU Academic Board.</a:t>
            </a:r>
          </a:p>
          <a:p>
            <a:pPr>
              <a:defRPr sz="1050">
                <a:solidFill>
                  <a:srgbClr val="F8FAFC"/>
                </a:solidFill>
              </a:defRPr>
            </a:pPr>
            <a:r>
              <a:t>• National Restaurant Association of India. (2024). India Food Services Report: Technology Adoption in Hospitality Sector. NRAI Publications.</a:t>
            </a:r>
          </a:p>
          <a:p>
            <a:pPr>
              <a:defRPr sz="1050">
                <a:solidFill>
                  <a:srgbClr val="F8FAFC"/>
                </a:solidFill>
              </a:defRPr>
            </a:pPr>
            <a:r>
              <a:t>• Otwell, T. (2024). Laravel 11: The PHP Framework for Web Artisans. Taylor Otwell &amp; Laravel Core Team.</a:t>
            </a:r>
          </a:p>
          <a:p>
            <a:pPr>
              <a:defRPr sz="1050">
                <a:solidFill>
                  <a:srgbClr val="F8FAFC"/>
                </a:solidFill>
              </a:defRPr>
            </a:pPr>
            <a:r>
              <a:t>• Fielding, R. T. (2000). Architectural Styles and the Design of Network-based Software Architectures. University of California, Irvine.</a:t>
            </a:r>
          </a:p>
          <a:p>
            <a:pPr>
              <a:defRPr sz="1050">
                <a:solidFill>
                  <a:srgbClr val="F8FAFC"/>
                </a:solidFill>
              </a:defRPr>
            </a:pPr>
            <a:r>
              <a:t>• World Wide Web Consortium. (2023). Progressive Web Apps Architecture &amp; Service Workers Specification. W3C Recommendation.</a:t>
            </a:r>
          </a:p>
        </p:txBody>
      </p:sp>
      <p:sp>
        <p:nvSpPr>
          <p:cNvPr id="6" name="Rounded Rectangle 5"/>
          <p:cNvSpPr/>
          <p:nvPr/>
        </p:nvSpPr>
        <p:spPr>
          <a:xfrm>
            <a:off x="6766560" y="1463040"/>
            <a:ext cx="4480560" cy="4572000"/>
          </a:xfrm>
          <a:prstGeom prst="roundRect">
            <a:avLst/>
          </a:prstGeom>
          <a:solidFill>
            <a:srgbClr val="1E293B"/>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400">
                <a:solidFill>
                  <a:srgbClr val="F59E0B"/>
                </a:solidFill>
              </a:defRPr>
            </a:pPr>
            <a:br/>
            <a:r>
              <a:t>THANK YOU!</a:t>
            </a:r>
          </a:p>
          <a:p>
            <a:pPr algn="ctr">
              <a:defRPr b="1" sz="1500">
                <a:solidFill>
                  <a:srgbClr val="F8FAFC"/>
                </a:solidFill>
              </a:defRPr>
            </a:pPr>
            <a:r>
              <a:t>Questions &amp; Technical Discussion</a:t>
            </a:r>
            <a:br/>
          </a:p>
          <a:p>
            <a:pPr algn="ctr">
              <a:defRPr sz="1150">
                <a:solidFill>
                  <a:srgbClr val="94A3B8"/>
                </a:solidFill>
              </a:defRPr>
            </a:pPr>
            <a:r>
              <a:t>Project Lead: Patel Shubh Maheshkumar</a:t>
            </a:r>
          </a:p>
          <a:p>
            <a:pPr algn="ctr">
              <a:defRPr sz="1150">
                <a:solidFill>
                  <a:srgbClr val="94A3B8"/>
                </a:solidFill>
              </a:defRPr>
            </a:pPr>
            <a:r>
              <a:t>Enrollment No: 246310307123</a:t>
            </a:r>
          </a:p>
          <a:p>
            <a:pPr algn="ctr">
              <a:defRPr sz="1150">
                <a:solidFill>
                  <a:srgbClr val="94A3B8"/>
                </a:solidFill>
              </a:defRPr>
            </a:pPr>
            <a:r>
              <a:t>Department: Computer Engineering</a:t>
            </a:r>
          </a:p>
          <a:p>
            <a:pPr algn="ctr">
              <a:defRPr sz="1150">
                <a:solidFill>
                  <a:srgbClr val="94A3B8"/>
                </a:solidFill>
              </a:defRPr>
            </a:pPr>
            <a:r>
              <a:t>Institute: K. D. Polytechnic, Patan</a:t>
            </a:r>
          </a:p>
          <a:p>
            <a:pPr algn="ctr">
              <a:defRPr sz="1150">
                <a:solidFill>
                  <a:srgbClr val="94A3B8"/>
                </a:solidFill>
              </a:defRPr>
            </a:pPr>
            <a:r>
              <a:t>Project Guide: Prof. Yagnesh Patel</a:t>
            </a:r>
          </a:p>
          <a:p>
            <a:pPr algn="ctr">
              <a:defRPr sz="1150">
                <a:solidFill>
                  <a:srgbClr val="94A3B8"/>
                </a:solidFill>
              </a:defRPr>
            </a:pPr>
            <a:r>
              <a:t>Head of Dept: Dr. Chirag D. Patel</a:t>
            </a:r>
          </a:p>
          <a:p>
            <a:pPr algn="ctr">
              <a:defRPr sz="1150">
                <a:solidFill>
                  <a:srgbClr val="94A3B8"/>
                </a:solidFill>
              </a:defRPr>
            </a:pPr>
            <a:r>
              <a:t>Live Project: https://dineflowai.duckdns.org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