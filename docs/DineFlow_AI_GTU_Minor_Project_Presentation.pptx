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2920"/>
            <a:ext cx="1371600" cy="1653567"/>
          </a:xfrm>
          <a:prstGeom prst="rect">
            <a:avLst/>
          </a:prstGeom>
        </p:spPr>
      </p:pic>
      <p:pic>
        <p:nvPicPr>
          <p:cNvPr id="5" name="Picture 4" descr="kd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0292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411480"/>
            <a:ext cx="7406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3A8A"/>
                </a:solidFill>
              </a:rPr>
              <a:t>GUJARAT TECHNOLOGICAL UNIVERSITY, AHMEDABAD</a:t>
            </a:r>
          </a:p>
          <a:p>
            <a:pPr algn="ctr">
              <a:spcBef>
                <a:spcPts val="400"/>
              </a:spcBef>
            </a:pPr>
            <a:r>
              <a:rPr sz="1300" b="1">
                <a:solidFill>
                  <a:srgbClr val="475569"/>
                </a:solidFill>
              </a:rPr>
              <a:t>K. D. POLYTECHNIC, PATAN (GTU CODE: 631)
Department of Computer Engineering | Academic Year: 2026-27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362895" cy="233172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9966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</a:rPr>
              <a:t>A MINOR PROJECT PRESENTATION ON</a:t>
            </a:r>
          </a:p>
          <a:p>
            <a:pPr algn="ctr">
              <a:spcBef>
                <a:spcPts val="600"/>
              </a:spcBef>
            </a:pPr>
            <a:r>
              <a:rPr sz="2300" b="1">
                <a:solidFill>
                  <a:srgbClr val="1E3A8A"/>
                </a:solidFill>
              </a:rPr>
              <a:t>“DineFlow AI: Next-Generation Restaurant Cloud POS,
Contactless QR Ordering, Real-Time KDS &amp; Smart ERP System”</a:t>
            </a:r>
          </a:p>
          <a:p>
            <a:pPr algn="ctr">
              <a:spcBef>
                <a:spcPts val="600"/>
              </a:spcBef>
            </a:pPr>
            <a:r>
              <a:rPr sz="1250" b="1">
                <a:solidFill>
                  <a:srgbClr val="2563EB"/>
                </a:solidFill>
              </a:rPr>
              <a:t>Subject Code: DI05000341  |  Diploma Computer Engineering  |  Semester 5th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43400"/>
            <a:ext cx="50292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489704"/>
            <a:ext cx="4626864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Candidate &amp; Project Lead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Student Name: </a:t>
            </a:r>
            <a:r>
              <a:rPr sz="1200">
                <a:solidFill>
                  <a:srgbClr val="1F2937"/>
                </a:solidFill>
              </a:rPr>
              <a:t>PATEL SHUBH MAHESHKUMAR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Enrolment No: </a:t>
            </a:r>
            <a:r>
              <a:rPr sz="1200">
                <a:solidFill>
                  <a:srgbClr val="1F2937"/>
                </a:solidFill>
              </a:rPr>
              <a:t>246310307123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Program &amp; Sem: </a:t>
            </a:r>
            <a:r>
              <a:rPr sz="1200">
                <a:solidFill>
                  <a:srgbClr val="1F2937"/>
                </a:solidFill>
              </a:rPr>
              <a:t>Diploma Computer Engineering (Sem 5)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Institutional Role: </a:t>
            </a:r>
            <a:r>
              <a:rPr sz="1200">
                <a:solidFill>
                  <a:srgbClr val="1F2937"/>
                </a:solidFill>
              </a:rPr>
              <a:t>Team Lead / Full-Stack &amp; Cloud Engineer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343400"/>
            <a:ext cx="50292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9263" y="4489704"/>
            <a:ext cx="4626864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Project Guide &amp; Department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Internal Guide: </a:t>
            </a:r>
            <a:r>
              <a:rPr sz="1200">
                <a:solidFill>
                  <a:srgbClr val="1F2937"/>
                </a:solidFill>
              </a:rPr>
              <a:t>Prof. Yagnesh Patel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Designation: </a:t>
            </a:r>
            <a:r>
              <a:rPr sz="1200">
                <a:solidFill>
                  <a:srgbClr val="1F2937"/>
                </a:solidFill>
              </a:rPr>
              <a:t>Lecturer, Computer Engineering Dept.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Head of Dept: </a:t>
            </a:r>
            <a:r>
              <a:rPr sz="1200">
                <a:solidFill>
                  <a:srgbClr val="1F2937"/>
                </a:solidFill>
              </a:rPr>
              <a:t>Dr. Chirag D. Patel (HOD, Computer Engg.)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Principal: </a:t>
            </a:r>
            <a:r>
              <a:rPr sz="1200">
                <a:solidFill>
                  <a:srgbClr val="1F2937"/>
                </a:solidFill>
              </a:rPr>
              <a:t>Shri H. C. Parmar, K. D. Polytechnic, Patan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EXECUTIVE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2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6636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47640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Part I: Architecture &amp; Design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01. Problem Statement &amp; Context: </a:t>
            </a:r>
            <a:r>
              <a:rPr sz="1200">
                <a:solidFill>
                  <a:srgbClr val="1F2937"/>
                </a:solidFill>
              </a:rPr>
              <a:t>Operational bottlenecks, communication lags &amp; terminal cost barriers.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02. Project Objectives: </a:t>
            </a:r>
            <a:r>
              <a:rPr sz="1200">
                <a:solidFill>
                  <a:srgbClr val="1F2937"/>
                </a:solidFill>
              </a:rPr>
              <a:t>5 measurable engineering targets: Speed, QR, KDS, BOM &amp; Offline Sync.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03. Literature Survey &amp; Gap: </a:t>
            </a:r>
            <a:r>
              <a:rPr sz="1200">
                <a:solidFill>
                  <a:srgbClr val="1F2937"/>
                </a:solidFill>
              </a:rPr>
              <a:t>Competitive benchmark against Petpooja, Toast POS, Posist &amp; manual ECR.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04. Alternative Technical Solutions: </a:t>
            </a:r>
            <a:r>
              <a:rPr sz="1200">
                <a:solidFill>
                  <a:srgbClr val="1F2937"/>
                </a:solidFill>
              </a:rPr>
              <a:t>Architectural trade-off analysis (Desktop vs Embedded vs Cloud Hybrid).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05. General Block Diagram: </a:t>
            </a:r>
            <a:r>
              <a:rPr sz="1200">
                <a:solidFill>
                  <a:srgbClr val="1F2937"/>
                </a:solidFill>
              </a:rPr>
              <a:t>4-tier architecture: Input, Core Logic, Storage &amp; Actuator Tiers.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06. Detailed Circuit &amp; Process Diagram: </a:t>
            </a:r>
            <a:r>
              <a:rPr sz="1200">
                <a:solidFill>
                  <a:srgbClr val="1F2937"/>
                </a:solidFill>
              </a:rPr>
              <a:t>Kitchen order lifecycle &amp; 24V RJ11 solenoid hardware wiring circuit.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578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26463"/>
            <a:ext cx="485546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Part II: Execution, Verification &amp; Vision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07. System Flowchart &amp; Algorithm: </a:t>
            </a:r>
            <a:r>
              <a:rPr sz="1200">
                <a:solidFill>
                  <a:srgbClr val="1F2937"/>
                </a:solidFill>
              </a:rPr>
              <a:t>Stock validation, order transaction logic &amp; offline SQLite backoff sync.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08. 15-Week Work Plan: </a:t>
            </a:r>
            <a:r>
              <a:rPr sz="1200">
                <a:solidFill>
                  <a:srgbClr val="1F2937"/>
                </a:solidFill>
              </a:rPr>
              <a:t>Semester implementation schedule mapped to GTU Seminars 1 to 4.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09. Prototype / Model Development: </a:t>
            </a:r>
            <a:r>
              <a:rPr sz="1200">
                <a:solidFill>
                  <a:srgbClr val="1F2937"/>
                </a:solidFill>
              </a:rPr>
              <a:t>Live Web POS counter terminal interface &amp; 80mm ESC/POS printer.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10. Testing, Results &amp; Modifications: </a:t>
            </a:r>
            <a:r>
              <a:rPr sz="1200">
                <a:solidFill>
                  <a:srgbClr val="1F2937"/>
                </a:solidFill>
              </a:rPr>
              <a:t>41 unit tests, sub-180ms latency benchmarks &amp; GTU Competency 15 fixes.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11. Conclusion &amp; Future Scope: </a:t>
            </a:r>
            <a:r>
              <a:rPr sz="1200">
                <a:solidFill>
                  <a:srgbClr val="1F2937"/>
                </a:solidFill>
              </a:rPr>
              <a:t>Technical achievements vs objectives, AI voice &amp; predictive ERP roadmap.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12. Commercial Startup Vision &amp; Q&amp;A: </a:t>
            </a:r>
            <a:r>
              <a:rPr sz="1200">
                <a:solidFill>
                  <a:srgbClr val="1F2937"/>
                </a:solidFill>
              </a:rPr>
              <a:t>SaaS business roadmap, APA 7th references &amp; External Viva discussion.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BACKGROUND &amp;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Problem Statement &amp; Industry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3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23042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485546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DC2626"/>
                </a:solidFill>
              </a:rPr>
              <a:t>1. Prohibitive Capital Cost Barrier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Hardware Lock-in: </a:t>
            </a:r>
            <a:r>
              <a:rPr sz="1200">
                <a:solidFill>
                  <a:srgbClr val="1F2937"/>
                </a:solidFill>
              </a:rPr>
              <a:t>Commercial POS vendors demand ₹25,000 - ₹50,000 per cash counter for proprietary terminals.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Recurring Squeeze: </a:t>
            </a:r>
            <a:r>
              <a:rPr sz="1200">
                <a:solidFill>
                  <a:srgbClr val="1F2937"/>
                </a:solidFill>
              </a:rPr>
              <a:t>Annual maintenance contracts (AMC) and forced payment gateway fees strain independent restaurant margins.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57800" cy="23042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26463"/>
            <a:ext cx="485546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D97706"/>
                </a:solidFill>
              </a:rPr>
              <a:t>2. Kitchen Communication Lag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Paper Slips Friction: </a:t>
            </a:r>
            <a:r>
              <a:rPr sz="1200">
                <a:solidFill>
                  <a:srgbClr val="1F2937"/>
                </a:solidFill>
              </a:rPr>
              <a:t>Manual handwritten KOTs walk to kitchen, causing 8-14 minutes communication lag during peak dining rushes.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Transcription Errors: </a:t>
            </a:r>
            <a:r>
              <a:rPr sz="1200">
                <a:solidFill>
                  <a:srgbClr val="1F2937"/>
                </a:solidFill>
              </a:rPr>
              <a:t>Illegible handwriting leads to wrong dish preps, food wastage, and server frustration.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257800" cy="23042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95344"/>
            <a:ext cx="485546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DC2626"/>
                </a:solidFill>
              </a:rPr>
              <a:t>3. Fragile Cloud Dependency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Broadband Failure: </a:t>
            </a:r>
            <a:r>
              <a:rPr sz="1200">
                <a:solidFill>
                  <a:srgbClr val="1F2937"/>
                </a:solidFill>
              </a:rPr>
              <a:t>Cloud-only web POS systems halt completely during local ISP outages, freezing billing counters.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Data Loss: </a:t>
            </a:r>
            <a:r>
              <a:rPr sz="1200">
                <a:solidFill>
                  <a:srgbClr val="1F2937"/>
                </a:solidFill>
              </a:rPr>
              <a:t>Offline crash states cause lost orders and unreconciled cash drawer balances.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257800" cy="23042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895344"/>
            <a:ext cx="485546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D97706"/>
                </a:solidFill>
              </a:rPr>
              <a:t>4. Blind Recipe Inventory Shrinkage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Unlinked Stock: </a:t>
            </a:r>
            <a:r>
              <a:rPr sz="1200">
                <a:solidFill>
                  <a:srgbClr val="1F2937"/>
                </a:solidFill>
              </a:rPr>
              <a:t>Lack of automated Recipe Bill-of-Materials (BOM) deduction causes mid-service dish stockouts.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Shrinkage: </a:t>
            </a:r>
            <a:r>
              <a:rPr sz="1200">
                <a:solidFill>
                  <a:srgbClr val="1F2937"/>
                </a:solidFill>
              </a:rPr>
              <a:t>Untracked raw ingredients allow 12-18% unaccounted kitchen shrinkage and pilferage.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ENGINEERING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Project Objectives &amp; Measurable Targets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4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15361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4855464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Objective 1: Hardware-Agnostic Web POS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Target: </a:t>
            </a:r>
            <a:r>
              <a:rPr sz="1200">
                <a:solidFill>
                  <a:srgbClr val="1F2937"/>
                </a:solidFill>
              </a:rPr>
              <a:t>Sub-180ms input latency on any commodity browser (PC, Mac, Android, iOS).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Achievement: </a:t>
            </a:r>
            <a:r>
              <a:rPr sz="1200">
                <a:solidFill>
                  <a:srgbClr val="1F2937"/>
                </a:solidFill>
              </a:rPr>
              <a:t>Keyboard-driven fast checkout with F1-F9 express keys, table grid matrix, and direct thermal printing.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57800" cy="15361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26463"/>
            <a:ext cx="4855464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Objective 2: Frictionless QR Customer Ordering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Target: </a:t>
            </a:r>
            <a:r>
              <a:rPr sz="1200">
                <a:solidFill>
                  <a:srgbClr val="1F2937"/>
                </a:solidFill>
              </a:rPr>
              <a:t>Zero-app download mobile PWA loading in under 1.5 seconds.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Achievement: </a:t>
            </a:r>
            <a:r>
              <a:rPr sz="1200">
                <a:solidFill>
                  <a:srgbClr val="1F2937"/>
                </a:solidFill>
              </a:rPr>
              <a:t>Dynamic menu with modifiers ('Extra Cheese'), multilingual Gujarati voice assistant, and live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44368"/>
            <a:ext cx="5257800" cy="15361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90672"/>
            <a:ext cx="4855464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Objective 3: Real-Time Kitchen Display System (KDS)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Target: </a:t>
            </a:r>
            <a:r>
              <a:rPr sz="1200">
                <a:solidFill>
                  <a:srgbClr val="1F2937"/>
                </a:solidFill>
              </a:rPr>
              <a:t>KOT push latency under 180ms from checkout to chef monitor.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Achievement: </a:t>
            </a:r>
            <a:r>
              <a:rPr sz="1200">
                <a:solidFill>
                  <a:srgbClr val="1F2937"/>
                </a:solidFill>
              </a:rPr>
              <a:t>Sub-145ms WebSocket dispatch with preparation timers, course firing, and audio chimes.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44368"/>
            <a:ext cx="5257800" cy="15361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090672"/>
            <a:ext cx="4855464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Objective 4: Automated Recipe BOM Inventory Control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Target: </a:t>
            </a:r>
            <a:r>
              <a:rPr sz="1200">
                <a:solidFill>
                  <a:srgbClr val="1F2937"/>
                </a:solidFill>
              </a:rPr>
              <a:t>Instant raw ingredient deduction upon order placement with zero manual entry.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Achievement: </a:t>
            </a:r>
            <a:r>
              <a:rPr sz="1200">
                <a:solidFill>
                  <a:srgbClr val="1F2937"/>
                </a:solidFill>
              </a:rPr>
              <a:t>Real-time stock depletion across multiple ingredients with automated low-stock reorder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1074420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55464"/>
            <a:ext cx="10341864" cy="12161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Objective 5: Offline Resilience &amp; Delta Sync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Target: </a:t>
            </a:r>
            <a:r>
              <a:rPr sz="1200">
                <a:solidFill>
                  <a:srgbClr val="1F2937"/>
                </a:solidFill>
              </a:rPr>
              <a:t>100% continuous billing operation during internet outages with zero data loss.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Achievement: </a:t>
            </a:r>
            <a:r>
              <a:rPr sz="1200">
                <a:solidFill>
                  <a:srgbClr val="1F2937"/>
                </a:solidFill>
              </a:rPr>
              <a:t>Local SQLite delta queue with automatic exponential backoff cloud reconciliation upon reconnect.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Literature Survey &amp; Research Gap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5 of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44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4884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Petpooja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Toast POS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Posist (Restroworks)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DineFlow AI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Windows Desktop App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Android Proprietary HW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Cloud Enterprise Web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Cloud-Native Multi-Tenant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Hardware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₹15,000 - ₹25,000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₹65,000 - ₹1,20,000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₹20,000 - ₹35,000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₹0 (BYOD Any Device)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Monthly Fee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₹800 - ₹1,500/mo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₹5,500 - ₹8,500/mo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₹2,500 - ₹4,500/mo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₹499 - ₹999/mo (SaaS)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Offline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Local Windows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Limited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Poor (Web Dependent)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Local SQLite Delta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800600"/>
            <a:ext cx="1074420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946904"/>
            <a:ext cx="10341864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Identified Research Gap &amp; Innovation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The Market Dilemma: </a:t>
            </a:r>
            <a:r>
              <a:rPr sz="1200">
                <a:solidFill>
                  <a:srgbClr val="1F2937"/>
                </a:solidFill>
              </a:rPr>
              <a:t>Operators currently face a binary choice: either buy expensive proprietary hardware (Petpooja/Toast) or endure fragile browser tools.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DineFlow AI Solution: </a:t>
            </a:r>
            <a:r>
              <a:rPr sz="1200">
                <a:solidFill>
                  <a:srgbClr val="1F2937"/>
                </a:solidFill>
              </a:rPr>
              <a:t>Bridges this gap by marrying zero-cost multi-tenant web architecture with client-side SQLite offline resilience and raw ESC/POS binary printing.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ARCHITECTURAL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Alternative Solutions &amp; Selection Justification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6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47472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3072384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DC2626"/>
                </a:solidFill>
              </a:rPr>
              <a:t>Option A: Desktop Monolith (.NET / MSSQL)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Pros: </a:t>
            </a:r>
            <a:r>
              <a:rPr sz="1200">
                <a:solidFill>
                  <a:srgbClr val="1F2937"/>
                </a:solidFill>
              </a:rPr>
              <a:t>High local GUI speed; offline by default.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Cons: </a:t>
            </a:r>
            <a:r>
              <a:rPr sz="1200">
                <a:solidFill>
                  <a:srgbClr val="1F2937"/>
                </a:solidFill>
              </a:rPr>
              <a:t>Tied to Windows x86 hardware; remote branch management impossible; high installation friction.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Verdict: </a:t>
            </a:r>
            <a:r>
              <a:rPr sz="1200">
                <a:solidFill>
                  <a:srgbClr val="1F2937"/>
                </a:solidFill>
              </a:rPr>
              <a:t>REJECTED (High maintenance &amp; zero mobility).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7472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26463"/>
            <a:ext cx="3072384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D97706"/>
                </a:solidFill>
              </a:rPr>
              <a:t>Option B: Dedicated Embedded Hardware (RPi)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Pros: </a:t>
            </a:r>
            <a:r>
              <a:rPr sz="1200">
                <a:solidFill>
                  <a:srgbClr val="1F2937"/>
                </a:solidFill>
              </a:rPr>
              <a:t>Compact footprint; lower component cost than PC.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Cons: </a:t>
            </a:r>
            <a:r>
              <a:rPr sz="1200">
                <a:solidFill>
                  <a:srgbClr val="1F2937"/>
                </a:solidFill>
              </a:rPr>
              <a:t>Custom PCB required; supply-chain chip shortages; difficult field repairs in rural restaurants.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Verdict: </a:t>
            </a:r>
            <a:r>
              <a:rPr sz="1200">
                <a:solidFill>
                  <a:srgbClr val="1F2937"/>
                </a:solidFill>
              </a:rPr>
              <a:t>REJECTED (Hardware failure risk).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47472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426463"/>
            <a:ext cx="3072384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Option C: Cloud Hybrid Multi-Tenant (DineFlow AI)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Pros: </a:t>
            </a:r>
            <a:r>
              <a:rPr sz="1200">
                <a:solidFill>
                  <a:srgbClr val="1F2937"/>
                </a:solidFill>
              </a:rPr>
              <a:t>BYOD freedom (runs on existing laptops/phones); instant updates; local SQLite offline queue.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Cons: </a:t>
            </a:r>
            <a:r>
              <a:rPr sz="1200">
                <a:solidFill>
                  <a:srgbClr val="1F2937"/>
                </a:solidFill>
              </a:rPr>
              <a:t>Requires careful multi-tenant security modeling (IDOR defense).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Verdict: </a:t>
            </a:r>
            <a:r>
              <a:rPr sz="1200">
                <a:solidFill>
                  <a:srgbClr val="1F2937"/>
                </a:solidFill>
              </a:rPr>
              <a:t>SELECTED (Optimal balance of reliability &amp; ₹0 cost).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7442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541264"/>
            <a:ext cx="10341864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Environmental &amp; Safety Justification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Green Tech: </a:t>
            </a:r>
            <a:r>
              <a:rPr sz="1200">
                <a:solidFill>
                  <a:srgbClr val="1F2937"/>
                </a:solidFill>
              </a:rPr>
              <a:t>Paperless WhatsApp receipts eliminate BPA toxic chemical exposure; BYOD paradigm drastically curtails electronic e-waste; single-schema cloud reduces server energy.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General Block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7 of 17</a:t>
            </a:r>
          </a:p>
        </p:txBody>
      </p:sp>
      <p:pic>
        <p:nvPicPr>
          <p:cNvPr id="8" name="Picture 7" descr="fig1_general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772400" cy="42100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1234440"/>
            <a:ext cx="278892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1380744"/>
            <a:ext cx="238658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Architectural Tiers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Tier 1: Input </a:t>
            </a:r>
            <a:r>
              <a:rPr sz="1200">
                <a:solidFill>
                  <a:srgbClr val="1F2937"/>
                </a:solidFill>
              </a:rPr>
              <a:t>Table QR mobile scan, cashier Web POS (F1-F9 keys), and Gujarati Voice AI.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Tier 2: Cloud Logic </a:t>
            </a:r>
            <a:r>
              <a:rPr sz="1200">
                <a:solidFill>
                  <a:srgbClr val="1F2937"/>
                </a:solidFill>
              </a:rPr>
              <a:t>Multi-Tenant Context Scope, KOT Routing, CGST/SGST Tax Math &amp; BOM Inventory.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Tier 3: Storage </a:t>
            </a:r>
            <a:r>
              <a:rPr sz="1200">
                <a:solidFill>
                  <a:srgbClr val="1F2937"/>
                </a:solidFill>
              </a:rPr>
              <a:t>Cloud MySQL 8.0 ACID database, Redis in-memory cache, and local SQLite.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Tier 4: Actuators </a:t>
            </a:r>
            <a:r>
              <a:rPr sz="1200">
                <a:solidFill>
                  <a:srgbClr val="1F2937"/>
                </a:solidFill>
              </a:rPr>
              <a:t>Kitchen KDS screen (&lt;180ms), 80mm ESC/POS printer, &amp; 24V RJ11 cash drawer.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PROCESS &amp; HARDWARE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Detailed Circuit / Design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8 of 17</a:t>
            </a:r>
          </a:p>
        </p:txBody>
      </p:sp>
      <p:pic>
        <p:nvPicPr>
          <p:cNvPr id="8" name="Picture 7" descr="fig2_process_and_circui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772400" cy="48577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1234440"/>
            <a:ext cx="278892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1380744"/>
            <a:ext cx="238658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Circuit &amp; Flow Details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Part A: Process Flow </a:t>
            </a:r>
            <a:r>
              <a:rPr sz="1200">
                <a:solidFill>
                  <a:srgbClr val="1F2937"/>
                </a:solidFill>
              </a:rPr>
              <a:t>QR scan -&gt; Dynamic menu -&gt; Cloud API commit -&gt; Kitchen KDS alert -&gt; Food prep -&gt; POS settle &amp; bill.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Part B: Hardware Circuit </a:t>
            </a:r>
            <a:r>
              <a:rPr sz="1200">
                <a:solidFill>
                  <a:srgbClr val="1F2937"/>
                </a:solidFill>
              </a:rPr>
              <a:t>Cashier terminal links via USB 2.0 / LAN RJ45 to 80mm thermal printer.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24V Solenoid Trigger </a:t>
            </a:r>
            <a:r>
              <a:rPr sz="1200">
                <a:solidFill>
                  <a:srgbClr val="1F2937"/>
                </a:solidFill>
              </a:rPr>
              <a:t>On receipt cut, printer energizes Pin 2 of RJ11 port with 24V DC 1A pulse (250ms), popping open the steel cash drawer.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EXECUTION &amp; OFFLINE SYNC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Algorithm / Flowchart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9 of 17</a:t>
            </a:r>
          </a:p>
        </p:txBody>
      </p:sp>
      <p:pic>
        <p:nvPicPr>
          <p:cNvPr id="8" name="Picture 7" descr="fig3_syste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669280" cy="48188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234440"/>
            <a:ext cx="48006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6288" y="1380744"/>
            <a:ext cx="439826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Formal Algorithm Steps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Step 1: Session Auth: </a:t>
            </a:r>
            <a:r>
              <a:rPr sz="1200">
                <a:solidFill>
                  <a:srgbClr val="1F2937"/>
                </a:solidFill>
              </a:rPr>
              <a:t>Validate tenant restaurant_id and table occupancy context.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Step 2: BOM Stock Check: </a:t>
            </a:r>
            <a:r>
              <a:rPr sz="1200">
                <a:solidFill>
                  <a:srgbClr val="1F2937"/>
                </a:solidFill>
              </a:rPr>
              <a:t>Query recipe inventory; reject order with HTTP 422 if stock depleted.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Step 3: ACID Transaction: </a:t>
            </a:r>
            <a:r>
              <a:rPr sz="1200">
                <a:solidFill>
                  <a:srgbClr val="1F2937"/>
                </a:solidFill>
              </a:rPr>
              <a:t>Begin SQL transaction: generate sequential #ORD-XXXX, compute 2.5% CGST + 2.5% SGST.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Step 4: Recipe Depletion: </a:t>
            </a:r>
            <a:r>
              <a:rPr sz="1200">
                <a:solidFill>
                  <a:srgbClr val="1F2937"/>
                </a:solidFill>
              </a:rPr>
              <a:t>Deduct raw ingredients from inventory; trigger low-stock alerts if stock &lt;= threshold.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Step 5: KDS Dispatch: </a:t>
            </a:r>
            <a:r>
              <a:rPr sz="1200">
                <a:solidFill>
                  <a:srgbClr val="1F2937"/>
                </a:solidFill>
              </a:rPr>
              <a:t>Push real-time KOT to kitchen monitor in under 180ms via WebSocket/Redis.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Step 6: Offline Resilience: </a:t>
            </a:r>
            <a:r>
              <a:rPr sz="1200">
                <a:solidFill>
                  <a:srgbClr val="1F2937"/>
                </a:solidFill>
              </a:rPr>
              <a:t>If network drops, write to local SQLite queue; auto-sync via exponential backoff upon reconnect.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MILESTONE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Work Plan (15-Week Semester Schedule)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10 of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44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3886200"/>
                <a:gridCol w="3108960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Semester Weeks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Curriculum Phase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Engineering Deliverables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GTU Milestone Review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Weeks 1 - 4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Problem &amp;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Eatery surveys, SRS specification, 14-table MySQL 3NF schema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Seminar 1: Architecture Approved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Weeks 5 - 8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Backend &amp; Web 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Laravel 11 multi-tenant auth, bcrypt PIN, F1-F9 keyboard 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Seminar 2: Core POS Prototype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Weeks 9 - 12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Mobile &amp; Hardware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Customer QR menu PWA, React Native app, 80mm ESC/POS printer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Seminar 3: Integrated 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Weeks 13 - 14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Testing &amp; Cloud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41 automated unit tests, latency benchmarks, AWS EC2 live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Production Live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Week 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Final Documentation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</a:rPr>
                        <a:t>Formal GTU project report, 17-slide deck, and logbook sign-off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Seminar 4: Final External Viva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394960"/>
            <a:ext cx="1074420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541264"/>
            <a:ext cx="10341864" cy="5760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Schedule Adherence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100% On-Time Execution: </a:t>
            </a:r>
            <a:r>
              <a:rPr sz="1200">
                <a:solidFill>
                  <a:srgbClr val="1F2937"/>
                </a:solidFill>
              </a:rPr>
              <a:t>All milestones completed strictly within the academic calendar with zero slippage across all 4 GTU seminar reviews.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HARDWARE &amp; SOFTWARE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Prototype / Model Development (Figure 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11 of 17</a:t>
            </a:r>
          </a:p>
        </p:txBody>
      </p:sp>
      <p:pic>
        <p:nvPicPr>
          <p:cNvPr id="8" name="Picture 7" descr="web_pos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200400"/>
          </a:xfrm>
          <a:prstGeom prst="rect">
            <a:avLst/>
          </a:prstGeom>
        </p:spPr>
      </p:pic>
      <p:pic>
        <p:nvPicPr>
          <p:cNvPr id="9" name="Picture 8" descr="escpos_printer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57800" cy="39258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4572000"/>
            <a:ext cx="51206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718304"/>
            <a:ext cx="4718303" cy="1399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Fig 4(a): Live Web POS Terminal Interface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Features: </a:t>
            </a:r>
            <a:r>
              <a:rPr sz="1200">
                <a:solidFill>
                  <a:srgbClr val="1F2937"/>
                </a:solidFill>
              </a:rPr>
              <a:t>Touch-friendly table grid, live search filter, order state tracking, and express keyboard shortcuts (F1=Pay, F4=Hold, F9=KOT).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525780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718304"/>
            <a:ext cx="4855464" cy="1399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Fig 4(b): 80mm ESC/POS Thermal Printer Setup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Features: </a:t>
            </a:r>
            <a:r>
              <a:rPr sz="1200">
                <a:solidFill>
                  <a:srgbClr val="1F2937"/>
                </a:solidFill>
              </a:rPr>
              <a:t>High-speed thermal printing over raw TCP socket (1.2s), automatic guillotine paper cutting, and 24V RJ11 cash drawer trigger.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EMPIRICAL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Testing and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12 of 17</a:t>
            </a:r>
          </a:p>
        </p:txBody>
      </p:sp>
      <p:pic>
        <p:nvPicPr>
          <p:cNvPr id="8" name="Picture 7" descr="fig5_performance_tes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583680" cy="25137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234440"/>
            <a:ext cx="3886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475569"/>
                </a:solidFill>
              </a:rPr>
              <a:t>AUTOMATED TESTS</a:t>
            </a:r>
          </a:p>
          <a:p>
            <a:r>
              <a:rPr sz="1500" b="1">
                <a:solidFill>
                  <a:srgbClr val="1E3A8A"/>
                </a:solidFill>
              </a:rPr>
              <a:t>41 / 41 PASSED</a:t>
            </a:r>
          </a:p>
          <a:p>
            <a:r>
              <a:rPr sz="1000">
                <a:solidFill>
                  <a:srgbClr val="0F172A"/>
                </a:solidFill>
              </a:rPr>
              <a:t>100% test passage across unit and integration suites.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468880"/>
            <a:ext cx="3886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475569"/>
                </a:solidFill>
              </a:rPr>
              <a:t>KDS DISPATCH LATENCY</a:t>
            </a:r>
          </a:p>
          <a:p>
            <a:r>
              <a:rPr sz="1500" b="1">
                <a:solidFill>
                  <a:srgbClr val="1E3A8A"/>
                </a:solidFill>
              </a:rPr>
              <a:t>145 Milliseconds</a:t>
            </a:r>
          </a:p>
          <a:p>
            <a:r>
              <a:rPr sz="1000">
                <a:solidFill>
                  <a:srgbClr val="0F172A"/>
                </a:solidFill>
              </a:rPr>
              <a:t>Sub-180ms target achieved via WebSocket/Redis.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703320"/>
            <a:ext cx="3886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475569"/>
                </a:solidFill>
              </a:rPr>
              <a:t>OFFLINE DELTA SYNC</a:t>
            </a:r>
          </a:p>
          <a:p>
            <a:r>
              <a:rPr sz="1500" b="1">
                <a:solidFill>
                  <a:srgbClr val="1E3A8A"/>
                </a:solidFill>
              </a:rPr>
              <a:t>99.98% Accuracy</a:t>
            </a:r>
          </a:p>
          <a:p>
            <a:r>
              <a:rPr sz="1000">
                <a:solidFill>
                  <a:srgbClr val="0F172A"/>
                </a:solidFill>
              </a:rPr>
              <a:t>Zero lost orders during network drop simulations.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937760"/>
            <a:ext cx="3886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475569"/>
                </a:solidFill>
              </a:rPr>
              <a:t>CONCURRENCY LOAD</a:t>
            </a:r>
          </a:p>
          <a:p>
            <a:r>
              <a:rPr sz="1500" b="1">
                <a:solidFill>
                  <a:srgbClr val="1E3A8A"/>
                </a:solidFill>
              </a:rPr>
              <a:t>500 Concurrent Users</a:t>
            </a:r>
          </a:p>
          <a:p>
            <a:r>
              <a:rPr sz="1000">
                <a:solidFill>
                  <a:srgbClr val="0F172A"/>
                </a:solidFill>
              </a:rPr>
              <a:t>P95 latency of 480ms on live AWS EC2 server.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GTU COMPETENCY 15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Modifications After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13 of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44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246120"/>
                <a:gridCol w="2743200"/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Testing Observation / Defect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Root Cause Analysis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Engineering Modification Implemented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Verified Post-Fix Result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Customer menu opened in dark mode on mobile devices.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CSS root defaulted to dark theme variables (#090D16).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Refactored CSS variables to light theme defaults &amp; updated JS theme loader.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59669"/>
                          </a:solidFill>
                        </a:rPr>
                        <a:t>Crisp Light Emerald Green menu with high sunlight readability.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ESC/POS printer blocked POS web worker thread.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Synchronous TCP socket timeout waited 30s for printer 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Implemented non-blocking asynchronous stream with 2s timeout and print queue.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59669"/>
                          </a:solidFill>
                        </a:rPr>
                        <a:t>POS UI never hangs; unprinted receipts spooled gracefully.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IDOR vulnerability in table order modification.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Eloquent query lacked tenant scoping filter.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Injected TenantScope global query filter enforcing WHERE restaurant_id = Auth::tenantId().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59669"/>
                          </a:solidFill>
                        </a:rPr>
                        <a:t>100% cryptographic tenant isolation; HTTP 403 returned on tampering.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Duplicate orders during Wi-Fi reconnection.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SQLite queue replayed orders with new auto-increment keys.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Implemented Client-Generated UUID (RFC 4122) idempotency constraint in MySQL.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59669"/>
                          </a:solidFill>
                        </a:rPr>
                        <a:t>Duplicate orders completely eliminated; idempotent replay safe.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PROJECT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Conclusion and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14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485546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Project Achievements &amp; Conclusion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1. Hardware Freedom: </a:t>
            </a:r>
            <a:r>
              <a:rPr sz="1200">
                <a:solidFill>
                  <a:srgbClr val="1F2937"/>
                </a:solidFill>
              </a:rPr>
              <a:t>Eliminated expensive proprietary terminals through a responsive, keyboard-driven Web POS.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2. Contactless Ordering: </a:t>
            </a:r>
            <a:r>
              <a:rPr sz="1200">
                <a:solidFill>
                  <a:srgbClr val="1F2937"/>
                </a:solidFill>
              </a:rPr>
              <a:t>Lightweight QR mobile menu allows guest self-ordering in under 30 seconds.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3. Sub-180ms Kitchen Speed: </a:t>
            </a:r>
            <a:r>
              <a:rPr sz="1200">
                <a:solidFill>
                  <a:srgbClr val="1F2937"/>
                </a:solidFill>
              </a:rPr>
              <a:t>Achieved 145ms KDS dispatch latency and 1.2s thermal receipt generation.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4. Automated Inventory: </a:t>
            </a:r>
            <a:r>
              <a:rPr sz="1200">
                <a:solidFill>
                  <a:srgbClr val="1F2937"/>
                </a:solidFill>
              </a:rPr>
              <a:t>Real-time recipe BOM stock deduction eliminates mid-shift menu stockouts.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5. Offline Fault Tolerance: </a:t>
            </a:r>
            <a:r>
              <a:rPr sz="1200">
                <a:solidFill>
                  <a:srgbClr val="1F2937"/>
                </a:solidFill>
              </a:rPr>
              <a:t>Client-side SQLite delta queue ensures zero billing interruption during internet outages.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Final Verdict: </a:t>
            </a:r>
            <a:r>
              <a:rPr sz="1200">
                <a:solidFill>
                  <a:srgbClr val="1F2937"/>
                </a:solidFill>
              </a:rPr>
              <a:t>DineFlow AI successfully fulfills all GTU diploma competencies and delivers an enterprise-grade platform at disruptive low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578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26463"/>
            <a:ext cx="485546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Technical Future Scope &amp; Expansion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1. Predictive AI Inventory Forecasting: </a:t>
            </a:r>
            <a:r>
              <a:rPr sz="1200">
                <a:solidFill>
                  <a:srgbClr val="1F2937"/>
                </a:solidFill>
              </a:rPr>
              <a:t>Deploying time-series machine learning (ARIMA/LSTM) to predict ingredient replenishment from historical sales trends.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2. Edge Gujarati Voice AI: </a:t>
            </a:r>
            <a:r>
              <a:rPr sz="1200">
                <a:solidFill>
                  <a:srgbClr val="1F2937"/>
                </a:solidFill>
              </a:rPr>
              <a:t>Native edge Whisper speech recognition for spoken dining orders in busy Gujarati/Hindi eateries.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3. Multi-Branch Franchise ERP: </a:t>
            </a:r>
            <a:r>
              <a:rPr sz="1200">
                <a:solidFill>
                  <a:srgbClr val="1F2937"/>
                </a:solidFill>
              </a:rPr>
              <a:t>Central commissary distribution, inter-store stock transfers, and automated franchise royalty accounting.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4. Direct Bank UPI Webhooks: </a:t>
            </a:r>
            <a:r>
              <a:rPr sz="1200">
                <a:solidFill>
                  <a:srgbClr val="1F2937"/>
                </a:solidFill>
              </a:rPr>
              <a:t>Automated payment clearing via NPCI UPI intent without cashier manual confirmation.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FUTURE COMMERCIAL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Startup Vision &amp; Commercial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15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485546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Commercial Startup Opportunity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Future Startup Vision: </a:t>
            </a:r>
            <a:r>
              <a:rPr sz="1200">
                <a:solidFill>
                  <a:srgbClr val="1F2937"/>
                </a:solidFill>
              </a:rPr>
              <a:t>Transitioning DineFlow AI into a market-facing commercial SaaS venture post-graduation.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Target Market: </a:t>
            </a:r>
            <a:r>
              <a:rPr sz="1200">
                <a:solidFill>
                  <a:srgbClr val="1F2937"/>
                </a:solidFill>
              </a:rPr>
              <a:t>Over 25,000 independent cafes, quick-service eateries, and food trucks across Gujarat.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Core Value Proposition: </a:t>
            </a:r>
            <a:r>
              <a:rPr sz="1200">
                <a:solidFill>
                  <a:srgbClr val="1F2937"/>
                </a:solidFill>
              </a:rPr>
              <a:t>Zero upfront hardware cost (BYOD), 10-minute self-onboarding, and robust offline resilience.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Pricing Disruption: </a:t>
            </a:r>
            <a:r>
              <a:rPr sz="1200">
                <a:solidFill>
                  <a:srgbClr val="1F2937"/>
                </a:solidFill>
              </a:rPr>
              <a:t>Subscription plans starting at ₹499/mo (Starter) to ₹999/mo (Pro)—drastically lower than legacy vendors charging ₹25,000 upfront.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Multi-Tenant Efficiency: </a:t>
            </a:r>
            <a:r>
              <a:rPr sz="1200">
                <a:solidFill>
                  <a:srgbClr val="1F2937"/>
                </a:solidFill>
              </a:rPr>
              <a:t>Single-schema database architecture comfortably hosts 500+ restaurants on a low-cost VPS, delivering 95%+ gross operating margins.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578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26463"/>
            <a:ext cx="485546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Bootstrapped Go-to-Market Strategy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Phase 1: Local Pilot Validation (Q1): </a:t>
            </a:r>
            <a:r>
              <a:rPr sz="1200">
                <a:solidFill>
                  <a:srgbClr val="1F2937"/>
                </a:solidFill>
              </a:rPr>
              <a:t>15 pilot deployments in partner cafes across Patan and Mehsana for field user feedback.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Phase 2: Regional Rollout (Q2-Q3): </a:t>
            </a:r>
            <a:r>
              <a:rPr sz="1200">
                <a:solidFill>
                  <a:srgbClr val="1F2937"/>
                </a:solidFill>
              </a:rPr>
              <a:t>Onboarding 150 paying restaurant subscribers across North Gujarat through local thermal paper vendor tie-ups.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Phase 3: Financial Break-Even (Q4): </a:t>
            </a:r>
            <a:r>
              <a:rPr sz="1200">
                <a:solidFill>
                  <a:srgbClr val="1F2937"/>
                </a:solidFill>
              </a:rPr>
              <a:t>Reaching 200 active restaurant subscribers at ARPU ₹750/mo yields ₹1,50,000 Monthly Recurring Revenue (MRR) against ₹5,000 server overhead.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Intellectual Property: </a:t>
            </a:r>
            <a:r>
              <a:rPr sz="1200">
                <a:solidFill>
                  <a:srgbClr val="1F2937"/>
                </a:solidFill>
              </a:rPr>
              <a:t>100% proprietary code ownership by Patel Shubh Maheshkumar; commercial entity formation post-graduation.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"/>
            <a:ext cx="31089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ACADEMIC &amp; TECHNICAL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</a:rPr>
              <a:t>References (APA 7th Edition)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320040"/>
            <a:ext cx="16459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DI05000341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89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</a:rPr>
              <a:t>K. D. Polytechnic, Patan | Department of Computer Engineering | Minor Project (DI05000341) | Slide 16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442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26463"/>
            <a:ext cx="1034186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Formal Academic &amp; Industry Citations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1. </a:t>
            </a:r>
            <a:r>
              <a:rPr sz="1200">
                <a:solidFill>
                  <a:srgbClr val="1F2937"/>
                </a:solidFill>
              </a:rPr>
              <a:t>Gujarat Technological University. (2026). Minor project curriculum and guidelines (DI05000341). GTU.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2. </a:t>
            </a:r>
            <a:r>
              <a:rPr sz="1200">
                <a:solidFill>
                  <a:srgbClr val="1F2937"/>
                </a:solidFill>
              </a:rPr>
              <a:t>Epson Corporation. (2025). ESC/POS application programming guide for thermal line printers (Rev. 8.2).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3. </a:t>
            </a:r>
            <a:r>
              <a:rPr sz="1200">
                <a:solidFill>
                  <a:srgbClr val="1F2937"/>
                </a:solidFill>
              </a:rPr>
              <a:t>Laravel LLC. (2026). Laravel: The PHP framework for web artisans (v11.x). https://laravel.com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4. </a:t>
            </a:r>
            <a:r>
              <a:rPr sz="1200">
                <a:solidFill>
                  <a:srgbClr val="1F2937"/>
                </a:solidFill>
              </a:rPr>
              <a:t>Oracle Corporation. (2025). MySQL 8.0 reference manual: InnoDB transactional engine and multi-tenant indexing.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5. </a:t>
            </a:r>
            <a:r>
              <a:rPr sz="1200">
                <a:solidFill>
                  <a:srgbClr val="1F2937"/>
                </a:solidFill>
              </a:rPr>
              <a:t>Fielding, R. T. (2000). Architectural styles and the design of network-based software architectures (Doctoral dissertation). UC Irvine.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6. </a:t>
            </a:r>
            <a:r>
              <a:rPr sz="1200">
                <a:solidFill>
                  <a:srgbClr val="1F2937"/>
                </a:solidFill>
              </a:rPr>
              <a:t>World Wide Web Consortium. (2024). Web Application Manifest &amp; Progressive Web Apps (W3C Working Draft).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7. </a:t>
            </a:r>
            <a:r>
              <a:rPr sz="1200">
                <a:solidFill>
                  <a:srgbClr val="1F2937"/>
                </a:solidFill>
              </a:rPr>
              <a:t>React Native Core Team. (2026). React Native: Building native mobile apps with JavaScript. Meta Platforms.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8. </a:t>
            </a:r>
            <a:r>
              <a:rPr sz="1200">
                <a:solidFill>
                  <a:srgbClr val="1F2937"/>
                </a:solidFill>
              </a:rPr>
              <a:t>National Restaurant Association of India. (2025). India food services report: Digital POS in SMEs. NRAI Research.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8A"/>
                </a:solidFill>
              </a:rPr>
              <a:t>THANK YOU!</a:t>
            </a:r>
          </a:p>
          <a:p>
            <a:pPr algn="ctr">
              <a:spcBef>
                <a:spcPts val="800"/>
              </a:spcBef>
            </a:pPr>
            <a:r>
              <a:rPr sz="1700" b="1">
                <a:solidFill>
                  <a:srgbClr val="059669"/>
                </a:solidFill>
              </a:rPr>
              <a:t>Questions &amp; Technical Discussion | External Viva Examination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502920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3255264"/>
            <a:ext cx="4626864" cy="2816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1E3A8A"/>
                </a:solidFill>
              </a:rPr>
              <a:t>Live Project Verification &amp; Repositories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Production URL: </a:t>
            </a:r>
            <a:r>
              <a:rPr sz="1200">
                <a:solidFill>
                  <a:srgbClr val="1F2937"/>
                </a:solidFill>
              </a:rPr>
              <a:t>https://dineflowai.duckdns.org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Customer Digital Menu: </a:t>
            </a:r>
            <a:r>
              <a:rPr sz="1200">
                <a:solidFill>
                  <a:srgbClr val="1F2937"/>
                </a:solidFill>
              </a:rPr>
              <a:t>https://dineflowai.duckdns.org/customer/menu.html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Cashier Web POS: </a:t>
            </a:r>
            <a:r>
              <a:rPr sz="1200">
                <a:solidFill>
                  <a:srgbClr val="1F2937"/>
                </a:solidFill>
              </a:rPr>
              <a:t>https://dineflowai.duckdns.org/pos/index.html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Admin Portal: </a:t>
            </a:r>
            <a:r>
              <a:rPr sz="1200">
                <a:solidFill>
                  <a:srgbClr val="1F2937"/>
                </a:solidFill>
              </a:rPr>
              <a:t>https://dineflowai.duckdns.org/admin/login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Source Code (GitHub): </a:t>
            </a:r>
            <a:r>
              <a:rPr sz="1200">
                <a:solidFill>
                  <a:srgbClr val="1F2937"/>
                </a:solidFill>
              </a:rPr>
              <a:t>https://github.com/Shubh-Patel-07/DineFlow-AI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3108960"/>
            <a:ext cx="502920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9263" y="3255264"/>
            <a:ext cx="4626864" cy="2816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</a:rPr>
              <a:t>Project Author &amp; Department Details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Candidate Name: </a:t>
            </a:r>
            <a:r>
              <a:rPr sz="1200">
                <a:solidFill>
                  <a:srgbClr val="1F2937"/>
                </a:solidFill>
              </a:rPr>
              <a:t>PATEL SHUBH MAHESHKUMAR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Enrolment Number: </a:t>
            </a:r>
            <a:r>
              <a:rPr sz="1200">
                <a:solidFill>
                  <a:srgbClr val="1F2937"/>
                </a:solidFill>
              </a:rPr>
              <a:t>246310307123 (Semester 5th)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Project Guide: </a:t>
            </a:r>
            <a:r>
              <a:rPr sz="1200">
                <a:solidFill>
                  <a:srgbClr val="1F2937"/>
                </a:solidFill>
              </a:rPr>
              <a:t>Prof. Yagnesh Patel (Lecturer, Comp. Engg.)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Head of Department: </a:t>
            </a:r>
            <a:r>
              <a:rPr sz="1200">
                <a:solidFill>
                  <a:srgbClr val="1F2937"/>
                </a:solidFill>
              </a:rPr>
              <a:t>Dr. Chirag D. Patel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</a:rPr>
              <a:t>Institution: </a:t>
            </a:r>
            <a:r>
              <a:rPr sz="1200">
                <a:solidFill>
                  <a:srgbClr val="1F2937"/>
                </a:solidFill>
              </a:rPr>
              <a:t>K. D. Polytechnic, Patan (GTU Code: 631)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